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12" r:id="rId4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2"/>
  </p:normalViewPr>
  <p:slideViewPr>
    <p:cSldViewPr>
      <p:cViewPr varScale="1">
        <p:scale>
          <a:sx n="106" d="100"/>
          <a:sy n="106" d="100"/>
        </p:scale>
        <p:origin x="696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94461" y="1007109"/>
            <a:ext cx="6194425" cy="1397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6F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006F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0228" y="333247"/>
            <a:ext cx="9851542" cy="6362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70228" y="1142238"/>
            <a:ext cx="8104505" cy="45231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6F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9.jpg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7940" y="1630426"/>
            <a:ext cx="7418705" cy="3077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6310"/>
              </a:lnSpc>
              <a:spcBef>
                <a:spcPts val="100"/>
              </a:spcBef>
            </a:pPr>
            <a:r>
              <a:rPr sz="5400" spc="-315" dirty="0">
                <a:latin typeface="Arial"/>
                <a:cs typeface="Arial"/>
              </a:rPr>
              <a:t>Programming</a:t>
            </a:r>
            <a:r>
              <a:rPr sz="5400" spc="-250" dirty="0">
                <a:latin typeface="Arial"/>
                <a:cs typeface="Arial"/>
              </a:rPr>
              <a:t> </a:t>
            </a:r>
            <a:r>
              <a:rPr sz="5400" spc="-445" dirty="0">
                <a:latin typeface="Arial"/>
                <a:cs typeface="Arial"/>
              </a:rPr>
              <a:t>Language</a:t>
            </a:r>
            <a:r>
              <a:rPr sz="5400" spc="-275" dirty="0">
                <a:latin typeface="Arial"/>
                <a:cs typeface="Arial"/>
              </a:rPr>
              <a:t> </a:t>
            </a:r>
            <a:r>
              <a:rPr sz="5400" spc="-50" dirty="0">
                <a:latin typeface="Arial"/>
                <a:cs typeface="Arial"/>
              </a:rPr>
              <a:t>(2)</a:t>
            </a:r>
            <a:endParaRPr sz="5400">
              <a:latin typeface="Arial"/>
              <a:cs typeface="Arial"/>
            </a:endParaRPr>
          </a:p>
          <a:p>
            <a:pPr algn="ctr">
              <a:lnSpc>
                <a:spcPts val="5935"/>
              </a:lnSpc>
            </a:pPr>
            <a:r>
              <a:rPr sz="5400" b="1" spc="-1330" dirty="0">
                <a:solidFill>
                  <a:srgbClr val="385622"/>
                </a:solidFill>
                <a:latin typeface="Arial"/>
                <a:cs typeface="Arial"/>
              </a:rPr>
              <a:t>CSC</a:t>
            </a:r>
            <a:r>
              <a:rPr sz="5400" b="1" spc="-405" dirty="0">
                <a:solidFill>
                  <a:srgbClr val="385622"/>
                </a:solidFill>
                <a:latin typeface="Arial"/>
                <a:cs typeface="Arial"/>
              </a:rPr>
              <a:t> </a:t>
            </a:r>
            <a:r>
              <a:rPr sz="5400" b="1" spc="-990" dirty="0">
                <a:solidFill>
                  <a:srgbClr val="385622"/>
                </a:solidFill>
                <a:latin typeface="Arial"/>
                <a:cs typeface="Arial"/>
              </a:rPr>
              <a:t>213</a:t>
            </a:r>
            <a:endParaRPr sz="5400">
              <a:latin typeface="Arial"/>
              <a:cs typeface="Arial"/>
            </a:endParaRPr>
          </a:p>
          <a:p>
            <a:pPr marL="29209" marR="20320" algn="ctr">
              <a:lnSpc>
                <a:spcPts val="5680"/>
              </a:lnSpc>
              <a:spcBef>
                <a:spcPts val="480"/>
              </a:spcBef>
            </a:pPr>
            <a:r>
              <a:rPr sz="5400" b="1" spc="105" dirty="0">
                <a:latin typeface="Times New Roman"/>
                <a:cs typeface="Times New Roman"/>
              </a:rPr>
              <a:t>File</a:t>
            </a:r>
            <a:r>
              <a:rPr sz="5400" b="1" spc="-160" dirty="0">
                <a:latin typeface="Times New Roman"/>
                <a:cs typeface="Times New Roman"/>
              </a:rPr>
              <a:t> </a:t>
            </a:r>
            <a:r>
              <a:rPr sz="5400" b="1" spc="114" dirty="0">
                <a:latin typeface="Times New Roman"/>
                <a:cs typeface="Times New Roman"/>
              </a:rPr>
              <a:t>Handling</a:t>
            </a:r>
            <a:r>
              <a:rPr sz="5400" b="1" spc="-160" dirty="0">
                <a:latin typeface="Times New Roman"/>
                <a:cs typeface="Times New Roman"/>
              </a:rPr>
              <a:t> </a:t>
            </a:r>
            <a:r>
              <a:rPr sz="5400" b="1" spc="225" dirty="0">
                <a:latin typeface="Times New Roman"/>
                <a:cs typeface="Times New Roman"/>
              </a:rPr>
              <a:t>in</a:t>
            </a:r>
            <a:r>
              <a:rPr sz="5400" b="1" spc="-155" dirty="0">
                <a:latin typeface="Times New Roman"/>
                <a:cs typeface="Times New Roman"/>
              </a:rPr>
              <a:t> </a:t>
            </a:r>
            <a:r>
              <a:rPr sz="5400" b="1" spc="200" dirty="0">
                <a:latin typeface="Times New Roman"/>
                <a:cs typeface="Times New Roman"/>
              </a:rPr>
              <a:t>python </a:t>
            </a:r>
            <a:r>
              <a:rPr sz="5400" b="1" spc="160" dirty="0">
                <a:latin typeface="Times New Roman"/>
                <a:cs typeface="Times New Roman"/>
              </a:rPr>
              <a:t>programming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05961" y="506984"/>
            <a:ext cx="688530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" algn="ctr">
              <a:lnSpc>
                <a:spcPts val="2875"/>
              </a:lnSpc>
              <a:spcBef>
                <a:spcPts val="100"/>
              </a:spcBef>
            </a:pPr>
            <a:r>
              <a:rPr sz="2400" b="1" spc="-180" dirty="0">
                <a:solidFill>
                  <a:srgbClr val="1F3863"/>
                </a:solidFill>
                <a:latin typeface="Arial"/>
                <a:cs typeface="Arial"/>
              </a:rPr>
              <a:t>SHAQRA</a:t>
            </a:r>
            <a:r>
              <a:rPr sz="2400" b="1" spc="-50" dirty="0">
                <a:solidFill>
                  <a:srgbClr val="1F3863"/>
                </a:solidFill>
                <a:latin typeface="Arial"/>
                <a:cs typeface="Arial"/>
              </a:rPr>
              <a:t> </a:t>
            </a:r>
            <a:r>
              <a:rPr sz="2400" b="1" spc="-40" dirty="0">
                <a:solidFill>
                  <a:srgbClr val="1F3863"/>
                </a:solidFill>
                <a:latin typeface="Arial"/>
                <a:cs typeface="Arial"/>
              </a:rPr>
              <a:t>UNIVERSITY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ts val="2875"/>
              </a:lnSpc>
            </a:pPr>
            <a:r>
              <a:rPr sz="2400" b="1" spc="-135" dirty="0">
                <a:solidFill>
                  <a:srgbClr val="1F3863"/>
                </a:solidFill>
                <a:latin typeface="Arial"/>
                <a:cs typeface="Arial"/>
              </a:rPr>
              <a:t>College</a:t>
            </a:r>
            <a:r>
              <a:rPr sz="2400" b="1" spc="-65" dirty="0">
                <a:solidFill>
                  <a:srgbClr val="1F3863"/>
                </a:solidFill>
                <a:latin typeface="Arial"/>
                <a:cs typeface="Arial"/>
              </a:rPr>
              <a:t> of</a:t>
            </a:r>
            <a:r>
              <a:rPr sz="2400" b="1" spc="-70" dirty="0">
                <a:solidFill>
                  <a:srgbClr val="1F3863"/>
                </a:solidFill>
                <a:latin typeface="Arial"/>
                <a:cs typeface="Arial"/>
              </a:rPr>
              <a:t> </a:t>
            </a:r>
            <a:r>
              <a:rPr sz="2400" b="1" spc="-85" dirty="0">
                <a:solidFill>
                  <a:srgbClr val="1F3863"/>
                </a:solidFill>
                <a:latin typeface="Arial"/>
                <a:cs typeface="Arial"/>
              </a:rPr>
              <a:t>Computing</a:t>
            </a:r>
            <a:r>
              <a:rPr sz="2400" b="1" spc="-55" dirty="0">
                <a:solidFill>
                  <a:srgbClr val="1F386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F3863"/>
                </a:solidFill>
                <a:latin typeface="Arial"/>
                <a:cs typeface="Arial"/>
              </a:rPr>
              <a:t>and</a:t>
            </a:r>
            <a:r>
              <a:rPr sz="2400" b="1" spc="-70" dirty="0">
                <a:solidFill>
                  <a:srgbClr val="1F3863"/>
                </a:solidFill>
                <a:latin typeface="Arial"/>
                <a:cs typeface="Arial"/>
              </a:rPr>
              <a:t> </a:t>
            </a:r>
            <a:r>
              <a:rPr sz="2400" b="1" spc="-40" dirty="0">
                <a:solidFill>
                  <a:srgbClr val="1F3863"/>
                </a:solidFill>
                <a:latin typeface="Arial"/>
                <a:cs typeface="Arial"/>
              </a:rPr>
              <a:t>Information</a:t>
            </a:r>
            <a:r>
              <a:rPr sz="2400" b="1" spc="-65" dirty="0">
                <a:solidFill>
                  <a:srgbClr val="1F3863"/>
                </a:solidFill>
                <a:latin typeface="Arial"/>
                <a:cs typeface="Arial"/>
              </a:rPr>
              <a:t> </a:t>
            </a:r>
            <a:r>
              <a:rPr sz="2400" b="1" spc="-114" dirty="0">
                <a:solidFill>
                  <a:srgbClr val="1F3863"/>
                </a:solidFill>
                <a:latin typeface="Arial"/>
                <a:cs typeface="Arial"/>
              </a:rPr>
              <a:t>Technology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786" y="151041"/>
            <a:ext cx="1969171" cy="23673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59795" y="5033770"/>
            <a:ext cx="1632203" cy="18242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9188" y="819501"/>
            <a:ext cx="5210911" cy="258054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67606" y="3460906"/>
            <a:ext cx="689008" cy="95895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98975" y="3416300"/>
            <a:ext cx="3699510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95" dirty="0">
                <a:latin typeface="Arial"/>
                <a:cs typeface="Arial"/>
              </a:rPr>
              <a:t>»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Introduction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Files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95" dirty="0">
                <a:latin typeface="Arial"/>
                <a:cs typeface="Arial"/>
              </a:rPr>
              <a:t>»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85" dirty="0">
                <a:latin typeface="Arial"/>
                <a:cs typeface="Arial"/>
              </a:rPr>
              <a:t>Types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Files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95" dirty="0">
                <a:latin typeface="Arial"/>
                <a:cs typeface="Arial"/>
              </a:rPr>
              <a:t>»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Opening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and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Closing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70" dirty="0">
                <a:latin typeface="Arial"/>
                <a:cs typeface="Arial"/>
              </a:rPr>
              <a:t>Text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File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95" dirty="0">
                <a:latin typeface="Arial"/>
                <a:cs typeface="Arial"/>
              </a:rPr>
              <a:t>»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Writing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Text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File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95" dirty="0">
                <a:latin typeface="Arial"/>
                <a:cs typeface="Arial"/>
              </a:rPr>
              <a:t>» </a:t>
            </a:r>
            <a:r>
              <a:rPr sz="2000" spc="-140" dirty="0">
                <a:latin typeface="Arial"/>
                <a:cs typeface="Arial"/>
              </a:rPr>
              <a:t>Reading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from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Text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File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95" dirty="0">
                <a:latin typeface="Arial"/>
                <a:cs typeface="Arial"/>
              </a:rPr>
              <a:t>»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Setting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Offsets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in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File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95" dirty="0">
                <a:latin typeface="Arial"/>
                <a:cs typeface="Arial"/>
              </a:rPr>
              <a:t>»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Creating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and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35" dirty="0">
                <a:latin typeface="Arial"/>
                <a:cs typeface="Arial"/>
              </a:rPr>
              <a:t>Traversing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Text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File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95" dirty="0">
                <a:latin typeface="Arial"/>
                <a:cs typeface="Arial"/>
              </a:rPr>
              <a:t>»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55" dirty="0">
                <a:latin typeface="Arial"/>
                <a:cs typeface="Arial"/>
              </a:rPr>
              <a:t>The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Pickle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Module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0631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100"/>
              </a:spcBef>
            </a:pPr>
            <a:r>
              <a:rPr sz="2400" b="1" spc="-100" dirty="0">
                <a:solidFill>
                  <a:srgbClr val="FF0000"/>
                </a:solidFill>
                <a:latin typeface="Arial"/>
                <a:cs typeface="Arial"/>
              </a:rPr>
              <a:t>4.1 </a:t>
            </a:r>
            <a:r>
              <a:rPr sz="2400" b="1" spc="-235" dirty="0">
                <a:solidFill>
                  <a:srgbClr val="FF0000"/>
                </a:solidFill>
                <a:latin typeface="Arial"/>
                <a:cs typeface="Arial"/>
              </a:rPr>
              <a:t>INTRODUCTION</a:t>
            </a:r>
            <a:r>
              <a:rPr sz="2400" b="1" spc="-11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305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400" b="1" spc="-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380" dirty="0">
                <a:solidFill>
                  <a:srgbClr val="FF0000"/>
                </a:solidFill>
                <a:latin typeface="Arial"/>
                <a:cs typeface="Arial"/>
              </a:rPr>
              <a:t>FILES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84224" y="1017523"/>
            <a:ext cx="8754110" cy="5175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56360" algn="just">
              <a:lnSpc>
                <a:spcPct val="100000"/>
              </a:lnSpc>
              <a:spcBef>
                <a:spcPts val="100"/>
              </a:spcBef>
            </a:pPr>
            <a:r>
              <a:rPr sz="1800" spc="-260" dirty="0">
                <a:latin typeface="Arial"/>
                <a:cs typeface="Arial"/>
              </a:rPr>
              <a:t>We</a:t>
            </a:r>
            <a:r>
              <a:rPr sz="1800" spc="135" dirty="0">
                <a:latin typeface="Arial"/>
                <a:cs typeface="Arial"/>
              </a:rPr>
              <a:t> </a:t>
            </a:r>
            <a:r>
              <a:rPr sz="1800" spc="-145" dirty="0">
                <a:latin typeface="Arial"/>
                <a:cs typeface="Arial"/>
              </a:rPr>
              <a:t>have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spc="-245" dirty="0">
                <a:latin typeface="Arial"/>
                <a:cs typeface="Arial"/>
              </a:rPr>
              <a:t>so</a:t>
            </a:r>
            <a:r>
              <a:rPr sz="1800" spc="114" dirty="0">
                <a:latin typeface="Arial"/>
                <a:cs typeface="Arial"/>
              </a:rPr>
              <a:t> </a:t>
            </a:r>
            <a:r>
              <a:rPr sz="1800" spc="-40" dirty="0">
                <a:latin typeface="Arial"/>
                <a:cs typeface="Arial"/>
              </a:rPr>
              <a:t>far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created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100" dirty="0">
                <a:latin typeface="Arial"/>
                <a:cs typeface="Arial"/>
              </a:rPr>
              <a:t>programs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in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Python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-105" dirty="0">
                <a:latin typeface="Arial"/>
                <a:cs typeface="Arial"/>
              </a:rPr>
              <a:t> accept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input,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65" dirty="0">
                <a:latin typeface="Arial"/>
                <a:cs typeface="Arial"/>
              </a:rPr>
              <a:t>manipulate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25" dirty="0">
                <a:latin typeface="Arial"/>
                <a:cs typeface="Arial"/>
              </a:rPr>
              <a:t>it </a:t>
            </a:r>
            <a:r>
              <a:rPr sz="1800" spc="-120" dirty="0">
                <a:latin typeface="Arial"/>
                <a:cs typeface="Arial"/>
              </a:rPr>
              <a:t>and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display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the</a:t>
            </a:r>
            <a:r>
              <a:rPr sz="1800" spc="-1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output.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But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output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165" dirty="0">
                <a:latin typeface="Arial"/>
                <a:cs typeface="Arial"/>
              </a:rPr>
              <a:t>is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available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only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during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80" dirty="0">
                <a:latin typeface="Arial"/>
                <a:cs typeface="Arial"/>
              </a:rPr>
              <a:t>execution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75" dirty="0">
                <a:latin typeface="Arial"/>
                <a:cs typeface="Arial"/>
              </a:rPr>
              <a:t>program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95" dirty="0">
                <a:latin typeface="Arial"/>
                <a:cs typeface="Arial"/>
              </a:rPr>
              <a:t>and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input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105" dirty="0">
                <a:latin typeface="Arial"/>
                <a:cs typeface="Arial"/>
              </a:rPr>
              <a:t>is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100" dirty="0">
                <a:latin typeface="Arial"/>
                <a:cs typeface="Arial"/>
              </a:rPr>
              <a:t>be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entered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45" dirty="0">
                <a:latin typeface="Arial"/>
                <a:cs typeface="Arial"/>
              </a:rPr>
              <a:t>through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keyboard.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Arial"/>
              <a:cs typeface="Arial"/>
            </a:endParaRPr>
          </a:p>
          <a:p>
            <a:pPr marL="12700" marR="1418590" algn="just">
              <a:lnSpc>
                <a:spcPct val="100000"/>
              </a:lnSpc>
              <a:spcBef>
                <a:spcPts val="5"/>
              </a:spcBef>
            </a:pPr>
            <a:r>
              <a:rPr sz="1800" spc="-125" dirty="0">
                <a:latin typeface="Arial"/>
                <a:cs typeface="Arial"/>
              </a:rPr>
              <a:t>This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100" dirty="0">
                <a:latin typeface="Arial"/>
                <a:cs typeface="Arial"/>
              </a:rPr>
              <a:t>is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125" dirty="0">
                <a:latin typeface="Arial"/>
                <a:cs typeface="Arial"/>
              </a:rPr>
              <a:t>because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variables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114" dirty="0">
                <a:latin typeface="Arial"/>
                <a:cs typeface="Arial"/>
              </a:rPr>
              <a:t>used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35" dirty="0">
                <a:latin typeface="Arial"/>
                <a:cs typeface="Arial"/>
              </a:rPr>
              <a:t>in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145" dirty="0">
                <a:latin typeface="Arial"/>
                <a:cs typeface="Arial"/>
              </a:rPr>
              <a:t>a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75" dirty="0">
                <a:latin typeface="Arial"/>
                <a:cs typeface="Arial"/>
              </a:rPr>
              <a:t>program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110" dirty="0">
                <a:latin typeface="Arial"/>
                <a:cs typeface="Arial"/>
              </a:rPr>
              <a:t>have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145" dirty="0">
                <a:latin typeface="Arial"/>
                <a:cs typeface="Arial"/>
              </a:rPr>
              <a:t>a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lifetime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that</a:t>
            </a:r>
            <a:r>
              <a:rPr sz="1800" spc="-95" dirty="0">
                <a:latin typeface="Arial"/>
                <a:cs typeface="Arial"/>
              </a:rPr>
              <a:t> lasts </a:t>
            </a:r>
            <a:r>
              <a:rPr sz="1800" spc="25" dirty="0">
                <a:latin typeface="Arial"/>
                <a:cs typeface="Arial"/>
              </a:rPr>
              <a:t>till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time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75" dirty="0">
                <a:latin typeface="Arial"/>
                <a:cs typeface="Arial"/>
              </a:rPr>
              <a:t>program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100" dirty="0">
                <a:latin typeface="Arial"/>
                <a:cs typeface="Arial"/>
              </a:rPr>
              <a:t>is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under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execution.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600">
              <a:latin typeface="Arial"/>
              <a:cs typeface="Arial"/>
            </a:endParaRPr>
          </a:p>
          <a:p>
            <a:pPr marL="734695" marR="409575">
              <a:lnSpc>
                <a:spcPct val="100000"/>
              </a:lnSpc>
            </a:pPr>
            <a:r>
              <a:rPr sz="1800" spc="-55" dirty="0">
                <a:solidFill>
                  <a:srgbClr val="006FC0"/>
                </a:solidFill>
                <a:latin typeface="Arial"/>
                <a:cs typeface="Arial"/>
              </a:rPr>
              <a:t>What</a:t>
            </a:r>
            <a:r>
              <a:rPr sz="1800" spc="-8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if</a:t>
            </a:r>
            <a:r>
              <a:rPr sz="1800" spc="-6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85" dirty="0">
                <a:solidFill>
                  <a:srgbClr val="006FC0"/>
                </a:solidFill>
                <a:latin typeface="Arial"/>
                <a:cs typeface="Arial"/>
              </a:rPr>
              <a:t>we</a:t>
            </a:r>
            <a:r>
              <a:rPr sz="1800" spc="-7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Arial"/>
                <a:cs typeface="Arial"/>
              </a:rPr>
              <a:t>want</a:t>
            </a:r>
            <a:r>
              <a:rPr sz="1800" spc="-6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to</a:t>
            </a:r>
            <a:r>
              <a:rPr sz="1800" spc="-7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65" dirty="0">
                <a:solidFill>
                  <a:srgbClr val="006FC0"/>
                </a:solidFill>
                <a:latin typeface="Arial"/>
                <a:cs typeface="Arial"/>
              </a:rPr>
              <a:t>store</a:t>
            </a:r>
            <a:r>
              <a:rPr sz="1800" spc="-7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sz="1800" spc="-7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006FC0"/>
                </a:solidFill>
                <a:latin typeface="Arial"/>
                <a:cs typeface="Arial"/>
              </a:rPr>
              <a:t>data</a:t>
            </a:r>
            <a:r>
              <a:rPr sz="1800" spc="-6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that</a:t>
            </a:r>
            <a:r>
              <a:rPr sz="1800" spc="-8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75" dirty="0">
                <a:solidFill>
                  <a:srgbClr val="006FC0"/>
                </a:solidFill>
                <a:latin typeface="Arial"/>
                <a:cs typeface="Arial"/>
              </a:rPr>
              <a:t>were </a:t>
            </a:r>
            <a:r>
              <a:rPr sz="1800" spc="-20" dirty="0">
                <a:solidFill>
                  <a:srgbClr val="006FC0"/>
                </a:solidFill>
                <a:latin typeface="Arial"/>
                <a:cs typeface="Arial"/>
              </a:rPr>
              <a:t>input</a:t>
            </a:r>
            <a:r>
              <a:rPr sz="1800" spc="-6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180" dirty="0">
                <a:solidFill>
                  <a:srgbClr val="006FC0"/>
                </a:solidFill>
                <a:latin typeface="Arial"/>
                <a:cs typeface="Arial"/>
              </a:rPr>
              <a:t>as</a:t>
            </a:r>
            <a:r>
              <a:rPr sz="1800" spc="-7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006FC0"/>
                </a:solidFill>
                <a:latin typeface="Arial"/>
                <a:cs typeface="Arial"/>
              </a:rPr>
              <a:t>well</a:t>
            </a:r>
            <a:r>
              <a:rPr sz="1800" spc="-7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180" dirty="0">
                <a:solidFill>
                  <a:srgbClr val="006FC0"/>
                </a:solidFill>
                <a:latin typeface="Arial"/>
                <a:cs typeface="Arial"/>
              </a:rPr>
              <a:t>as</a:t>
            </a:r>
            <a:r>
              <a:rPr sz="1800" spc="-7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sz="1800" spc="-7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85" dirty="0">
                <a:solidFill>
                  <a:srgbClr val="006FC0"/>
                </a:solidFill>
                <a:latin typeface="Arial"/>
                <a:cs typeface="Arial"/>
              </a:rPr>
              <a:t>generated</a:t>
            </a:r>
            <a:r>
              <a:rPr sz="1800" spc="-7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1800" spc="-60" dirty="0">
                <a:solidFill>
                  <a:srgbClr val="006FC0"/>
                </a:solidFill>
                <a:latin typeface="Arial"/>
                <a:cs typeface="Arial"/>
              </a:rPr>
              <a:t>permanently</a:t>
            </a:r>
            <a:r>
              <a:rPr sz="1800" spc="-8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135" dirty="0">
                <a:solidFill>
                  <a:srgbClr val="006FC0"/>
                </a:solidFill>
                <a:latin typeface="Arial"/>
                <a:cs typeface="Arial"/>
              </a:rPr>
              <a:t>so</a:t>
            </a:r>
            <a:r>
              <a:rPr sz="1800" spc="-8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that</a:t>
            </a:r>
            <a:r>
              <a:rPr sz="1800" spc="-8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85" dirty="0">
                <a:solidFill>
                  <a:srgbClr val="006FC0"/>
                </a:solidFill>
                <a:latin typeface="Arial"/>
                <a:cs typeface="Arial"/>
              </a:rPr>
              <a:t>we</a:t>
            </a:r>
            <a:r>
              <a:rPr sz="1800" spc="-6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130" dirty="0">
                <a:solidFill>
                  <a:srgbClr val="006FC0"/>
                </a:solidFill>
                <a:latin typeface="Arial"/>
                <a:cs typeface="Arial"/>
              </a:rPr>
              <a:t>can</a:t>
            </a:r>
            <a:r>
              <a:rPr sz="1800" spc="-8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100" dirty="0">
                <a:solidFill>
                  <a:srgbClr val="006FC0"/>
                </a:solidFill>
                <a:latin typeface="Arial"/>
                <a:cs typeface="Arial"/>
              </a:rPr>
              <a:t>reuse</a:t>
            </a:r>
            <a:r>
              <a:rPr sz="1800" spc="-7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006FC0"/>
                </a:solidFill>
                <a:latin typeface="Arial"/>
                <a:cs typeface="Arial"/>
              </a:rPr>
              <a:t>it</a:t>
            </a:r>
            <a:r>
              <a:rPr sz="1800" spc="-7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Arial"/>
                <a:cs typeface="Arial"/>
              </a:rPr>
              <a:t>later?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Arial"/>
              <a:cs typeface="Arial"/>
            </a:endParaRPr>
          </a:p>
          <a:p>
            <a:pPr marL="12700" marR="968375">
              <a:lnSpc>
                <a:spcPct val="100000"/>
              </a:lnSpc>
            </a:pPr>
            <a:r>
              <a:rPr sz="1800" spc="-105" dirty="0">
                <a:latin typeface="Arial"/>
                <a:cs typeface="Arial"/>
              </a:rPr>
              <a:t>Usually,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organisations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would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want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permanently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65" dirty="0">
                <a:latin typeface="Arial"/>
                <a:cs typeface="Arial"/>
              </a:rPr>
              <a:t>store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35" dirty="0">
                <a:latin typeface="Arial"/>
                <a:cs typeface="Arial"/>
              </a:rPr>
              <a:t>information </a:t>
            </a:r>
            <a:r>
              <a:rPr sz="1800" spc="-10" dirty="0">
                <a:latin typeface="Arial"/>
                <a:cs typeface="Arial"/>
              </a:rPr>
              <a:t>about </a:t>
            </a:r>
            <a:r>
              <a:rPr sz="1800" spc="-95" dirty="0">
                <a:latin typeface="Arial"/>
                <a:cs typeface="Arial"/>
              </a:rPr>
              <a:t>employees,</a:t>
            </a:r>
            <a:r>
              <a:rPr sz="1800" spc="-65" dirty="0">
                <a:latin typeface="Arial"/>
                <a:cs typeface="Arial"/>
              </a:rPr>
              <a:t> inventory,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120" dirty="0">
                <a:latin typeface="Arial"/>
                <a:cs typeface="Arial"/>
              </a:rPr>
              <a:t>sales,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etc.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avoid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35" dirty="0">
                <a:latin typeface="Arial"/>
                <a:cs typeface="Arial"/>
              </a:rPr>
              <a:t>repetitive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120" dirty="0">
                <a:latin typeface="Arial"/>
                <a:cs typeface="Arial"/>
              </a:rPr>
              <a:t>tasks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entering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the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130" dirty="0">
                <a:latin typeface="Arial"/>
                <a:cs typeface="Arial"/>
              </a:rPr>
              <a:t>same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data.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00">
              <a:latin typeface="Arial"/>
              <a:cs typeface="Arial"/>
            </a:endParaRPr>
          </a:p>
          <a:p>
            <a:pPr marL="734695">
              <a:lnSpc>
                <a:spcPct val="100000"/>
              </a:lnSpc>
            </a:pPr>
            <a:r>
              <a:rPr sz="1800" spc="-125" dirty="0">
                <a:solidFill>
                  <a:srgbClr val="006FC0"/>
                </a:solidFill>
                <a:latin typeface="Arial"/>
                <a:cs typeface="Arial"/>
              </a:rPr>
              <a:t>Hence,</a:t>
            </a:r>
            <a:r>
              <a:rPr sz="1800" spc="-5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006FC0"/>
                </a:solidFill>
                <a:latin typeface="Arial"/>
                <a:cs typeface="Arial"/>
              </a:rPr>
              <a:t>data</a:t>
            </a:r>
            <a:r>
              <a:rPr sz="1800" spc="-7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90" dirty="0">
                <a:solidFill>
                  <a:srgbClr val="006FC0"/>
                </a:solidFill>
                <a:latin typeface="Arial"/>
                <a:cs typeface="Arial"/>
              </a:rPr>
              <a:t>are</a:t>
            </a:r>
            <a:r>
              <a:rPr sz="1800" spc="-5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65" dirty="0">
                <a:solidFill>
                  <a:srgbClr val="006FC0"/>
                </a:solidFill>
                <a:latin typeface="Arial"/>
                <a:cs typeface="Arial"/>
              </a:rPr>
              <a:t>stored </a:t>
            </a:r>
            <a:r>
              <a:rPr sz="1800" spc="-60" dirty="0">
                <a:solidFill>
                  <a:srgbClr val="006FC0"/>
                </a:solidFill>
                <a:latin typeface="Arial"/>
                <a:cs typeface="Arial"/>
              </a:rPr>
              <a:t>permanently</a:t>
            </a:r>
            <a:r>
              <a:rPr sz="1800" spc="-70" dirty="0">
                <a:solidFill>
                  <a:srgbClr val="006FC0"/>
                </a:solidFill>
                <a:latin typeface="Arial"/>
                <a:cs typeface="Arial"/>
              </a:rPr>
              <a:t> on</a:t>
            </a:r>
            <a:r>
              <a:rPr sz="1800" spc="-5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95" dirty="0">
                <a:solidFill>
                  <a:srgbClr val="006FC0"/>
                </a:solidFill>
                <a:latin typeface="Arial"/>
                <a:cs typeface="Arial"/>
              </a:rPr>
              <a:t>secondary</a:t>
            </a:r>
            <a:r>
              <a:rPr sz="1800" spc="-7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95" dirty="0">
                <a:solidFill>
                  <a:srgbClr val="006FC0"/>
                </a:solidFill>
                <a:latin typeface="Arial"/>
                <a:cs typeface="Arial"/>
              </a:rPr>
              <a:t>storage</a:t>
            </a:r>
            <a:r>
              <a:rPr sz="1800" spc="-7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105" dirty="0">
                <a:solidFill>
                  <a:srgbClr val="006FC0"/>
                </a:solidFill>
                <a:latin typeface="Arial"/>
                <a:cs typeface="Arial"/>
              </a:rPr>
              <a:t>devices</a:t>
            </a:r>
            <a:r>
              <a:rPr sz="1800" spc="-5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for</a:t>
            </a:r>
            <a:r>
              <a:rPr sz="1800" spc="-7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Arial"/>
                <a:cs typeface="Arial"/>
              </a:rPr>
              <a:t>reusability.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1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800" spc="-150" dirty="0">
                <a:latin typeface="Arial"/>
                <a:cs typeface="Arial"/>
              </a:rPr>
              <a:t>We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store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75" dirty="0">
                <a:latin typeface="Arial"/>
                <a:cs typeface="Arial"/>
              </a:rPr>
              <a:t>Python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programs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written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in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script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mode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with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150" dirty="0">
                <a:latin typeface="Arial"/>
                <a:cs typeface="Arial"/>
              </a:rPr>
              <a:t>a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.py</a:t>
            </a:r>
            <a:r>
              <a:rPr sz="1800" spc="-80" dirty="0">
                <a:latin typeface="Arial"/>
                <a:cs typeface="Arial"/>
              </a:rPr>
              <a:t> extension. </a:t>
            </a:r>
            <a:r>
              <a:rPr sz="1800" spc="-185" dirty="0">
                <a:latin typeface="Arial"/>
                <a:cs typeface="Arial"/>
              </a:rPr>
              <a:t>Each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75" dirty="0">
                <a:latin typeface="Arial"/>
                <a:cs typeface="Arial"/>
              </a:rPr>
              <a:t>program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100" dirty="0">
                <a:latin typeface="Arial"/>
                <a:cs typeface="Arial"/>
              </a:rPr>
              <a:t>is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stored </a:t>
            </a:r>
            <a:r>
              <a:rPr sz="1800" spc="-70" dirty="0">
                <a:latin typeface="Arial"/>
                <a:cs typeface="Arial"/>
              </a:rPr>
              <a:t>on </a:t>
            </a:r>
            <a:r>
              <a:rPr sz="1800" spc="-25" dirty="0">
                <a:latin typeface="Arial"/>
                <a:cs typeface="Arial"/>
              </a:rPr>
              <a:t>the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95" dirty="0">
                <a:latin typeface="Arial"/>
                <a:cs typeface="Arial"/>
              </a:rPr>
              <a:t>secondary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device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180" dirty="0">
                <a:latin typeface="Arial"/>
                <a:cs typeface="Arial"/>
              </a:rPr>
              <a:t>as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150" dirty="0">
                <a:latin typeface="Arial"/>
                <a:cs typeface="Arial"/>
              </a:rPr>
              <a:t>a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file.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100" dirty="0">
                <a:latin typeface="Arial"/>
                <a:cs typeface="Arial"/>
              </a:rPr>
              <a:t>Likewise,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80" dirty="0">
                <a:latin typeface="Arial"/>
                <a:cs typeface="Arial"/>
              </a:rPr>
              <a:t>data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entered, </a:t>
            </a:r>
            <a:r>
              <a:rPr sz="1800" spc="-100" dirty="0">
                <a:latin typeface="Arial"/>
                <a:cs typeface="Arial"/>
              </a:rPr>
              <a:t>and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the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output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130" dirty="0">
                <a:latin typeface="Arial"/>
                <a:cs typeface="Arial"/>
              </a:rPr>
              <a:t>can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100" dirty="0">
                <a:latin typeface="Arial"/>
                <a:cs typeface="Arial"/>
              </a:rPr>
              <a:t>be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stored </a:t>
            </a:r>
            <a:r>
              <a:rPr sz="1800" spc="-60" dirty="0">
                <a:latin typeface="Arial"/>
                <a:cs typeface="Arial"/>
              </a:rPr>
              <a:t>permanently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into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150" dirty="0">
                <a:latin typeface="Arial"/>
                <a:cs typeface="Arial"/>
              </a:rPr>
              <a:t>a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file.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8013" y="459994"/>
            <a:ext cx="688594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6720" marR="5080" indent="-414655">
              <a:lnSpc>
                <a:spcPct val="100000"/>
              </a:lnSpc>
              <a:spcBef>
                <a:spcPts val="105"/>
              </a:spcBef>
            </a:pPr>
            <a:r>
              <a:rPr sz="2000" spc="-204" dirty="0">
                <a:latin typeface="Arial"/>
                <a:cs typeface="Arial"/>
              </a:rPr>
              <a:t>So,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FF0000"/>
                </a:solidFill>
                <a:latin typeface="Arial"/>
                <a:cs typeface="Arial"/>
              </a:rPr>
              <a:t>what</a:t>
            </a:r>
            <a:r>
              <a:rPr sz="2000" spc="-1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10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2000" spc="-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6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00" spc="-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FF0000"/>
                </a:solidFill>
                <a:latin typeface="Arial"/>
                <a:cs typeface="Arial"/>
              </a:rPr>
              <a:t>file?</a:t>
            </a:r>
            <a:r>
              <a:rPr sz="2000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95" dirty="0">
                <a:latin typeface="Arial"/>
                <a:cs typeface="Arial"/>
              </a:rPr>
              <a:t>A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is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named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location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on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secondary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storage </a:t>
            </a:r>
            <a:r>
              <a:rPr sz="2000" spc="-85" dirty="0">
                <a:latin typeface="Arial"/>
                <a:cs typeface="Arial"/>
              </a:rPr>
              <a:t>media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where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data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are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permanently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stored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later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access.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53641" y="1538985"/>
            <a:ext cx="24491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95" dirty="0">
                <a:solidFill>
                  <a:srgbClr val="FF0000"/>
                </a:solidFill>
                <a:latin typeface="Arial"/>
                <a:cs typeface="Arial"/>
              </a:rPr>
              <a:t>4.2.</a:t>
            </a:r>
            <a:r>
              <a:rPr sz="2400" b="1" spc="-11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390" dirty="0">
                <a:solidFill>
                  <a:srgbClr val="FF0000"/>
                </a:solidFill>
                <a:latin typeface="Arial"/>
                <a:cs typeface="Arial"/>
              </a:rPr>
              <a:t>TYPES</a:t>
            </a:r>
            <a:r>
              <a:rPr sz="2400" b="1" spc="-1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320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2400" b="1" spc="-1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380" dirty="0">
                <a:solidFill>
                  <a:srgbClr val="FF0000"/>
                </a:solidFill>
                <a:latin typeface="Arial"/>
                <a:cs typeface="Arial"/>
              </a:rPr>
              <a:t>FILES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3641" y="2003806"/>
            <a:ext cx="8198484" cy="3806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110" dirty="0">
                <a:latin typeface="Arial"/>
                <a:cs typeface="Arial"/>
              </a:rPr>
              <a:t>Computers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store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every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200" dirty="0">
                <a:latin typeface="Arial"/>
                <a:cs typeface="Arial"/>
              </a:rPr>
              <a:t>as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collection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0s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and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70" dirty="0">
                <a:latin typeface="Arial"/>
                <a:cs typeface="Arial"/>
              </a:rPr>
              <a:t>1s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i.e.,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in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binary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form. </a:t>
            </a:r>
            <a:r>
              <a:rPr sz="2000" spc="-85" dirty="0">
                <a:latin typeface="Arial"/>
                <a:cs typeface="Arial"/>
              </a:rPr>
              <a:t>Therefore,</a:t>
            </a:r>
            <a:r>
              <a:rPr sz="2000" spc="-100" dirty="0">
                <a:latin typeface="Arial"/>
                <a:cs typeface="Arial"/>
              </a:rPr>
              <a:t> every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file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is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basically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just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series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bytes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stored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one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after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other.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114" dirty="0">
                <a:latin typeface="Arial"/>
                <a:cs typeface="Arial"/>
              </a:rPr>
              <a:t>There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are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mainly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1F5F"/>
                </a:solidFill>
                <a:latin typeface="Arial"/>
                <a:cs typeface="Arial"/>
              </a:rPr>
              <a:t>two</a:t>
            </a:r>
            <a:r>
              <a:rPr sz="2000" spc="-10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000" spc="-90" dirty="0">
                <a:solidFill>
                  <a:srgbClr val="001F5F"/>
                </a:solidFill>
                <a:latin typeface="Arial"/>
                <a:cs typeface="Arial"/>
              </a:rPr>
              <a:t>types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data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files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200" dirty="0">
                <a:latin typeface="Arial"/>
                <a:cs typeface="Arial"/>
              </a:rPr>
              <a:t>—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006FC0"/>
                </a:solidFill>
                <a:latin typeface="Arial"/>
                <a:cs typeface="Arial"/>
              </a:rPr>
              <a:t>text</a:t>
            </a:r>
            <a:r>
              <a:rPr sz="2000" spc="-8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6FC0"/>
                </a:solidFill>
                <a:latin typeface="Arial"/>
                <a:cs typeface="Arial"/>
              </a:rPr>
              <a:t>file</a:t>
            </a:r>
            <a:r>
              <a:rPr sz="2000" spc="-7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and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006FC0"/>
                </a:solidFill>
                <a:latin typeface="Arial"/>
                <a:cs typeface="Arial"/>
              </a:rPr>
              <a:t>binary</a:t>
            </a:r>
            <a:r>
              <a:rPr sz="2000" spc="-10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06FC0"/>
                </a:solidFill>
                <a:latin typeface="Arial"/>
                <a:cs typeface="Arial"/>
              </a:rPr>
              <a:t>file</a:t>
            </a:r>
            <a:r>
              <a:rPr sz="2000" spc="-10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00">
              <a:latin typeface="Arial"/>
              <a:cs typeface="Arial"/>
            </a:endParaRPr>
          </a:p>
          <a:p>
            <a:pPr marL="12700" marR="350520">
              <a:lnSpc>
                <a:spcPct val="101000"/>
              </a:lnSpc>
            </a:pPr>
            <a:r>
              <a:rPr sz="2400" spc="-229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400" spc="-1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006FC0"/>
                </a:solidFill>
                <a:latin typeface="Arial"/>
                <a:cs typeface="Arial"/>
              </a:rPr>
              <a:t>text</a:t>
            </a:r>
            <a:r>
              <a:rPr sz="2400" spc="-13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Arial"/>
                <a:cs typeface="Arial"/>
              </a:rPr>
              <a:t>file</a:t>
            </a:r>
            <a:r>
              <a:rPr sz="2400" spc="-10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consists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human </a:t>
            </a:r>
            <a:r>
              <a:rPr sz="2000" spc="-85" dirty="0">
                <a:latin typeface="Arial"/>
                <a:cs typeface="Arial"/>
              </a:rPr>
              <a:t>readable </a:t>
            </a:r>
            <a:r>
              <a:rPr sz="2000" spc="-100" dirty="0">
                <a:latin typeface="Arial"/>
                <a:cs typeface="Arial"/>
              </a:rPr>
              <a:t>characters,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which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40" dirty="0">
                <a:latin typeface="Arial"/>
                <a:cs typeface="Arial"/>
              </a:rPr>
              <a:t>can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be </a:t>
            </a:r>
            <a:r>
              <a:rPr sz="2000" spc="-85" dirty="0">
                <a:latin typeface="Arial"/>
                <a:cs typeface="Arial"/>
              </a:rPr>
              <a:t>opened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by </a:t>
            </a:r>
            <a:r>
              <a:rPr sz="2000" spc="-130" dirty="0">
                <a:latin typeface="Arial"/>
                <a:cs typeface="Arial"/>
              </a:rPr>
              <a:t>any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text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editor.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150" dirty="0">
                <a:latin typeface="Arial"/>
                <a:cs typeface="Arial"/>
              </a:rPr>
              <a:t>On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other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hand,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00">
              <a:latin typeface="Arial"/>
              <a:cs typeface="Arial"/>
            </a:endParaRPr>
          </a:p>
          <a:p>
            <a:pPr marL="12700" marR="421005">
              <a:lnSpc>
                <a:spcPct val="101000"/>
              </a:lnSpc>
            </a:pPr>
            <a:r>
              <a:rPr sz="2400" spc="-75" dirty="0">
                <a:solidFill>
                  <a:srgbClr val="006FC0"/>
                </a:solidFill>
                <a:latin typeface="Arial"/>
                <a:cs typeface="Arial"/>
              </a:rPr>
              <a:t>binary</a:t>
            </a:r>
            <a:r>
              <a:rPr sz="2400" spc="-10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80" dirty="0">
                <a:solidFill>
                  <a:srgbClr val="006FC0"/>
                </a:solidFill>
                <a:latin typeface="Arial"/>
                <a:cs typeface="Arial"/>
              </a:rPr>
              <a:t>files</a:t>
            </a:r>
            <a:r>
              <a:rPr sz="2400" spc="-9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are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made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up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non-</a:t>
            </a:r>
            <a:r>
              <a:rPr sz="2000" spc="-100" dirty="0">
                <a:latin typeface="Arial"/>
                <a:cs typeface="Arial"/>
              </a:rPr>
              <a:t>human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readable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characters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and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symbols, </a:t>
            </a:r>
            <a:r>
              <a:rPr sz="2000" spc="-75" dirty="0">
                <a:latin typeface="Arial"/>
                <a:cs typeface="Arial"/>
              </a:rPr>
              <a:t>which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require</a:t>
            </a:r>
            <a:r>
              <a:rPr sz="2000" spc="-85" dirty="0">
                <a:latin typeface="Arial"/>
                <a:cs typeface="Arial"/>
              </a:rPr>
              <a:t> specific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programs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75" dirty="0">
                <a:latin typeface="Arial"/>
                <a:cs typeface="Arial"/>
              </a:rPr>
              <a:t>access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its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contents.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2013" y="514603"/>
            <a:ext cx="17049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90" dirty="0">
                <a:solidFill>
                  <a:srgbClr val="FF0000"/>
                </a:solidFill>
                <a:latin typeface="Arial"/>
                <a:cs typeface="Arial"/>
              </a:rPr>
              <a:t>4.2.1</a:t>
            </a:r>
            <a:r>
              <a:rPr sz="2400" b="1" spc="-1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225" dirty="0">
                <a:solidFill>
                  <a:srgbClr val="FF0000"/>
                </a:solidFill>
                <a:latin typeface="Arial"/>
                <a:cs typeface="Arial"/>
              </a:rPr>
              <a:t>Text</a:t>
            </a:r>
            <a:r>
              <a:rPr sz="2400" b="1" spc="-1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65" dirty="0">
                <a:solidFill>
                  <a:srgbClr val="FF0000"/>
                </a:solidFill>
                <a:latin typeface="Arial"/>
                <a:cs typeface="Arial"/>
              </a:rPr>
              <a:t>file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82013" y="979424"/>
            <a:ext cx="9168130" cy="4904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790575">
              <a:lnSpc>
                <a:spcPct val="100000"/>
              </a:lnSpc>
              <a:spcBef>
                <a:spcPts val="105"/>
              </a:spcBef>
            </a:pPr>
            <a:r>
              <a:rPr sz="2000" spc="-195" dirty="0">
                <a:latin typeface="Arial"/>
                <a:cs typeface="Arial"/>
              </a:rPr>
              <a:t>A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text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file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35" dirty="0">
                <a:latin typeface="Arial"/>
                <a:cs typeface="Arial"/>
              </a:rPr>
              <a:t>can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be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understood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200" dirty="0">
                <a:latin typeface="Arial"/>
                <a:cs typeface="Arial"/>
              </a:rPr>
              <a:t>as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sequence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characters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consisting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alphabets, </a:t>
            </a:r>
            <a:r>
              <a:rPr sz="2000" spc="-90" dirty="0">
                <a:latin typeface="Arial"/>
                <a:cs typeface="Arial"/>
              </a:rPr>
              <a:t>numbers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and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other</a:t>
            </a:r>
            <a:r>
              <a:rPr sz="2000" spc="-100" dirty="0">
                <a:latin typeface="Arial"/>
                <a:cs typeface="Arial"/>
              </a:rPr>
              <a:t> special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symbols.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135" dirty="0">
                <a:latin typeface="Arial"/>
                <a:cs typeface="Arial"/>
              </a:rPr>
              <a:t>Files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with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extensions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like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006FC0"/>
                </a:solidFill>
                <a:latin typeface="Arial"/>
                <a:cs typeface="Arial"/>
              </a:rPr>
              <a:t>.txt,</a:t>
            </a:r>
            <a:r>
              <a:rPr sz="2000" spc="-8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spc="-114" dirty="0">
                <a:solidFill>
                  <a:srgbClr val="006FC0"/>
                </a:solidFill>
                <a:latin typeface="Arial"/>
                <a:cs typeface="Arial"/>
              </a:rPr>
              <a:t>.py,</a:t>
            </a:r>
            <a:r>
              <a:rPr sz="2000" spc="-1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spc="-165" dirty="0">
                <a:solidFill>
                  <a:srgbClr val="006FC0"/>
                </a:solidFill>
                <a:latin typeface="Arial"/>
                <a:cs typeface="Arial"/>
              </a:rPr>
              <a:t>.csv</a:t>
            </a:r>
            <a:r>
              <a:rPr sz="2000" spc="-165" dirty="0">
                <a:latin typeface="Arial"/>
                <a:cs typeface="Arial"/>
              </a:rPr>
              <a:t>,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etc.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are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some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examples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text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files.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95" dirty="0">
                <a:latin typeface="Arial"/>
                <a:cs typeface="Arial"/>
              </a:rPr>
              <a:t>When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we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open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text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file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using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text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editor</a:t>
            </a:r>
            <a:r>
              <a:rPr sz="2000" spc="-90" dirty="0">
                <a:latin typeface="Arial"/>
                <a:cs typeface="Arial"/>
              </a:rPr>
              <a:t> (e.g.,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Notepad),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we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60" dirty="0">
                <a:latin typeface="Arial"/>
                <a:cs typeface="Arial"/>
              </a:rPr>
              <a:t>see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several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lines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text.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14" dirty="0">
                <a:latin typeface="Arial"/>
                <a:cs typeface="Arial"/>
              </a:rPr>
              <a:t>However,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contents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are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not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stored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in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40" dirty="0">
                <a:latin typeface="Arial"/>
                <a:cs typeface="Arial"/>
              </a:rPr>
              <a:t>such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way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internally.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Rather,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they</a:t>
            </a:r>
            <a:r>
              <a:rPr sz="2000" spc="-100" dirty="0">
                <a:latin typeface="Arial"/>
                <a:cs typeface="Arial"/>
              </a:rPr>
              <a:t> are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stored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20" dirty="0">
                <a:latin typeface="Arial"/>
                <a:cs typeface="Arial"/>
              </a:rPr>
              <a:t>in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sequence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bytes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consisting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70" dirty="0">
                <a:latin typeface="Arial"/>
                <a:cs typeface="Arial"/>
              </a:rPr>
              <a:t>0s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and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1s.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 dirty="0">
              <a:latin typeface="Arial"/>
              <a:cs typeface="Arial"/>
            </a:endParaRPr>
          </a:p>
          <a:p>
            <a:pPr marL="12700" marR="34290">
              <a:lnSpc>
                <a:spcPct val="100000"/>
              </a:lnSpc>
              <a:spcBef>
                <a:spcPts val="5"/>
              </a:spcBef>
            </a:pPr>
            <a:r>
              <a:rPr sz="2000" spc="-70" dirty="0">
                <a:latin typeface="Arial"/>
                <a:cs typeface="Arial"/>
              </a:rPr>
              <a:t>In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95" dirty="0">
                <a:latin typeface="Arial"/>
                <a:cs typeface="Arial"/>
              </a:rPr>
              <a:t>ASCII,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240" dirty="0">
                <a:latin typeface="Arial"/>
                <a:cs typeface="Arial"/>
              </a:rPr>
              <a:t>UNICODE</a:t>
            </a:r>
            <a:r>
              <a:rPr sz="2000" spc="-1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or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any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other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encoding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scheme,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the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value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40" dirty="0">
                <a:latin typeface="Arial"/>
                <a:cs typeface="Arial"/>
              </a:rPr>
              <a:t>each</a:t>
            </a:r>
            <a:r>
              <a:rPr sz="2000" spc="-85" dirty="0">
                <a:latin typeface="Arial"/>
                <a:cs typeface="Arial"/>
              </a:rPr>
              <a:t> character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text </a:t>
            </a:r>
            <a:r>
              <a:rPr sz="2000" dirty="0">
                <a:latin typeface="Arial"/>
                <a:cs typeface="Arial"/>
              </a:rPr>
              <a:t>file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is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stored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00" dirty="0">
                <a:latin typeface="Arial"/>
                <a:cs typeface="Arial"/>
              </a:rPr>
              <a:t>as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bytes.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04" dirty="0">
                <a:latin typeface="Arial"/>
                <a:cs typeface="Arial"/>
              </a:rPr>
              <a:t>So,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while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opening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text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file,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text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editor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translates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40" dirty="0">
                <a:latin typeface="Arial"/>
                <a:cs typeface="Arial"/>
              </a:rPr>
              <a:t>each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ASCII </a:t>
            </a:r>
            <a:r>
              <a:rPr sz="2000" spc="-100" dirty="0">
                <a:latin typeface="Arial"/>
                <a:cs typeface="Arial"/>
              </a:rPr>
              <a:t>value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and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shows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40" dirty="0">
                <a:latin typeface="Arial"/>
                <a:cs typeface="Arial"/>
              </a:rPr>
              <a:t>us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equivalent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character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is</a:t>
            </a:r>
            <a:r>
              <a:rPr sz="2000" spc="-85" dirty="0">
                <a:latin typeface="Arial"/>
                <a:cs typeface="Arial"/>
              </a:rPr>
              <a:t> readable</a:t>
            </a:r>
            <a:r>
              <a:rPr sz="2000" spc="-95" dirty="0">
                <a:latin typeface="Arial"/>
                <a:cs typeface="Arial"/>
              </a:rPr>
              <a:t> by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human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being.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 dirty="0">
              <a:latin typeface="Arial"/>
              <a:cs typeface="Arial"/>
            </a:endParaRPr>
          </a:p>
          <a:p>
            <a:pPr marL="12700" marR="238125">
              <a:lnSpc>
                <a:spcPct val="100000"/>
              </a:lnSpc>
              <a:spcBef>
                <a:spcPts val="5"/>
              </a:spcBef>
            </a:pPr>
            <a:r>
              <a:rPr sz="2000" spc="-130" dirty="0">
                <a:latin typeface="Arial"/>
                <a:cs typeface="Arial"/>
              </a:rPr>
              <a:t>For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example,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225" dirty="0">
                <a:latin typeface="Arial"/>
                <a:cs typeface="Arial"/>
              </a:rPr>
              <a:t>ASCII</a:t>
            </a:r>
            <a:r>
              <a:rPr sz="2000" spc="-95" dirty="0">
                <a:latin typeface="Arial"/>
                <a:cs typeface="Arial"/>
              </a:rPr>
              <a:t> value </a:t>
            </a:r>
            <a:r>
              <a:rPr sz="2000" spc="-110" dirty="0">
                <a:latin typeface="Arial"/>
                <a:cs typeface="Arial"/>
              </a:rPr>
              <a:t>65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(binary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equivalent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1000001)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will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be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displayed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by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text </a:t>
            </a:r>
            <a:r>
              <a:rPr sz="2000" spc="-25" dirty="0">
                <a:latin typeface="Arial"/>
                <a:cs typeface="Arial"/>
              </a:rPr>
              <a:t>editor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00" dirty="0">
                <a:latin typeface="Arial"/>
                <a:cs typeface="Arial"/>
              </a:rPr>
              <a:t>as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letter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‘A’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since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the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number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65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in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225" dirty="0">
                <a:latin typeface="Arial"/>
                <a:cs typeface="Arial"/>
              </a:rPr>
              <a:t>ASCII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character</a:t>
            </a:r>
            <a:r>
              <a:rPr sz="2000" spc="-90" dirty="0">
                <a:latin typeface="Arial"/>
                <a:cs typeface="Arial"/>
              </a:rPr>
              <a:t> set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represents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‘A’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2013" y="514603"/>
            <a:ext cx="1998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95" dirty="0">
                <a:solidFill>
                  <a:srgbClr val="FF0000"/>
                </a:solidFill>
                <a:latin typeface="Arial"/>
                <a:cs typeface="Arial"/>
              </a:rPr>
              <a:t>4.2.2</a:t>
            </a:r>
            <a:r>
              <a:rPr sz="2400" b="1" spc="-1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195" dirty="0">
                <a:solidFill>
                  <a:srgbClr val="FF0000"/>
                </a:solidFill>
                <a:latin typeface="Arial"/>
                <a:cs typeface="Arial"/>
              </a:rPr>
              <a:t>Binary</a:t>
            </a:r>
            <a:r>
              <a:rPr sz="2400" b="1" spc="-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55" dirty="0">
                <a:solidFill>
                  <a:srgbClr val="FF0000"/>
                </a:solidFill>
                <a:latin typeface="Arial"/>
                <a:cs typeface="Arial"/>
              </a:rPr>
              <a:t>file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82013" y="980947"/>
            <a:ext cx="8490585" cy="5168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latin typeface="Arial"/>
                <a:cs typeface="Arial"/>
              </a:rPr>
              <a:t>Binary </a:t>
            </a:r>
            <a:r>
              <a:rPr sz="1800" spc="-60" dirty="0">
                <a:latin typeface="Arial"/>
                <a:cs typeface="Arial"/>
              </a:rPr>
              <a:t>files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are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100" dirty="0">
                <a:latin typeface="Arial"/>
                <a:cs typeface="Arial"/>
              </a:rPr>
              <a:t>also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65" dirty="0">
                <a:latin typeface="Arial"/>
                <a:cs typeface="Arial"/>
              </a:rPr>
              <a:t>stored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30" dirty="0">
                <a:latin typeface="Arial"/>
                <a:cs typeface="Arial"/>
              </a:rPr>
              <a:t>in</a:t>
            </a:r>
            <a:r>
              <a:rPr sz="1800" spc="-70" dirty="0">
                <a:latin typeface="Arial"/>
                <a:cs typeface="Arial"/>
              </a:rPr>
              <a:t> terms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80" dirty="0">
                <a:latin typeface="Arial"/>
                <a:cs typeface="Arial"/>
              </a:rPr>
              <a:t>bytes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20" dirty="0">
                <a:latin typeface="Arial"/>
                <a:cs typeface="Arial"/>
              </a:rPr>
              <a:t>(0s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100" dirty="0">
                <a:latin typeface="Arial"/>
                <a:cs typeface="Arial"/>
              </a:rPr>
              <a:t>and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1s),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but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65" dirty="0">
                <a:latin typeface="Arial"/>
                <a:cs typeface="Arial"/>
              </a:rPr>
              <a:t>unlike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text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files,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80" dirty="0">
                <a:latin typeface="Arial"/>
                <a:cs typeface="Arial"/>
              </a:rPr>
              <a:t>these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80" dirty="0">
                <a:latin typeface="Arial"/>
                <a:cs typeface="Arial"/>
              </a:rPr>
              <a:t>bytes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do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not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represent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200" dirty="0">
                <a:latin typeface="Arial"/>
                <a:cs typeface="Arial"/>
              </a:rPr>
              <a:t>ASCII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spc="-110" dirty="0">
                <a:latin typeface="Arial"/>
                <a:cs typeface="Arial"/>
              </a:rPr>
              <a:t>values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characters.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800" spc="-110" dirty="0">
                <a:latin typeface="Arial"/>
                <a:cs typeface="Arial"/>
              </a:rPr>
              <a:t>Rather,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45" dirty="0">
                <a:latin typeface="Arial"/>
                <a:cs typeface="Arial"/>
              </a:rPr>
              <a:t>they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represent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the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75" dirty="0">
                <a:latin typeface="Arial"/>
                <a:cs typeface="Arial"/>
              </a:rPr>
              <a:t>actual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content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130" dirty="0">
                <a:latin typeface="Arial"/>
                <a:cs typeface="Arial"/>
              </a:rPr>
              <a:t>such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75" dirty="0">
                <a:latin typeface="Arial"/>
                <a:cs typeface="Arial"/>
              </a:rPr>
              <a:t>as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95" dirty="0">
                <a:latin typeface="Arial"/>
                <a:cs typeface="Arial"/>
              </a:rPr>
              <a:t>image,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audio,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video,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105" dirty="0">
                <a:latin typeface="Arial"/>
                <a:cs typeface="Arial"/>
              </a:rPr>
              <a:t>compressed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35" dirty="0">
                <a:latin typeface="Arial"/>
                <a:cs typeface="Arial"/>
              </a:rPr>
              <a:t>versions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other</a:t>
            </a:r>
            <a:r>
              <a:rPr sz="1800" spc="-60" dirty="0">
                <a:latin typeface="Arial"/>
                <a:cs typeface="Arial"/>
              </a:rPr>
              <a:t> files, </a:t>
            </a:r>
            <a:r>
              <a:rPr sz="1800" spc="-90" dirty="0">
                <a:latin typeface="Arial"/>
                <a:cs typeface="Arial"/>
              </a:rPr>
              <a:t>executable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files, </a:t>
            </a:r>
            <a:r>
              <a:rPr sz="1800" spc="-20" dirty="0">
                <a:latin typeface="Arial"/>
                <a:cs typeface="Arial"/>
              </a:rPr>
              <a:t>etc.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150" dirty="0">
                <a:solidFill>
                  <a:srgbClr val="006FC0"/>
                </a:solidFill>
                <a:latin typeface="Arial"/>
                <a:cs typeface="Arial"/>
              </a:rPr>
              <a:t>These</a:t>
            </a:r>
            <a:r>
              <a:rPr sz="1800" spc="-6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60" dirty="0">
                <a:solidFill>
                  <a:srgbClr val="006FC0"/>
                </a:solidFill>
                <a:latin typeface="Arial"/>
                <a:cs typeface="Arial"/>
              </a:rPr>
              <a:t>files</a:t>
            </a:r>
            <a:r>
              <a:rPr sz="1800" spc="-6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90" dirty="0">
                <a:solidFill>
                  <a:srgbClr val="006FC0"/>
                </a:solidFill>
                <a:latin typeface="Arial"/>
                <a:cs typeface="Arial"/>
              </a:rPr>
              <a:t>are</a:t>
            </a:r>
            <a:r>
              <a:rPr sz="1800" spc="-7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not</a:t>
            </a:r>
            <a:r>
              <a:rPr sz="1800" spc="-6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90" dirty="0">
                <a:solidFill>
                  <a:srgbClr val="006FC0"/>
                </a:solidFill>
                <a:latin typeface="Arial"/>
                <a:cs typeface="Arial"/>
              </a:rPr>
              <a:t>human</a:t>
            </a:r>
            <a:r>
              <a:rPr sz="1800" spc="-5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Arial"/>
                <a:cs typeface="Arial"/>
              </a:rPr>
              <a:t>readable.</a:t>
            </a:r>
            <a:endParaRPr sz="1800">
              <a:latin typeface="Arial"/>
              <a:cs typeface="Arial"/>
            </a:endParaRPr>
          </a:p>
          <a:p>
            <a:pPr marL="12700" marR="762000">
              <a:lnSpc>
                <a:spcPts val="4320"/>
              </a:lnSpc>
              <a:spcBef>
                <a:spcPts val="505"/>
              </a:spcBef>
            </a:pPr>
            <a:r>
              <a:rPr sz="1800" spc="-130" dirty="0">
                <a:latin typeface="Arial"/>
                <a:cs typeface="Arial"/>
              </a:rPr>
              <a:t>Thus,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30" dirty="0">
                <a:latin typeface="Arial"/>
                <a:cs typeface="Arial"/>
              </a:rPr>
              <a:t>trying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80" dirty="0">
                <a:latin typeface="Arial"/>
                <a:cs typeface="Arial"/>
              </a:rPr>
              <a:t> open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150" dirty="0">
                <a:latin typeface="Arial"/>
                <a:cs typeface="Arial"/>
              </a:rPr>
              <a:t>a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binary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file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105" dirty="0">
                <a:latin typeface="Arial"/>
                <a:cs typeface="Arial"/>
              </a:rPr>
              <a:t>using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150" dirty="0">
                <a:latin typeface="Arial"/>
                <a:cs typeface="Arial"/>
              </a:rPr>
              <a:t>a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text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editor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will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100" dirty="0">
                <a:latin typeface="Arial"/>
                <a:cs typeface="Arial"/>
              </a:rPr>
              <a:t>show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114" dirty="0">
                <a:latin typeface="Arial"/>
                <a:cs typeface="Arial"/>
              </a:rPr>
              <a:t>some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114" dirty="0">
                <a:latin typeface="Arial"/>
                <a:cs typeface="Arial"/>
              </a:rPr>
              <a:t>garbage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45" dirty="0">
                <a:latin typeface="Arial"/>
                <a:cs typeface="Arial"/>
              </a:rPr>
              <a:t>values. </a:t>
            </a:r>
            <a:r>
              <a:rPr sz="1800" spc="-150" dirty="0">
                <a:latin typeface="Arial"/>
                <a:cs typeface="Arial"/>
              </a:rPr>
              <a:t>We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need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80" dirty="0">
                <a:latin typeface="Arial"/>
                <a:cs typeface="Arial"/>
              </a:rPr>
              <a:t>specific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software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80" dirty="0">
                <a:latin typeface="Arial"/>
                <a:cs typeface="Arial"/>
              </a:rPr>
              <a:t>read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or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write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contents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50" dirty="0">
                <a:latin typeface="Arial"/>
                <a:cs typeface="Arial"/>
              </a:rPr>
              <a:t>a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binary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file.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80" dirty="0">
                <a:latin typeface="Arial"/>
                <a:cs typeface="Arial"/>
              </a:rPr>
              <a:t>Binary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files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are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65" dirty="0">
                <a:latin typeface="Arial"/>
                <a:cs typeface="Arial"/>
              </a:rPr>
              <a:t>stored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30" dirty="0">
                <a:latin typeface="Arial"/>
                <a:cs typeface="Arial"/>
              </a:rPr>
              <a:t>in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150" dirty="0">
                <a:latin typeface="Arial"/>
                <a:cs typeface="Arial"/>
              </a:rPr>
              <a:t>a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computer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in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150" dirty="0">
                <a:latin typeface="Arial"/>
                <a:cs typeface="Arial"/>
              </a:rPr>
              <a:t>a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110" dirty="0">
                <a:latin typeface="Arial"/>
                <a:cs typeface="Arial"/>
              </a:rPr>
              <a:t>sequence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bytes.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Arial"/>
              <a:cs typeface="Arial"/>
            </a:endParaRPr>
          </a:p>
          <a:p>
            <a:pPr marL="12700" marR="38735">
              <a:lnSpc>
                <a:spcPct val="100000"/>
              </a:lnSpc>
            </a:pPr>
            <a:r>
              <a:rPr sz="1800" spc="-165" dirty="0">
                <a:latin typeface="Arial"/>
                <a:cs typeface="Arial"/>
              </a:rPr>
              <a:t>Even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150" dirty="0">
                <a:latin typeface="Arial"/>
                <a:cs typeface="Arial"/>
              </a:rPr>
              <a:t>a</a:t>
            </a:r>
            <a:r>
              <a:rPr sz="1800" spc="-85" dirty="0">
                <a:latin typeface="Arial"/>
                <a:cs typeface="Arial"/>
              </a:rPr>
              <a:t> single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bit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120" dirty="0">
                <a:latin typeface="Arial"/>
                <a:cs typeface="Arial"/>
              </a:rPr>
              <a:t>change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130" dirty="0">
                <a:latin typeface="Arial"/>
                <a:cs typeface="Arial"/>
              </a:rPr>
              <a:t>can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30" dirty="0">
                <a:latin typeface="Arial"/>
                <a:cs typeface="Arial"/>
              </a:rPr>
              <a:t>corrupt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file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100" dirty="0">
                <a:latin typeface="Arial"/>
                <a:cs typeface="Arial"/>
              </a:rPr>
              <a:t>and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120" dirty="0">
                <a:latin typeface="Arial"/>
                <a:cs typeface="Arial"/>
              </a:rPr>
              <a:t>make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50" dirty="0">
                <a:latin typeface="Arial"/>
                <a:cs typeface="Arial"/>
              </a:rPr>
              <a:t>it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75" dirty="0">
                <a:latin typeface="Arial"/>
                <a:cs typeface="Arial"/>
              </a:rPr>
              <a:t>unreadable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the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supporting </a:t>
            </a:r>
            <a:r>
              <a:rPr sz="1800" spc="-60" dirty="0">
                <a:latin typeface="Arial"/>
                <a:cs typeface="Arial"/>
              </a:rPr>
              <a:t>application.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114" dirty="0">
                <a:latin typeface="Arial"/>
                <a:cs typeface="Arial"/>
              </a:rPr>
              <a:t>Also,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50" dirty="0">
                <a:latin typeface="Arial"/>
                <a:cs typeface="Arial"/>
              </a:rPr>
              <a:t>it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105" dirty="0">
                <a:latin typeface="Arial"/>
                <a:cs typeface="Arial"/>
              </a:rPr>
              <a:t>is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Arial"/>
                <a:cs typeface="Arial"/>
              </a:rPr>
              <a:t>difficult</a:t>
            </a:r>
            <a:r>
              <a:rPr sz="1800" spc="-7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to</a:t>
            </a:r>
            <a:r>
              <a:rPr sz="1800" spc="-8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85" dirty="0">
                <a:solidFill>
                  <a:srgbClr val="006FC0"/>
                </a:solidFill>
                <a:latin typeface="Arial"/>
                <a:cs typeface="Arial"/>
              </a:rPr>
              <a:t>remove</a:t>
            </a:r>
            <a:r>
              <a:rPr sz="1800" spc="-8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114" dirty="0">
                <a:solidFill>
                  <a:srgbClr val="006FC0"/>
                </a:solidFill>
                <a:latin typeface="Arial"/>
                <a:cs typeface="Arial"/>
              </a:rPr>
              <a:t>any</a:t>
            </a:r>
            <a:r>
              <a:rPr sz="1800" spc="-6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006FC0"/>
                </a:solidFill>
                <a:latin typeface="Arial"/>
                <a:cs typeface="Arial"/>
              </a:rPr>
              <a:t>error</a:t>
            </a:r>
            <a:r>
              <a:rPr sz="1800" spc="-7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65" dirty="0">
                <a:latin typeface="Arial"/>
                <a:cs typeface="Arial"/>
              </a:rPr>
              <a:t>which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125" dirty="0">
                <a:latin typeface="Arial"/>
                <a:cs typeface="Arial"/>
              </a:rPr>
              <a:t>may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occur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in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binary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file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180" dirty="0">
                <a:latin typeface="Arial"/>
                <a:cs typeface="Arial"/>
              </a:rPr>
              <a:t>as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65" dirty="0">
                <a:latin typeface="Arial"/>
                <a:cs typeface="Arial"/>
              </a:rPr>
              <a:t>stored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contents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are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not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human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readable.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150" dirty="0">
                <a:latin typeface="Arial"/>
                <a:cs typeface="Arial"/>
              </a:rPr>
              <a:t>We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130" dirty="0">
                <a:latin typeface="Arial"/>
                <a:cs typeface="Arial"/>
              </a:rPr>
              <a:t>can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006FC0"/>
                </a:solidFill>
                <a:latin typeface="Arial"/>
                <a:cs typeface="Arial"/>
              </a:rPr>
              <a:t>read </a:t>
            </a:r>
            <a:r>
              <a:rPr sz="1800" spc="-95" dirty="0">
                <a:solidFill>
                  <a:srgbClr val="006FC0"/>
                </a:solidFill>
                <a:latin typeface="Arial"/>
                <a:cs typeface="Arial"/>
              </a:rPr>
              <a:t>and</a:t>
            </a:r>
            <a:r>
              <a:rPr sz="1800" spc="-7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write</a:t>
            </a:r>
            <a:r>
              <a:rPr sz="1800" spc="-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both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text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00" dirty="0">
                <a:latin typeface="Arial"/>
                <a:cs typeface="Arial"/>
              </a:rPr>
              <a:t>and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binary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files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006FC0"/>
                </a:solidFill>
                <a:latin typeface="Arial"/>
                <a:cs typeface="Arial"/>
              </a:rPr>
              <a:t>through</a:t>
            </a:r>
            <a:r>
              <a:rPr sz="1800" spc="-6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75" dirty="0">
                <a:solidFill>
                  <a:srgbClr val="006FC0"/>
                </a:solidFill>
                <a:latin typeface="Arial"/>
                <a:cs typeface="Arial"/>
              </a:rPr>
              <a:t>Python</a:t>
            </a:r>
            <a:r>
              <a:rPr sz="1800" spc="-8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programs.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756" rIns="0" bIns="0" rtlCol="0">
            <a:spAutoFit/>
          </a:bodyPr>
          <a:lstStyle/>
          <a:p>
            <a:pPr marL="295910">
              <a:lnSpc>
                <a:spcPct val="100000"/>
              </a:lnSpc>
              <a:spcBef>
                <a:spcPts val="100"/>
              </a:spcBef>
            </a:pPr>
            <a:r>
              <a:rPr sz="2400" spc="-60" dirty="0"/>
              <a:t>Most</a:t>
            </a:r>
            <a:r>
              <a:rPr sz="2400" spc="-130" dirty="0"/>
              <a:t> </a:t>
            </a:r>
            <a:r>
              <a:rPr sz="2400" dirty="0"/>
              <a:t>of</a:t>
            </a:r>
            <a:r>
              <a:rPr sz="2400" spc="-110" dirty="0"/>
              <a:t> </a:t>
            </a:r>
            <a:r>
              <a:rPr sz="2400" spc="-40" dirty="0"/>
              <a:t>the</a:t>
            </a:r>
            <a:r>
              <a:rPr sz="2400" spc="-120" dirty="0"/>
              <a:t> </a:t>
            </a:r>
            <a:r>
              <a:rPr sz="2400" spc="-80" dirty="0"/>
              <a:t>files</a:t>
            </a:r>
            <a:r>
              <a:rPr sz="2400" spc="-105" dirty="0"/>
              <a:t> </a:t>
            </a:r>
            <a:r>
              <a:rPr sz="2400" dirty="0"/>
              <a:t>that</a:t>
            </a:r>
            <a:r>
              <a:rPr sz="2400" spc="-125" dirty="0"/>
              <a:t> </a:t>
            </a:r>
            <a:r>
              <a:rPr sz="2400" spc="-110" dirty="0"/>
              <a:t>we </a:t>
            </a:r>
            <a:r>
              <a:rPr sz="2400" spc="-200" dirty="0"/>
              <a:t>see</a:t>
            </a:r>
            <a:r>
              <a:rPr sz="2400" spc="-105" dirty="0"/>
              <a:t> </a:t>
            </a:r>
            <a:r>
              <a:rPr sz="2400" spc="-45" dirty="0"/>
              <a:t>in</a:t>
            </a:r>
            <a:r>
              <a:rPr sz="2400" spc="-130" dirty="0"/>
              <a:t> </a:t>
            </a:r>
            <a:r>
              <a:rPr sz="2400" spc="-50" dirty="0"/>
              <a:t>our</a:t>
            </a:r>
            <a:r>
              <a:rPr sz="2400" spc="-110" dirty="0"/>
              <a:t> </a:t>
            </a:r>
            <a:r>
              <a:rPr sz="2400" spc="-75" dirty="0"/>
              <a:t>computer</a:t>
            </a:r>
            <a:r>
              <a:rPr sz="2400" spc="-125" dirty="0"/>
              <a:t> </a:t>
            </a:r>
            <a:r>
              <a:rPr sz="2400" spc="-150" dirty="0"/>
              <a:t>system</a:t>
            </a:r>
            <a:r>
              <a:rPr sz="2400" spc="-120" dirty="0"/>
              <a:t> are</a:t>
            </a:r>
            <a:r>
              <a:rPr sz="2400" spc="-110" dirty="0"/>
              <a:t> </a:t>
            </a:r>
            <a:r>
              <a:rPr sz="2400" spc="-100" dirty="0"/>
              <a:t>called</a:t>
            </a:r>
            <a:r>
              <a:rPr sz="2400" spc="-114" dirty="0"/>
              <a:t> </a:t>
            </a:r>
            <a:r>
              <a:rPr sz="2400" b="1" spc="-150" dirty="0">
                <a:latin typeface="Arial"/>
                <a:cs typeface="Arial"/>
              </a:rPr>
              <a:t>binary</a:t>
            </a:r>
            <a:r>
              <a:rPr sz="2400" b="1" spc="-110" dirty="0">
                <a:latin typeface="Arial"/>
                <a:cs typeface="Arial"/>
              </a:rPr>
              <a:t> </a:t>
            </a:r>
            <a:r>
              <a:rPr sz="2400" b="1" spc="-45" dirty="0">
                <a:latin typeface="Arial"/>
                <a:cs typeface="Arial"/>
              </a:rPr>
              <a:t>files</a:t>
            </a:r>
            <a:r>
              <a:rPr sz="2400" spc="-45" dirty="0"/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53641" y="1266520"/>
            <a:ext cx="7578725" cy="4504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80" dirty="0">
                <a:solidFill>
                  <a:srgbClr val="006FC0"/>
                </a:solidFill>
                <a:latin typeface="Arial"/>
                <a:cs typeface="Arial"/>
              </a:rPr>
              <a:t>Example: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00">
              <a:latin typeface="Arial"/>
              <a:cs typeface="Arial"/>
            </a:endParaRPr>
          </a:p>
          <a:p>
            <a:pPr marL="233045" indent="-220345">
              <a:lnSpc>
                <a:spcPct val="100000"/>
              </a:lnSpc>
              <a:buClr>
                <a:srgbClr val="000000"/>
              </a:buClr>
              <a:buChar char="•"/>
              <a:tabLst>
                <a:tab pos="233045" algn="l"/>
              </a:tabLst>
            </a:pPr>
            <a:r>
              <a:rPr sz="2400" spc="-110" dirty="0">
                <a:solidFill>
                  <a:srgbClr val="006FC0"/>
                </a:solidFill>
                <a:latin typeface="Arial"/>
                <a:cs typeface="Arial"/>
              </a:rPr>
              <a:t>Document</a:t>
            </a:r>
            <a:r>
              <a:rPr sz="2400" spc="-114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60" dirty="0">
                <a:solidFill>
                  <a:srgbClr val="006FC0"/>
                </a:solidFill>
                <a:latin typeface="Arial"/>
                <a:cs typeface="Arial"/>
              </a:rPr>
              <a:t>files:</a:t>
            </a:r>
            <a:r>
              <a:rPr sz="2400" spc="-10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.pdf, </a:t>
            </a:r>
            <a:r>
              <a:rPr sz="2400" spc="-105" dirty="0">
                <a:latin typeface="Arial"/>
                <a:cs typeface="Arial"/>
              </a:rPr>
              <a:t>.doc,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.xls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etc.</a:t>
            </a:r>
            <a:endParaRPr sz="2400">
              <a:latin typeface="Arial"/>
              <a:cs typeface="Arial"/>
            </a:endParaRPr>
          </a:p>
          <a:p>
            <a:pPr marL="233045" indent="-220345">
              <a:lnSpc>
                <a:spcPct val="100000"/>
              </a:lnSpc>
              <a:buClr>
                <a:srgbClr val="000000"/>
              </a:buClr>
              <a:buChar char="•"/>
              <a:tabLst>
                <a:tab pos="233045" algn="l"/>
              </a:tabLst>
            </a:pPr>
            <a:r>
              <a:rPr sz="2400" spc="-155" dirty="0">
                <a:solidFill>
                  <a:srgbClr val="006FC0"/>
                </a:solidFill>
                <a:latin typeface="Arial"/>
                <a:cs typeface="Arial"/>
              </a:rPr>
              <a:t>Image</a:t>
            </a:r>
            <a:r>
              <a:rPr sz="2400" spc="-1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60" dirty="0">
                <a:solidFill>
                  <a:srgbClr val="006FC0"/>
                </a:solidFill>
                <a:latin typeface="Arial"/>
                <a:cs typeface="Arial"/>
              </a:rPr>
              <a:t>files:</a:t>
            </a:r>
            <a:r>
              <a:rPr sz="2400" spc="-10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.png,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.jpg,</a:t>
            </a:r>
            <a:r>
              <a:rPr sz="2400" spc="-95" dirty="0">
                <a:latin typeface="Arial"/>
                <a:cs typeface="Arial"/>
              </a:rPr>
              <a:t> .gif, </a:t>
            </a:r>
            <a:r>
              <a:rPr sz="2400" spc="-90" dirty="0">
                <a:latin typeface="Arial"/>
                <a:cs typeface="Arial"/>
              </a:rPr>
              <a:t>.bmp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etc.</a:t>
            </a:r>
            <a:endParaRPr sz="2400">
              <a:latin typeface="Arial"/>
              <a:cs typeface="Arial"/>
            </a:endParaRPr>
          </a:p>
          <a:p>
            <a:pPr marL="233045" indent="-220345">
              <a:lnSpc>
                <a:spcPct val="100000"/>
              </a:lnSpc>
              <a:buClr>
                <a:srgbClr val="000000"/>
              </a:buClr>
              <a:buChar char="•"/>
              <a:tabLst>
                <a:tab pos="233045" algn="l"/>
              </a:tabLst>
            </a:pPr>
            <a:r>
              <a:rPr sz="2400" spc="-120" dirty="0">
                <a:solidFill>
                  <a:srgbClr val="006FC0"/>
                </a:solidFill>
                <a:latin typeface="Arial"/>
                <a:cs typeface="Arial"/>
              </a:rPr>
              <a:t>Video</a:t>
            </a:r>
            <a:r>
              <a:rPr sz="2400" spc="-10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Arial"/>
                <a:cs typeface="Arial"/>
              </a:rPr>
              <a:t>files:</a:t>
            </a:r>
            <a:r>
              <a:rPr sz="2400" spc="-10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.mp4,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.3gp,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.mkv,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.avi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etc.</a:t>
            </a:r>
            <a:endParaRPr sz="2400">
              <a:latin typeface="Arial"/>
              <a:cs typeface="Arial"/>
            </a:endParaRPr>
          </a:p>
          <a:p>
            <a:pPr marL="233045" indent="-220345">
              <a:lnSpc>
                <a:spcPct val="100000"/>
              </a:lnSpc>
              <a:buClr>
                <a:srgbClr val="000000"/>
              </a:buClr>
              <a:buChar char="•"/>
              <a:tabLst>
                <a:tab pos="233045" algn="l"/>
              </a:tabLst>
            </a:pPr>
            <a:r>
              <a:rPr sz="2400" spc="-90" dirty="0">
                <a:solidFill>
                  <a:srgbClr val="006FC0"/>
                </a:solidFill>
                <a:latin typeface="Arial"/>
                <a:cs typeface="Arial"/>
              </a:rPr>
              <a:t>Audio</a:t>
            </a:r>
            <a:r>
              <a:rPr sz="2400" spc="-114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60" dirty="0">
                <a:solidFill>
                  <a:srgbClr val="006FC0"/>
                </a:solidFill>
                <a:latin typeface="Arial"/>
                <a:cs typeface="Arial"/>
              </a:rPr>
              <a:t>files:</a:t>
            </a:r>
            <a:r>
              <a:rPr sz="2400" spc="-1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.mp3,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75" dirty="0">
                <a:latin typeface="Arial"/>
                <a:cs typeface="Arial"/>
              </a:rPr>
              <a:t>.wav,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.mka,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65" dirty="0">
                <a:latin typeface="Arial"/>
                <a:cs typeface="Arial"/>
              </a:rPr>
              <a:t>.aac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etc.</a:t>
            </a:r>
            <a:endParaRPr sz="2400">
              <a:latin typeface="Arial"/>
              <a:cs typeface="Arial"/>
            </a:endParaRPr>
          </a:p>
          <a:p>
            <a:pPr marL="233045" indent="-220345">
              <a:lnSpc>
                <a:spcPct val="100000"/>
              </a:lnSpc>
              <a:buClr>
                <a:srgbClr val="000000"/>
              </a:buClr>
              <a:buChar char="•"/>
              <a:tabLst>
                <a:tab pos="233045" algn="l"/>
              </a:tabLst>
            </a:pPr>
            <a:r>
              <a:rPr sz="2400" spc="-155" dirty="0">
                <a:solidFill>
                  <a:srgbClr val="006FC0"/>
                </a:solidFill>
                <a:latin typeface="Arial"/>
                <a:cs typeface="Arial"/>
              </a:rPr>
              <a:t>Database</a:t>
            </a:r>
            <a:r>
              <a:rPr sz="2400" spc="-1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60" dirty="0">
                <a:solidFill>
                  <a:srgbClr val="006FC0"/>
                </a:solidFill>
                <a:latin typeface="Arial"/>
                <a:cs typeface="Arial"/>
              </a:rPr>
              <a:t>files:</a:t>
            </a:r>
            <a:r>
              <a:rPr sz="2400" spc="-1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.mdb,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.accde,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40" dirty="0">
                <a:latin typeface="Arial"/>
                <a:cs typeface="Arial"/>
              </a:rPr>
              <a:t>.frm,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.sqlite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etc.</a:t>
            </a:r>
            <a:endParaRPr sz="2400">
              <a:latin typeface="Arial"/>
              <a:cs typeface="Arial"/>
            </a:endParaRPr>
          </a:p>
          <a:p>
            <a:pPr marL="233045" indent="-220345">
              <a:lnSpc>
                <a:spcPct val="100000"/>
              </a:lnSpc>
              <a:buClr>
                <a:srgbClr val="000000"/>
              </a:buClr>
              <a:buChar char="•"/>
              <a:tabLst>
                <a:tab pos="233045" algn="l"/>
              </a:tabLst>
            </a:pPr>
            <a:r>
              <a:rPr sz="2400" spc="-114" dirty="0">
                <a:solidFill>
                  <a:srgbClr val="006FC0"/>
                </a:solidFill>
                <a:latin typeface="Arial"/>
                <a:cs typeface="Arial"/>
              </a:rPr>
              <a:t>Archive</a:t>
            </a:r>
            <a:r>
              <a:rPr sz="2400" spc="-1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60" dirty="0">
                <a:solidFill>
                  <a:srgbClr val="006FC0"/>
                </a:solidFill>
                <a:latin typeface="Arial"/>
                <a:cs typeface="Arial"/>
              </a:rPr>
              <a:t>files:</a:t>
            </a:r>
            <a:r>
              <a:rPr sz="2400" spc="-1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.zip,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.rar,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.iso,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55" dirty="0">
                <a:latin typeface="Arial"/>
                <a:cs typeface="Arial"/>
              </a:rPr>
              <a:t>.7z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etc.</a:t>
            </a:r>
            <a:endParaRPr sz="2400">
              <a:latin typeface="Arial"/>
              <a:cs typeface="Arial"/>
            </a:endParaRPr>
          </a:p>
          <a:p>
            <a:pPr marL="233045" indent="-22034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Char char="•"/>
              <a:tabLst>
                <a:tab pos="233045" algn="l"/>
              </a:tabLst>
            </a:pPr>
            <a:r>
              <a:rPr sz="2400" spc="-145" dirty="0">
                <a:solidFill>
                  <a:srgbClr val="006FC0"/>
                </a:solidFill>
                <a:latin typeface="Arial"/>
                <a:cs typeface="Arial"/>
              </a:rPr>
              <a:t>Executable</a:t>
            </a:r>
            <a:r>
              <a:rPr sz="2400" spc="-1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Arial"/>
                <a:cs typeface="Arial"/>
              </a:rPr>
              <a:t>files:</a:t>
            </a:r>
            <a:r>
              <a:rPr sz="2400" spc="-7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145" dirty="0">
                <a:latin typeface="Arial"/>
                <a:cs typeface="Arial"/>
              </a:rPr>
              <a:t>.exe,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.dll,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65" dirty="0">
                <a:latin typeface="Arial"/>
                <a:cs typeface="Arial"/>
              </a:rPr>
              <a:t>.class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etc.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2135"/>
              </a:spcBef>
            </a:pPr>
            <a:r>
              <a:rPr sz="2000" spc="-130" dirty="0">
                <a:latin typeface="Arial"/>
                <a:cs typeface="Arial"/>
              </a:rPr>
              <a:t>For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35" dirty="0">
                <a:latin typeface="Arial"/>
                <a:cs typeface="Arial"/>
              </a:rPr>
              <a:t>Example,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225" dirty="0">
                <a:latin typeface="Arial"/>
                <a:cs typeface="Arial"/>
              </a:rPr>
              <a:t>You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need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35" dirty="0">
                <a:solidFill>
                  <a:srgbClr val="00AF50"/>
                </a:solidFill>
                <a:latin typeface="Arial"/>
                <a:cs typeface="Arial"/>
              </a:rPr>
              <a:t>Microsoft</a:t>
            </a:r>
            <a:r>
              <a:rPr sz="2000" spc="-8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00AF50"/>
                </a:solidFill>
                <a:latin typeface="Arial"/>
                <a:cs typeface="Arial"/>
              </a:rPr>
              <a:t>word</a:t>
            </a:r>
            <a:r>
              <a:rPr sz="2000" spc="-9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software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85" dirty="0">
                <a:latin typeface="Arial"/>
                <a:cs typeface="Arial"/>
              </a:rPr>
              <a:t> open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0" dirty="0">
                <a:solidFill>
                  <a:srgbClr val="00AF50"/>
                </a:solidFill>
                <a:latin typeface="Arial"/>
                <a:cs typeface="Arial"/>
              </a:rPr>
              <a:t>.doc</a:t>
            </a:r>
            <a:r>
              <a:rPr sz="2000" spc="-9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binary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files. </a:t>
            </a:r>
            <a:r>
              <a:rPr sz="2000" spc="-110" dirty="0">
                <a:latin typeface="Arial"/>
                <a:cs typeface="Arial"/>
              </a:rPr>
              <a:t>Likewise,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you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need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35" dirty="0">
                <a:solidFill>
                  <a:srgbClr val="00AF50"/>
                </a:solidFill>
                <a:latin typeface="Arial"/>
                <a:cs typeface="Arial"/>
              </a:rPr>
              <a:t>pdf</a:t>
            </a:r>
            <a:r>
              <a:rPr sz="2000" spc="-9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spc="-80" dirty="0">
                <a:solidFill>
                  <a:srgbClr val="00AF50"/>
                </a:solidFill>
                <a:latin typeface="Arial"/>
                <a:cs typeface="Arial"/>
              </a:rPr>
              <a:t>reader</a:t>
            </a:r>
            <a:r>
              <a:rPr sz="2000" spc="-7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software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90" dirty="0">
                <a:latin typeface="Arial"/>
                <a:cs typeface="Arial"/>
              </a:rPr>
              <a:t> open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40" dirty="0">
                <a:solidFill>
                  <a:srgbClr val="00AF50"/>
                </a:solidFill>
                <a:latin typeface="Arial"/>
                <a:cs typeface="Arial"/>
              </a:rPr>
              <a:t>.pdf</a:t>
            </a:r>
            <a:r>
              <a:rPr sz="2000" spc="-10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binary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files </a:t>
            </a:r>
            <a:r>
              <a:rPr sz="2000" spc="-25" dirty="0">
                <a:latin typeface="Arial"/>
                <a:cs typeface="Arial"/>
              </a:rPr>
              <a:t>and </a:t>
            </a:r>
            <a:r>
              <a:rPr sz="2000" spc="-90" dirty="0">
                <a:latin typeface="Arial"/>
                <a:cs typeface="Arial"/>
              </a:rPr>
              <a:t>you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need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35" dirty="0">
                <a:solidFill>
                  <a:srgbClr val="00AF50"/>
                </a:solidFill>
                <a:latin typeface="Arial"/>
                <a:cs typeface="Arial"/>
              </a:rPr>
              <a:t>photo</a:t>
            </a:r>
            <a:r>
              <a:rPr sz="2000" spc="-9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00AF50"/>
                </a:solidFill>
                <a:latin typeface="Arial"/>
                <a:cs typeface="Arial"/>
              </a:rPr>
              <a:t>editor</a:t>
            </a:r>
            <a:r>
              <a:rPr sz="2000" spc="-8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software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read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the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10" dirty="0">
                <a:solidFill>
                  <a:srgbClr val="00AF50"/>
                </a:solidFill>
                <a:latin typeface="Arial"/>
                <a:cs typeface="Arial"/>
              </a:rPr>
              <a:t>image</a:t>
            </a:r>
            <a:r>
              <a:rPr sz="2000" spc="-8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files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and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45" dirty="0">
                <a:latin typeface="Arial"/>
                <a:cs typeface="Arial"/>
              </a:rPr>
              <a:t>so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on.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47159" y="894588"/>
            <a:ext cx="3605784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8336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400" b="1" spc="-100" dirty="0">
                <a:solidFill>
                  <a:srgbClr val="FF0000"/>
                </a:solidFill>
                <a:latin typeface="Arial"/>
                <a:cs typeface="Arial"/>
              </a:rPr>
              <a:t>4.3</a:t>
            </a:r>
            <a:r>
              <a:rPr sz="2400" b="1" spc="-1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254" dirty="0">
                <a:solidFill>
                  <a:srgbClr val="FF0000"/>
                </a:solidFill>
                <a:latin typeface="Arial"/>
                <a:cs typeface="Arial"/>
              </a:rPr>
              <a:t>OPENING</a:t>
            </a:r>
            <a:r>
              <a:rPr sz="2400" b="1" spc="-1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235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2400" b="1" spc="-1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320" dirty="0">
                <a:solidFill>
                  <a:srgbClr val="FF0000"/>
                </a:solidFill>
                <a:latin typeface="Arial"/>
                <a:cs typeface="Arial"/>
              </a:rPr>
              <a:t>CLOSING</a:t>
            </a:r>
            <a:r>
              <a:rPr sz="2400" b="1" spc="-1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29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400" b="1" spc="-1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330" dirty="0">
                <a:solidFill>
                  <a:srgbClr val="FF0000"/>
                </a:solidFill>
                <a:latin typeface="Arial"/>
                <a:cs typeface="Arial"/>
              </a:rPr>
              <a:t>TEXT</a:t>
            </a:r>
            <a:r>
              <a:rPr sz="2400" b="1" spc="-1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345" dirty="0">
                <a:solidFill>
                  <a:srgbClr val="FF0000"/>
                </a:solidFill>
                <a:latin typeface="Arial"/>
                <a:cs typeface="Arial"/>
              </a:rPr>
              <a:t>FILE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1354" y="4237503"/>
            <a:ext cx="2113850" cy="193431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83030" y="998346"/>
            <a:ext cx="9107170" cy="50539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306830">
              <a:lnSpc>
                <a:spcPct val="100000"/>
              </a:lnSpc>
              <a:spcBef>
                <a:spcPts val="105"/>
              </a:spcBef>
            </a:pPr>
            <a:r>
              <a:rPr sz="2000" spc="-90" dirty="0">
                <a:latin typeface="Arial"/>
                <a:cs typeface="Arial"/>
              </a:rPr>
              <a:t>Operations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on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files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include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creating </a:t>
            </a:r>
            <a:r>
              <a:rPr sz="2000" spc="-110" dirty="0">
                <a:latin typeface="Arial"/>
                <a:cs typeface="Arial"/>
              </a:rPr>
              <a:t>and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opening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file,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writing</a:t>
            </a:r>
            <a:r>
              <a:rPr sz="2000" spc="-85" dirty="0">
                <a:latin typeface="Arial"/>
                <a:cs typeface="Arial"/>
              </a:rPr>
              <a:t> data </a:t>
            </a:r>
            <a:r>
              <a:rPr sz="2000" spc="-20" dirty="0">
                <a:latin typeface="Arial"/>
                <a:cs typeface="Arial"/>
              </a:rPr>
              <a:t>in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file, </a:t>
            </a:r>
            <a:r>
              <a:rPr sz="2000" spc="-85" dirty="0">
                <a:latin typeface="Arial"/>
                <a:cs typeface="Arial"/>
              </a:rPr>
              <a:t>traversing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file,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reading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data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from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file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and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40" dirty="0">
                <a:latin typeface="Arial"/>
                <a:cs typeface="Arial"/>
              </a:rPr>
              <a:t>so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on.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85" dirty="0">
                <a:latin typeface="Arial"/>
                <a:cs typeface="Arial"/>
              </a:rPr>
              <a:t>Python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160" dirty="0">
                <a:latin typeface="Arial"/>
                <a:cs typeface="Arial"/>
              </a:rPr>
              <a:t>has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b="1" spc="-114" dirty="0">
                <a:solidFill>
                  <a:srgbClr val="006FC0"/>
                </a:solidFill>
                <a:latin typeface="Arial"/>
                <a:cs typeface="Arial"/>
              </a:rPr>
              <a:t>io</a:t>
            </a:r>
            <a:r>
              <a:rPr sz="2000" b="1" spc="-9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spc="-135" dirty="0">
                <a:solidFill>
                  <a:srgbClr val="006FC0"/>
                </a:solidFill>
                <a:latin typeface="Arial"/>
                <a:cs typeface="Arial"/>
              </a:rPr>
              <a:t>module</a:t>
            </a:r>
            <a:r>
              <a:rPr sz="2000" b="1" spc="-1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90" dirty="0">
                <a:latin typeface="Arial"/>
                <a:cs typeface="Arial"/>
              </a:rPr>
              <a:t> contains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different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functions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for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handling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files.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350">
              <a:latin typeface="Arial"/>
              <a:cs typeface="Arial"/>
            </a:endParaRPr>
          </a:p>
          <a:p>
            <a:pPr marL="701675" lvl="2" indent="-690245">
              <a:lnSpc>
                <a:spcPct val="100000"/>
              </a:lnSpc>
              <a:buAutoNum type="arabicPeriod"/>
              <a:tabLst>
                <a:tab pos="701675" algn="l"/>
              </a:tabLst>
            </a:pPr>
            <a:r>
              <a:rPr sz="2400" b="1" spc="-200" dirty="0">
                <a:solidFill>
                  <a:srgbClr val="FF0000"/>
                </a:solidFill>
                <a:latin typeface="Arial"/>
                <a:cs typeface="Arial"/>
              </a:rPr>
              <a:t>Opening</a:t>
            </a:r>
            <a:r>
              <a:rPr sz="2400" b="1" spc="-1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17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400" b="1" spc="-11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Arial"/>
                <a:cs typeface="Arial"/>
              </a:rPr>
              <a:t>file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2000" spc="-254" dirty="0">
                <a:latin typeface="Arial"/>
                <a:cs typeface="Arial"/>
              </a:rPr>
              <a:t>To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open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file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in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Python,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we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45" dirty="0">
                <a:latin typeface="Arial"/>
                <a:cs typeface="Arial"/>
              </a:rPr>
              <a:t>use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the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open()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function.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15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syntax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open()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is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200" dirty="0">
                <a:latin typeface="Arial"/>
                <a:cs typeface="Arial"/>
              </a:rPr>
              <a:t>as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follows:</a:t>
            </a:r>
            <a:endParaRPr sz="2000">
              <a:latin typeface="Arial"/>
              <a:cs typeface="Arial"/>
            </a:endParaRPr>
          </a:p>
          <a:p>
            <a:pPr marL="354330" algn="ctr">
              <a:lnSpc>
                <a:spcPct val="100000"/>
              </a:lnSpc>
              <a:spcBef>
                <a:spcPts val="440"/>
              </a:spcBef>
            </a:pPr>
            <a:r>
              <a:rPr sz="2000" b="1" dirty="0">
                <a:latin typeface="Courier New"/>
                <a:cs typeface="Courier New"/>
              </a:rPr>
              <a:t>File_object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open(file_name,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access_mode)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850">
              <a:latin typeface="Courier New"/>
              <a:cs typeface="Courier New"/>
            </a:endParaRPr>
          </a:p>
          <a:p>
            <a:pPr marL="1738630" marR="459740">
              <a:lnSpc>
                <a:spcPct val="104800"/>
              </a:lnSpc>
              <a:spcBef>
                <a:spcPts val="5"/>
              </a:spcBef>
            </a:pPr>
            <a:r>
              <a:rPr sz="1800" spc="-140" dirty="0">
                <a:latin typeface="Arial"/>
                <a:cs typeface="Arial"/>
              </a:rPr>
              <a:t>The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file_object</a:t>
            </a:r>
            <a:r>
              <a:rPr sz="2000" b="1" spc="-760" dirty="0">
                <a:latin typeface="Courier New"/>
                <a:cs typeface="Courier New"/>
              </a:rPr>
              <a:t> </a:t>
            </a:r>
            <a:r>
              <a:rPr sz="1800" spc="-145" dirty="0">
                <a:latin typeface="Arial"/>
                <a:cs typeface="Arial"/>
              </a:rPr>
              <a:t>has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certain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35" dirty="0">
                <a:latin typeface="Arial"/>
                <a:cs typeface="Arial"/>
              </a:rPr>
              <a:t>attributes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tells </a:t>
            </a:r>
            <a:r>
              <a:rPr sz="1800" spc="-145" dirty="0">
                <a:latin typeface="Arial"/>
                <a:cs typeface="Arial"/>
              </a:rPr>
              <a:t>us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114" dirty="0">
                <a:latin typeface="Arial"/>
                <a:cs typeface="Arial"/>
              </a:rPr>
              <a:t>basic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information </a:t>
            </a:r>
            <a:r>
              <a:rPr sz="1800" spc="-55" dirty="0">
                <a:latin typeface="Arial"/>
                <a:cs typeface="Arial"/>
              </a:rPr>
              <a:t>about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file,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130" dirty="0">
                <a:latin typeface="Arial"/>
                <a:cs typeface="Arial"/>
              </a:rPr>
              <a:t>such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as:</a:t>
            </a:r>
            <a:endParaRPr sz="1800">
              <a:latin typeface="Arial"/>
              <a:cs typeface="Arial"/>
            </a:endParaRPr>
          </a:p>
          <a:p>
            <a:pPr marL="2195195" lvl="3" indent="-456565">
              <a:lnSpc>
                <a:spcPct val="100000"/>
              </a:lnSpc>
              <a:spcBef>
                <a:spcPts val="414"/>
              </a:spcBef>
              <a:buAutoNum type="arabicPeriod"/>
              <a:tabLst>
                <a:tab pos="2195195" algn="l"/>
              </a:tabLst>
            </a:pPr>
            <a:r>
              <a:rPr sz="2000" dirty="0">
                <a:latin typeface="Courier New"/>
                <a:cs typeface="Courier New"/>
              </a:rPr>
              <a:t>&lt;file.closed&gt;</a:t>
            </a:r>
            <a:r>
              <a:rPr sz="2000" spc="15" dirty="0">
                <a:latin typeface="Courier New"/>
                <a:cs typeface="Courier New"/>
              </a:rPr>
              <a:t> </a:t>
            </a:r>
            <a:r>
              <a:rPr sz="1800" spc="-55" dirty="0">
                <a:latin typeface="Arial"/>
                <a:cs typeface="Arial"/>
              </a:rPr>
              <a:t>returns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true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if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file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05" dirty="0">
                <a:latin typeface="Arial"/>
                <a:cs typeface="Arial"/>
              </a:rPr>
              <a:t>is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105" dirty="0">
                <a:latin typeface="Arial"/>
                <a:cs typeface="Arial"/>
              </a:rPr>
              <a:t>closed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00" dirty="0">
                <a:latin typeface="Arial"/>
                <a:cs typeface="Arial"/>
              </a:rPr>
              <a:t>and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false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otherwise.</a:t>
            </a:r>
            <a:endParaRPr sz="1800">
              <a:latin typeface="Arial"/>
              <a:cs typeface="Arial"/>
            </a:endParaRPr>
          </a:p>
          <a:p>
            <a:pPr marL="2195195" lvl="3" indent="-456565">
              <a:lnSpc>
                <a:spcPct val="100000"/>
              </a:lnSpc>
              <a:spcBef>
                <a:spcPts val="250"/>
              </a:spcBef>
              <a:buAutoNum type="arabicPeriod"/>
              <a:tabLst>
                <a:tab pos="2195195" algn="l"/>
              </a:tabLst>
            </a:pPr>
            <a:r>
              <a:rPr sz="2000" dirty="0">
                <a:latin typeface="Courier New"/>
                <a:cs typeface="Courier New"/>
              </a:rPr>
              <a:t>&lt;file.mode&gt;</a:t>
            </a:r>
            <a:r>
              <a:rPr sz="2000" spc="15" dirty="0">
                <a:latin typeface="Courier New"/>
                <a:cs typeface="Courier New"/>
              </a:rPr>
              <a:t> </a:t>
            </a:r>
            <a:r>
              <a:rPr sz="1800" spc="-55" dirty="0">
                <a:latin typeface="Arial"/>
                <a:cs typeface="Arial"/>
              </a:rPr>
              <a:t>returns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the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165" dirty="0">
                <a:latin typeface="Arial"/>
                <a:cs typeface="Arial"/>
              </a:rPr>
              <a:t>access</a:t>
            </a:r>
            <a:r>
              <a:rPr sz="1800" spc="-85" dirty="0">
                <a:latin typeface="Arial"/>
                <a:cs typeface="Arial"/>
              </a:rPr>
              <a:t> mode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30" dirty="0">
                <a:latin typeface="Arial"/>
                <a:cs typeface="Arial"/>
              </a:rPr>
              <a:t>in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65" dirty="0">
                <a:latin typeface="Arial"/>
                <a:cs typeface="Arial"/>
              </a:rPr>
              <a:t>which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the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file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140" dirty="0">
                <a:latin typeface="Arial"/>
                <a:cs typeface="Arial"/>
              </a:rPr>
              <a:t>was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opened.</a:t>
            </a:r>
            <a:endParaRPr sz="1800">
              <a:latin typeface="Arial"/>
              <a:cs typeface="Arial"/>
            </a:endParaRPr>
          </a:p>
          <a:p>
            <a:pPr marL="2195195" lvl="3" indent="-456565">
              <a:lnSpc>
                <a:spcPct val="100000"/>
              </a:lnSpc>
              <a:spcBef>
                <a:spcPts val="40"/>
              </a:spcBef>
              <a:buAutoNum type="arabicPeriod"/>
              <a:tabLst>
                <a:tab pos="2195195" algn="l"/>
              </a:tabLst>
            </a:pPr>
            <a:r>
              <a:rPr sz="2000" dirty="0">
                <a:latin typeface="Courier New"/>
                <a:cs typeface="Courier New"/>
              </a:rPr>
              <a:t>&lt;file.name&gt;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1800" spc="-55" dirty="0">
                <a:latin typeface="Arial"/>
                <a:cs typeface="Arial"/>
              </a:rPr>
              <a:t>returns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the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105" dirty="0">
                <a:latin typeface="Arial"/>
                <a:cs typeface="Arial"/>
              </a:rPr>
              <a:t>name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file.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02563" y="766572"/>
            <a:ext cx="7228840" cy="1247140"/>
            <a:chOff x="702563" y="766572"/>
            <a:chExt cx="7228840" cy="12471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1707" y="785238"/>
              <a:ext cx="7210044" cy="89507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07135" y="771144"/>
              <a:ext cx="7219315" cy="1237615"/>
            </a:xfrm>
            <a:custGeom>
              <a:avLst/>
              <a:gdLst/>
              <a:ahLst/>
              <a:cxnLst/>
              <a:rect l="l" t="t" r="r" b="b"/>
              <a:pathLst>
                <a:path w="7219315" h="1237614">
                  <a:moveTo>
                    <a:pt x="0" y="1237488"/>
                  </a:moveTo>
                  <a:lnTo>
                    <a:pt x="7219188" y="1237488"/>
                  </a:lnTo>
                  <a:lnTo>
                    <a:pt x="7219188" y="0"/>
                  </a:lnTo>
                  <a:lnTo>
                    <a:pt x="0" y="0"/>
                  </a:lnTo>
                  <a:lnTo>
                    <a:pt x="0" y="123748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02563" y="2487167"/>
            <a:ext cx="5847715" cy="1209040"/>
            <a:chOff x="702563" y="2487167"/>
            <a:chExt cx="5847715" cy="120904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1707" y="2496311"/>
              <a:ext cx="5829299" cy="118072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07135" y="2491739"/>
              <a:ext cx="5838825" cy="1199515"/>
            </a:xfrm>
            <a:custGeom>
              <a:avLst/>
              <a:gdLst/>
              <a:ahLst/>
              <a:cxnLst/>
              <a:rect l="l" t="t" r="r" b="b"/>
              <a:pathLst>
                <a:path w="5838825" h="1199514">
                  <a:moveTo>
                    <a:pt x="0" y="1199388"/>
                  </a:moveTo>
                  <a:lnTo>
                    <a:pt x="5838444" y="1199388"/>
                  </a:lnTo>
                  <a:lnTo>
                    <a:pt x="5838444" y="0"/>
                  </a:lnTo>
                  <a:lnTo>
                    <a:pt x="0" y="0"/>
                  </a:lnTo>
                  <a:lnTo>
                    <a:pt x="0" y="119938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702563" y="4168140"/>
            <a:ext cx="6771640" cy="1676400"/>
            <a:chOff x="702563" y="4168140"/>
            <a:chExt cx="6771640" cy="167640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1707" y="4177284"/>
              <a:ext cx="6752844" cy="165811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07135" y="4172712"/>
              <a:ext cx="6762115" cy="1667510"/>
            </a:xfrm>
            <a:custGeom>
              <a:avLst/>
              <a:gdLst/>
              <a:ahLst/>
              <a:cxnLst/>
              <a:rect l="l" t="t" r="r" b="b"/>
              <a:pathLst>
                <a:path w="6762115" h="1667510">
                  <a:moveTo>
                    <a:pt x="0" y="1667256"/>
                  </a:moveTo>
                  <a:lnTo>
                    <a:pt x="6761988" y="1667256"/>
                  </a:lnTo>
                  <a:lnTo>
                    <a:pt x="6761988" y="0"/>
                  </a:lnTo>
                  <a:lnTo>
                    <a:pt x="0" y="0"/>
                  </a:lnTo>
                  <a:lnTo>
                    <a:pt x="0" y="166725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2524" y="897712"/>
            <a:ext cx="9050020" cy="5627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4145" algn="ctr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ourier New"/>
                <a:cs typeface="Courier New"/>
              </a:rPr>
              <a:t>File_object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open(file_name,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access_mode)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spc="-155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Courier New"/>
                <a:cs typeface="Courier New"/>
              </a:rPr>
              <a:t>file_name</a:t>
            </a:r>
            <a:r>
              <a:rPr sz="2000" b="1" spc="-75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80" dirty="0">
                <a:latin typeface="Arial"/>
                <a:cs typeface="Arial"/>
              </a:rPr>
              <a:t>should</a:t>
            </a:r>
            <a:r>
              <a:rPr sz="2000" spc="-95" dirty="0">
                <a:latin typeface="Arial"/>
                <a:cs typeface="Arial"/>
              </a:rPr>
              <a:t> be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name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60" dirty="0">
                <a:latin typeface="Arial"/>
                <a:cs typeface="Arial"/>
              </a:rPr>
              <a:t>has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be </a:t>
            </a:r>
            <a:r>
              <a:rPr sz="2000" spc="-10" dirty="0">
                <a:latin typeface="Arial"/>
                <a:cs typeface="Arial"/>
              </a:rPr>
              <a:t>opened.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150">
              <a:latin typeface="Arial"/>
              <a:cs typeface="Arial"/>
            </a:endParaRPr>
          </a:p>
          <a:p>
            <a:pPr marL="12700" marR="13208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"/>
                <a:cs typeface="Arial"/>
              </a:rPr>
              <a:t>If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is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not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in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current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working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directory,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then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we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need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specify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complete </a:t>
            </a:r>
            <a:r>
              <a:rPr sz="2000" spc="-50" dirty="0">
                <a:latin typeface="Arial"/>
                <a:cs typeface="Arial"/>
              </a:rPr>
              <a:t>path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along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with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its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name.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155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Courier New"/>
                <a:cs typeface="Courier New"/>
              </a:rPr>
              <a:t>access_mode</a:t>
            </a:r>
            <a:r>
              <a:rPr sz="2000" b="1" spc="-75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10" dirty="0">
                <a:latin typeface="Arial"/>
                <a:cs typeface="Arial"/>
              </a:rPr>
              <a:t>is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an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optional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argument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90" dirty="0">
                <a:latin typeface="Arial"/>
                <a:cs typeface="Arial"/>
              </a:rPr>
              <a:t> represents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mode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in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which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file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2000" spc="-160" dirty="0">
                <a:latin typeface="Arial"/>
                <a:cs typeface="Arial"/>
              </a:rPr>
              <a:t>has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be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55" dirty="0">
                <a:latin typeface="Arial"/>
                <a:cs typeface="Arial"/>
              </a:rPr>
              <a:t>accessed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by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85" dirty="0">
                <a:latin typeface="Arial"/>
                <a:cs typeface="Arial"/>
              </a:rPr>
              <a:t> program.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It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is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also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referred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200" dirty="0">
                <a:latin typeface="Arial"/>
                <a:cs typeface="Arial"/>
              </a:rPr>
              <a:t>as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processing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mode.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360"/>
              </a:lnSpc>
              <a:spcBef>
                <a:spcPts val="1285"/>
              </a:spcBef>
            </a:pPr>
            <a:r>
              <a:rPr sz="2000" spc="-120" dirty="0">
                <a:latin typeface="Arial"/>
                <a:cs typeface="Arial"/>
              </a:rPr>
              <a:t>Here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mode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35" dirty="0">
                <a:latin typeface="Arial"/>
                <a:cs typeface="Arial"/>
              </a:rPr>
              <a:t>means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operation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which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60" dirty="0">
                <a:latin typeface="Arial"/>
                <a:cs typeface="Arial"/>
              </a:rPr>
              <a:t>has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95" dirty="0">
                <a:latin typeface="Arial"/>
                <a:cs typeface="Arial"/>
              </a:rPr>
              <a:t> be</a:t>
            </a:r>
            <a:r>
              <a:rPr sz="2000" spc="-90" dirty="0">
                <a:latin typeface="Arial"/>
                <a:cs typeface="Arial"/>
              </a:rPr>
              <a:t> opened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like</a:t>
            </a:r>
            <a:endParaRPr sz="2000">
              <a:latin typeface="Arial"/>
              <a:cs typeface="Arial"/>
            </a:endParaRPr>
          </a:p>
          <a:p>
            <a:pPr marL="926465">
              <a:lnSpc>
                <a:spcPts val="2360"/>
              </a:lnSpc>
            </a:pPr>
            <a:r>
              <a:rPr sz="2000" b="1" spc="-10" dirty="0">
                <a:solidFill>
                  <a:srgbClr val="006FC0"/>
                </a:solidFill>
                <a:latin typeface="Courier New"/>
                <a:cs typeface="Courier New"/>
              </a:rPr>
              <a:t>&lt;r&gt;</a:t>
            </a:r>
            <a:r>
              <a:rPr sz="2000" b="1" spc="-75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Arial"/>
                <a:cs typeface="Arial"/>
              </a:rPr>
              <a:t>for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reading,</a:t>
            </a:r>
            <a:endParaRPr sz="2000">
              <a:latin typeface="Arial"/>
              <a:cs typeface="Arial"/>
            </a:endParaRPr>
          </a:p>
          <a:p>
            <a:pPr marL="926465">
              <a:lnSpc>
                <a:spcPct val="100000"/>
              </a:lnSpc>
            </a:pPr>
            <a:r>
              <a:rPr sz="2000" b="1" spc="-10" dirty="0">
                <a:solidFill>
                  <a:srgbClr val="006FC0"/>
                </a:solidFill>
                <a:latin typeface="Courier New"/>
                <a:cs typeface="Courier New"/>
              </a:rPr>
              <a:t>&lt;w&gt;</a:t>
            </a:r>
            <a:r>
              <a:rPr sz="2000" b="1" spc="-30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writing,</a:t>
            </a:r>
            <a:endParaRPr sz="2000">
              <a:latin typeface="Arial"/>
              <a:cs typeface="Arial"/>
            </a:endParaRPr>
          </a:p>
          <a:p>
            <a:pPr marL="926465">
              <a:lnSpc>
                <a:spcPct val="100000"/>
              </a:lnSpc>
            </a:pPr>
            <a:r>
              <a:rPr sz="2000" b="1" spc="-10" dirty="0">
                <a:solidFill>
                  <a:srgbClr val="006FC0"/>
                </a:solidFill>
                <a:latin typeface="Courier New"/>
                <a:cs typeface="Courier New"/>
              </a:rPr>
              <a:t>&lt;+&gt;</a:t>
            </a:r>
            <a:r>
              <a:rPr sz="2000" b="1" spc="-74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both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reading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and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writing,</a:t>
            </a:r>
            <a:endParaRPr sz="2000">
              <a:latin typeface="Arial"/>
              <a:cs typeface="Arial"/>
            </a:endParaRPr>
          </a:p>
          <a:p>
            <a:pPr marL="926465">
              <a:lnSpc>
                <a:spcPct val="100000"/>
              </a:lnSpc>
            </a:pPr>
            <a:r>
              <a:rPr sz="2000" b="1" spc="-10" dirty="0">
                <a:solidFill>
                  <a:srgbClr val="006FC0"/>
                </a:solidFill>
                <a:latin typeface="Courier New"/>
                <a:cs typeface="Courier New"/>
              </a:rPr>
              <a:t>&lt;a&gt;</a:t>
            </a:r>
            <a:r>
              <a:rPr sz="2000" b="1" spc="-74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appending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at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end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an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existing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155" dirty="0">
                <a:latin typeface="Arial"/>
                <a:cs typeface="Arial"/>
              </a:rPr>
              <a:t>The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default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is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read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mode.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67528" y="2734055"/>
            <a:ext cx="6669405" cy="759460"/>
            <a:chOff x="5367528" y="2734055"/>
            <a:chExt cx="6669405" cy="7594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76672" y="2750996"/>
              <a:ext cx="6650735" cy="73286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372100" y="2738627"/>
              <a:ext cx="6659880" cy="749935"/>
            </a:xfrm>
            <a:custGeom>
              <a:avLst/>
              <a:gdLst/>
              <a:ahLst/>
              <a:cxnLst/>
              <a:rect l="l" t="t" r="r" b="b"/>
              <a:pathLst>
                <a:path w="6659880" h="749935">
                  <a:moveTo>
                    <a:pt x="0" y="749808"/>
                  </a:moveTo>
                  <a:lnTo>
                    <a:pt x="6659880" y="749808"/>
                  </a:lnTo>
                  <a:lnTo>
                    <a:pt x="6659880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1915" y="1443227"/>
            <a:ext cx="3668170" cy="38572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55" y="192022"/>
            <a:ext cx="11820724" cy="647186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4224" y="445744"/>
            <a:ext cx="7908290" cy="3430904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000" spc="-114" dirty="0">
                <a:latin typeface="Arial"/>
                <a:cs typeface="Arial"/>
              </a:rPr>
              <a:t>Consider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following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example.</a:t>
            </a:r>
            <a:endParaRPr sz="2000">
              <a:latin typeface="Arial"/>
              <a:cs typeface="Arial"/>
            </a:endParaRPr>
          </a:p>
          <a:p>
            <a:pPr marL="1895475">
              <a:lnSpc>
                <a:spcPct val="100000"/>
              </a:lnSpc>
              <a:spcBef>
                <a:spcPts val="645"/>
              </a:spcBef>
            </a:pPr>
            <a:r>
              <a:rPr sz="2000" b="1" dirty="0">
                <a:latin typeface="Courier New"/>
                <a:cs typeface="Courier New"/>
              </a:rPr>
              <a:t>myObject=open(“myfile.txt”,</a:t>
            </a:r>
            <a:r>
              <a:rPr sz="2000" b="1" spc="-14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“a+”)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200">
              <a:latin typeface="Courier New"/>
              <a:cs typeface="Courier New"/>
            </a:endParaRPr>
          </a:p>
          <a:p>
            <a:pPr marL="12700" marR="467359">
              <a:lnSpc>
                <a:spcPct val="103499"/>
              </a:lnSpc>
              <a:spcBef>
                <a:spcPts val="1350"/>
              </a:spcBef>
            </a:pPr>
            <a:r>
              <a:rPr sz="2000" spc="-70" dirty="0">
                <a:latin typeface="Arial"/>
                <a:cs typeface="Arial"/>
              </a:rPr>
              <a:t>In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above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statement,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file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myfile.txt</a:t>
            </a:r>
            <a:r>
              <a:rPr sz="2000" b="1" spc="-750" dirty="0">
                <a:latin typeface="Courier New"/>
                <a:cs typeface="Courier New"/>
              </a:rPr>
              <a:t> </a:t>
            </a:r>
            <a:r>
              <a:rPr sz="2000" spc="-110" dirty="0">
                <a:latin typeface="Arial"/>
                <a:cs typeface="Arial"/>
              </a:rPr>
              <a:t>is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opened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in</a:t>
            </a:r>
            <a:r>
              <a:rPr sz="2000" spc="-95" dirty="0">
                <a:latin typeface="Arial"/>
                <a:cs typeface="Arial"/>
              </a:rPr>
              <a:t> append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and </a:t>
            </a:r>
            <a:r>
              <a:rPr sz="2000" spc="-95" dirty="0">
                <a:latin typeface="Arial"/>
                <a:cs typeface="Arial"/>
              </a:rPr>
              <a:t>read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modes.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155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object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will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be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at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end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Arial"/>
              <a:cs typeface="Arial"/>
            </a:endParaRPr>
          </a:p>
          <a:p>
            <a:pPr marL="12700" marR="5080">
              <a:lnSpc>
                <a:spcPts val="2320"/>
              </a:lnSpc>
              <a:spcBef>
                <a:spcPts val="5"/>
              </a:spcBef>
            </a:pPr>
            <a:r>
              <a:rPr sz="2000" spc="-100" dirty="0">
                <a:latin typeface="Arial"/>
                <a:cs typeface="Arial"/>
              </a:rPr>
              <a:t>That </a:t>
            </a:r>
            <a:r>
              <a:rPr sz="2000" spc="-145" dirty="0">
                <a:latin typeface="Arial"/>
                <a:cs typeface="Arial"/>
              </a:rPr>
              <a:t>means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we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135" dirty="0">
                <a:latin typeface="Arial"/>
                <a:cs typeface="Arial"/>
              </a:rPr>
              <a:t>can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write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data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at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end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and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at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55" dirty="0">
                <a:latin typeface="Arial"/>
                <a:cs typeface="Arial"/>
              </a:rPr>
              <a:t>same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time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we </a:t>
            </a:r>
            <a:r>
              <a:rPr sz="2000" spc="-140" dirty="0">
                <a:latin typeface="Arial"/>
                <a:cs typeface="Arial"/>
              </a:rPr>
              <a:t>can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also</a:t>
            </a:r>
            <a:r>
              <a:rPr sz="2000" spc="-95" dirty="0">
                <a:latin typeface="Arial"/>
                <a:cs typeface="Arial"/>
              </a:rPr>
              <a:t> read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data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from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file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using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file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object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named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myObject</a:t>
            </a:r>
            <a:r>
              <a:rPr sz="2000" spc="-10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0988" y="468884"/>
            <a:ext cx="23082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90" dirty="0">
                <a:solidFill>
                  <a:srgbClr val="FF0000"/>
                </a:solidFill>
                <a:latin typeface="Arial"/>
                <a:cs typeface="Arial"/>
              </a:rPr>
              <a:t>4.3.2</a:t>
            </a:r>
            <a:r>
              <a:rPr sz="2400" b="1" spc="-1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250" dirty="0">
                <a:solidFill>
                  <a:srgbClr val="FF0000"/>
                </a:solidFill>
                <a:latin typeface="Arial"/>
                <a:cs typeface="Arial"/>
              </a:rPr>
              <a:t>Closing</a:t>
            </a:r>
            <a:r>
              <a:rPr sz="2400" b="1" spc="-1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17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400" b="1" spc="-1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50" dirty="0">
                <a:solidFill>
                  <a:srgbClr val="FF0000"/>
                </a:solidFill>
                <a:latin typeface="Arial"/>
                <a:cs typeface="Arial"/>
              </a:rPr>
              <a:t>file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00988" y="933703"/>
            <a:ext cx="8422640" cy="2625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150" dirty="0">
                <a:latin typeface="Arial"/>
                <a:cs typeface="Arial"/>
              </a:rPr>
              <a:t>Once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we</a:t>
            </a:r>
            <a:r>
              <a:rPr sz="2000" spc="-100" dirty="0">
                <a:latin typeface="Arial"/>
                <a:cs typeface="Arial"/>
              </a:rPr>
              <a:t> are</a:t>
            </a:r>
            <a:r>
              <a:rPr sz="2000" spc="-85" dirty="0">
                <a:latin typeface="Arial"/>
                <a:cs typeface="Arial"/>
              </a:rPr>
              <a:t> done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with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read/write</a:t>
            </a:r>
            <a:r>
              <a:rPr sz="2000" spc="-70" dirty="0">
                <a:latin typeface="Arial"/>
                <a:cs typeface="Arial"/>
              </a:rPr>
              <a:t> operations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on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file,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65" dirty="0">
                <a:latin typeface="Arial"/>
                <a:cs typeface="Arial"/>
              </a:rPr>
              <a:t>it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is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good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practice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to </a:t>
            </a:r>
            <a:r>
              <a:rPr sz="2000" spc="-114" dirty="0">
                <a:latin typeface="Arial"/>
                <a:cs typeface="Arial"/>
              </a:rPr>
              <a:t>close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90" dirty="0">
                <a:latin typeface="Arial"/>
                <a:cs typeface="Arial"/>
              </a:rPr>
              <a:t>Python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provides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b="1" dirty="0">
                <a:latin typeface="Courier New"/>
                <a:cs typeface="Courier New"/>
              </a:rPr>
              <a:t>close()</a:t>
            </a:r>
            <a:r>
              <a:rPr sz="2000" b="1" spc="30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Arial"/>
                <a:cs typeface="Arial"/>
              </a:rPr>
              <a:t>method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do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so. </a:t>
            </a:r>
            <a:r>
              <a:rPr sz="2000" spc="-55" dirty="0">
                <a:latin typeface="Arial"/>
                <a:cs typeface="Arial"/>
              </a:rPr>
              <a:t>While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closing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file,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system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90" dirty="0">
                <a:latin typeface="Arial"/>
                <a:cs typeface="Arial"/>
              </a:rPr>
              <a:t>frees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memory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allocated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it.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55" dirty="0">
                <a:latin typeface="Arial"/>
                <a:cs typeface="Arial"/>
              </a:rPr>
              <a:t>The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syntax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b="1" dirty="0">
                <a:latin typeface="Courier New"/>
                <a:cs typeface="Courier New"/>
              </a:rPr>
              <a:t>close()</a:t>
            </a:r>
            <a:r>
              <a:rPr sz="2000" b="1" spc="4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Arial"/>
                <a:cs typeface="Arial"/>
              </a:rPr>
              <a:t>is:</a:t>
            </a:r>
            <a:endParaRPr sz="2000">
              <a:latin typeface="Arial"/>
              <a:cs typeface="Arial"/>
            </a:endParaRPr>
          </a:p>
          <a:p>
            <a:pPr marL="99060" algn="ctr">
              <a:lnSpc>
                <a:spcPct val="100000"/>
              </a:lnSpc>
              <a:spcBef>
                <a:spcPts val="1910"/>
              </a:spcBef>
            </a:pPr>
            <a:r>
              <a:rPr sz="2000" b="1" spc="-10" dirty="0">
                <a:latin typeface="Courier New"/>
                <a:cs typeface="Courier New"/>
              </a:rPr>
              <a:t>file_object.close()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39"/>
              </a:spcBef>
            </a:pPr>
            <a:r>
              <a:rPr sz="1800" spc="-100" dirty="0">
                <a:latin typeface="Arial"/>
                <a:cs typeface="Arial"/>
              </a:rPr>
              <a:t>Here,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file_object</a:t>
            </a:r>
            <a:r>
              <a:rPr sz="2000" b="1" spc="-785" dirty="0">
                <a:latin typeface="Courier New"/>
                <a:cs typeface="Courier New"/>
              </a:rPr>
              <a:t> </a:t>
            </a:r>
            <a:r>
              <a:rPr sz="1800" spc="-105" dirty="0">
                <a:latin typeface="Arial"/>
                <a:cs typeface="Arial"/>
              </a:rPr>
              <a:t>is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the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45" dirty="0">
                <a:latin typeface="Arial"/>
                <a:cs typeface="Arial"/>
              </a:rPr>
              <a:t>object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140" dirty="0">
                <a:latin typeface="Arial"/>
                <a:cs typeface="Arial"/>
              </a:rPr>
              <a:t>was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40" dirty="0">
                <a:latin typeface="Arial"/>
                <a:cs typeface="Arial"/>
              </a:rPr>
              <a:t>returned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35" dirty="0">
                <a:latin typeface="Arial"/>
                <a:cs typeface="Arial"/>
              </a:rPr>
              <a:t>while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75" dirty="0">
                <a:latin typeface="Arial"/>
                <a:cs typeface="Arial"/>
              </a:rPr>
              <a:t>opening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file.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0988" y="4318457"/>
            <a:ext cx="8736965" cy="636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90" dirty="0">
                <a:latin typeface="Arial"/>
                <a:cs typeface="Arial"/>
              </a:rPr>
              <a:t>Python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-155" dirty="0">
                <a:latin typeface="Arial"/>
                <a:cs typeface="Arial"/>
              </a:rPr>
              <a:t>makes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sure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any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unwritten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or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unsaved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data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is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flushed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(written)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file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65" dirty="0">
                <a:latin typeface="Arial"/>
                <a:cs typeface="Arial"/>
              </a:rPr>
              <a:t>before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65" dirty="0">
                <a:latin typeface="Arial"/>
                <a:cs typeface="Arial"/>
              </a:rPr>
              <a:t>it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is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closed.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Hence,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65" dirty="0">
                <a:latin typeface="Arial"/>
                <a:cs typeface="Arial"/>
              </a:rPr>
              <a:t>it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is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always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advised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close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file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once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our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work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is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done.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100"/>
              </a:spcBef>
            </a:pPr>
            <a:r>
              <a:rPr sz="2400" b="1" spc="-90" dirty="0">
                <a:solidFill>
                  <a:srgbClr val="FF0000"/>
                </a:solidFill>
                <a:latin typeface="Arial"/>
                <a:cs typeface="Arial"/>
              </a:rPr>
              <a:t>4.3.3</a:t>
            </a:r>
            <a:r>
              <a:rPr sz="2400" b="1" spc="-1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200" dirty="0">
                <a:solidFill>
                  <a:srgbClr val="FF0000"/>
                </a:solidFill>
                <a:latin typeface="Arial"/>
                <a:cs typeface="Arial"/>
              </a:rPr>
              <a:t>Opening</a:t>
            </a:r>
            <a:r>
              <a:rPr sz="2400" b="1" spc="-1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17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400" b="1" spc="-1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90" dirty="0">
                <a:solidFill>
                  <a:srgbClr val="FF0000"/>
                </a:solidFill>
                <a:latin typeface="Arial"/>
                <a:cs typeface="Arial"/>
              </a:rPr>
              <a:t>file</a:t>
            </a:r>
            <a:r>
              <a:rPr sz="2400" b="1" spc="-1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245" dirty="0">
                <a:solidFill>
                  <a:srgbClr val="FF0000"/>
                </a:solidFill>
                <a:latin typeface="Arial"/>
                <a:cs typeface="Arial"/>
              </a:rPr>
              <a:t>using</a:t>
            </a:r>
            <a:r>
              <a:rPr sz="2400" b="1" spc="-1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90" dirty="0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sz="2400" b="1" spc="-1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170" dirty="0">
                <a:solidFill>
                  <a:srgbClr val="FF0000"/>
                </a:solidFill>
                <a:latin typeface="Arial"/>
                <a:cs typeface="Arial"/>
              </a:rPr>
              <a:t>clause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8704" y="1011427"/>
            <a:ext cx="9036050" cy="44850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55" dirty="0">
                <a:latin typeface="Arial"/>
                <a:cs typeface="Arial"/>
              </a:rPr>
              <a:t>The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syntax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6FC0"/>
                </a:solidFill>
                <a:latin typeface="Arial"/>
                <a:cs typeface="Arial"/>
              </a:rPr>
              <a:t>with</a:t>
            </a:r>
            <a:r>
              <a:rPr sz="2000" spc="-7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clause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is:</a:t>
            </a:r>
            <a:endParaRPr sz="2000">
              <a:latin typeface="Arial"/>
              <a:cs typeface="Arial"/>
            </a:endParaRPr>
          </a:p>
          <a:p>
            <a:pPr marL="1402715">
              <a:lnSpc>
                <a:spcPct val="100000"/>
              </a:lnSpc>
              <a:spcBef>
                <a:spcPts val="1545"/>
              </a:spcBef>
            </a:pPr>
            <a:r>
              <a:rPr sz="2000" b="1" dirty="0">
                <a:latin typeface="Courier New"/>
                <a:cs typeface="Courier New"/>
              </a:rPr>
              <a:t>with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open(file_name,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access_mode)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as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file_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object:</a:t>
            </a:r>
            <a:endParaRPr sz="2000">
              <a:latin typeface="Courier New"/>
              <a:cs typeface="Courier New"/>
            </a:endParaRPr>
          </a:p>
          <a:p>
            <a:pPr marL="12700" marR="412750">
              <a:lnSpc>
                <a:spcPct val="100000"/>
              </a:lnSpc>
              <a:spcBef>
                <a:spcPts val="1760"/>
              </a:spcBef>
            </a:pPr>
            <a:r>
              <a:rPr sz="2000" spc="-155" dirty="0">
                <a:latin typeface="Arial"/>
                <a:cs typeface="Arial"/>
              </a:rPr>
              <a:t>The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advantage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using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with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clause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is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any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file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is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opened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using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this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clause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is </a:t>
            </a:r>
            <a:r>
              <a:rPr sz="2000" spc="-114" dirty="0">
                <a:latin typeface="Arial"/>
                <a:cs typeface="Arial"/>
              </a:rPr>
              <a:t>closed</a:t>
            </a:r>
            <a:r>
              <a:rPr sz="2000" spc="-75" dirty="0">
                <a:latin typeface="Arial"/>
                <a:cs typeface="Arial"/>
              </a:rPr>
              <a:t> automatically,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once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control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35" dirty="0">
                <a:latin typeface="Arial"/>
                <a:cs typeface="Arial"/>
              </a:rPr>
              <a:t>comes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outside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with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clause.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70" dirty="0">
                <a:latin typeface="Arial"/>
                <a:cs typeface="Arial"/>
              </a:rPr>
              <a:t>In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80" dirty="0">
                <a:latin typeface="Arial"/>
                <a:cs typeface="Arial"/>
              </a:rPr>
              <a:t>case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user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forgets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close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the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file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explicitly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or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if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an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exception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occurs,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is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110" dirty="0">
                <a:latin typeface="Arial"/>
                <a:cs typeface="Arial"/>
              </a:rPr>
              <a:t>closed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automatically.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Also,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65" dirty="0">
                <a:latin typeface="Arial"/>
                <a:cs typeface="Arial"/>
              </a:rPr>
              <a:t>it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provides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simpler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syntax.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450">
              <a:latin typeface="Arial"/>
              <a:cs typeface="Arial"/>
            </a:endParaRPr>
          </a:p>
          <a:p>
            <a:pPr marL="2399665" marR="1292860" indent="-9144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with</a:t>
            </a:r>
            <a:r>
              <a:rPr sz="2000" b="1" spc="-6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open(“myfile.txt”,”r+”)</a:t>
            </a:r>
            <a:r>
              <a:rPr sz="2000" b="1" spc="-5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as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myObject: </a:t>
            </a:r>
            <a:r>
              <a:rPr sz="2000" b="1" dirty="0">
                <a:latin typeface="Courier New"/>
                <a:cs typeface="Courier New"/>
              </a:rPr>
              <a:t>content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myObject.read()</a:t>
            </a:r>
            <a:endParaRPr sz="2000">
              <a:latin typeface="Courier New"/>
              <a:cs typeface="Courier New"/>
            </a:endParaRPr>
          </a:p>
          <a:p>
            <a:pPr marL="12700" marR="539115">
              <a:lnSpc>
                <a:spcPct val="103499"/>
              </a:lnSpc>
              <a:spcBef>
                <a:spcPts val="1839"/>
              </a:spcBef>
            </a:pPr>
            <a:r>
              <a:rPr sz="2000" spc="-110" dirty="0">
                <a:latin typeface="Arial"/>
                <a:cs typeface="Arial"/>
              </a:rPr>
              <a:t>Here,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we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don’t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35" dirty="0">
                <a:latin typeface="Arial"/>
                <a:cs typeface="Arial"/>
              </a:rPr>
              <a:t>have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close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the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file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explicitly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using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b="1" dirty="0">
                <a:latin typeface="Courier New"/>
                <a:cs typeface="Courier New"/>
              </a:rPr>
              <a:t>close()</a:t>
            </a:r>
            <a:r>
              <a:rPr sz="2000" b="1" spc="45" dirty="0">
                <a:latin typeface="Courier New"/>
                <a:cs typeface="Courier New"/>
              </a:rPr>
              <a:t> </a:t>
            </a:r>
            <a:r>
              <a:rPr sz="2000" spc="-65" dirty="0">
                <a:latin typeface="Arial"/>
                <a:cs typeface="Arial"/>
              </a:rPr>
              <a:t>statement. </a:t>
            </a:r>
            <a:r>
              <a:rPr sz="2000" spc="-20" dirty="0">
                <a:latin typeface="Arial"/>
                <a:cs typeface="Arial"/>
              </a:rPr>
              <a:t>Python </a:t>
            </a:r>
            <a:r>
              <a:rPr sz="2000" dirty="0">
                <a:latin typeface="Arial"/>
                <a:cs typeface="Arial"/>
              </a:rPr>
              <a:t>will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automatically </a:t>
            </a:r>
            <a:r>
              <a:rPr sz="2000" spc="-114" dirty="0">
                <a:latin typeface="Arial"/>
                <a:cs typeface="Arial"/>
              </a:rPr>
              <a:t>close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file.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3756" y="1987295"/>
            <a:ext cx="11029315" cy="2905125"/>
            <a:chOff x="333756" y="1987295"/>
            <a:chExt cx="11029315" cy="2905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2900" y="1996439"/>
              <a:ext cx="11010900" cy="28864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8328" y="1991867"/>
              <a:ext cx="11020425" cy="2895600"/>
            </a:xfrm>
            <a:custGeom>
              <a:avLst/>
              <a:gdLst/>
              <a:ahLst/>
              <a:cxnLst/>
              <a:rect l="l" t="t" r="r" b="b"/>
              <a:pathLst>
                <a:path w="11020425" h="2895600">
                  <a:moveTo>
                    <a:pt x="0" y="2895599"/>
                  </a:moveTo>
                  <a:lnTo>
                    <a:pt x="11020044" y="2895599"/>
                  </a:lnTo>
                  <a:lnTo>
                    <a:pt x="11020044" y="0"/>
                  </a:lnTo>
                  <a:lnTo>
                    <a:pt x="0" y="0"/>
                  </a:lnTo>
                  <a:lnTo>
                    <a:pt x="0" y="2895599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292608" y="5045964"/>
            <a:ext cx="5733415" cy="1275715"/>
            <a:chOff x="292608" y="5045964"/>
            <a:chExt cx="5733415" cy="127571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1752" y="5055108"/>
              <a:ext cx="5715000" cy="12573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97180" y="5050536"/>
              <a:ext cx="5724525" cy="1266825"/>
            </a:xfrm>
            <a:custGeom>
              <a:avLst/>
              <a:gdLst/>
              <a:ahLst/>
              <a:cxnLst/>
              <a:rect l="l" t="t" r="r" b="b"/>
              <a:pathLst>
                <a:path w="5724525" h="1266825">
                  <a:moveTo>
                    <a:pt x="0" y="1266444"/>
                  </a:moveTo>
                  <a:lnTo>
                    <a:pt x="5724144" y="1266444"/>
                  </a:lnTo>
                  <a:lnTo>
                    <a:pt x="5724144" y="0"/>
                  </a:lnTo>
                  <a:lnTo>
                    <a:pt x="0" y="0"/>
                  </a:lnTo>
                  <a:lnTo>
                    <a:pt x="0" y="126644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531876" y="320040"/>
            <a:ext cx="2799715" cy="1379220"/>
            <a:chOff x="531876" y="320040"/>
            <a:chExt cx="2799715" cy="137922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1020" y="329184"/>
              <a:ext cx="2781300" cy="136093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6448" y="324612"/>
              <a:ext cx="2790825" cy="1370330"/>
            </a:xfrm>
            <a:custGeom>
              <a:avLst/>
              <a:gdLst/>
              <a:ahLst/>
              <a:cxnLst/>
              <a:rect l="l" t="t" r="r" b="b"/>
              <a:pathLst>
                <a:path w="2790825" h="1370330">
                  <a:moveTo>
                    <a:pt x="0" y="1370076"/>
                  </a:moveTo>
                  <a:lnTo>
                    <a:pt x="2790443" y="1370076"/>
                  </a:lnTo>
                  <a:lnTo>
                    <a:pt x="2790443" y="0"/>
                  </a:lnTo>
                  <a:lnTo>
                    <a:pt x="0" y="0"/>
                  </a:lnTo>
                  <a:lnTo>
                    <a:pt x="0" y="137007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5014" y="331723"/>
            <a:ext cx="3562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0" dirty="0">
                <a:solidFill>
                  <a:srgbClr val="FF0000"/>
                </a:solidFill>
                <a:latin typeface="Arial"/>
                <a:cs typeface="Arial"/>
              </a:rPr>
              <a:t>4.4</a:t>
            </a:r>
            <a:r>
              <a:rPr sz="2400" b="1" spc="-1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195" dirty="0">
                <a:solidFill>
                  <a:srgbClr val="FF0000"/>
                </a:solidFill>
                <a:latin typeface="Arial"/>
                <a:cs typeface="Arial"/>
              </a:rPr>
              <a:t>WRITING</a:t>
            </a:r>
            <a:r>
              <a:rPr sz="2400" b="1" spc="-1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305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400" b="1" spc="-1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29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400" b="1" spc="-1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330" dirty="0">
                <a:solidFill>
                  <a:srgbClr val="FF0000"/>
                </a:solidFill>
                <a:latin typeface="Arial"/>
                <a:cs typeface="Arial"/>
              </a:rPr>
              <a:t>TEXT</a:t>
            </a:r>
            <a:r>
              <a:rPr sz="2400" b="1" spc="-1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345" dirty="0">
                <a:solidFill>
                  <a:srgbClr val="FF0000"/>
                </a:solidFill>
                <a:latin typeface="Arial"/>
                <a:cs typeface="Arial"/>
              </a:rPr>
              <a:t>FILE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5014" y="964438"/>
            <a:ext cx="7618730" cy="4203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30" dirty="0">
                <a:latin typeface="Arial"/>
                <a:cs typeface="Arial"/>
              </a:rPr>
              <a:t>For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writing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file,</a:t>
            </a:r>
            <a:r>
              <a:rPr sz="2000" spc="-85" dirty="0">
                <a:latin typeface="Arial"/>
                <a:cs typeface="Arial"/>
              </a:rPr>
              <a:t> we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first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need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open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65" dirty="0">
                <a:latin typeface="Arial"/>
                <a:cs typeface="Arial"/>
              </a:rPr>
              <a:t>it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in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write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or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append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mode.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If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we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open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an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existing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file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in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6FC0"/>
                </a:solidFill>
                <a:latin typeface="Arial"/>
                <a:cs typeface="Arial"/>
              </a:rPr>
              <a:t>write</a:t>
            </a:r>
            <a:r>
              <a:rPr sz="2000" spc="-8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spc="-75" dirty="0">
                <a:solidFill>
                  <a:srgbClr val="006FC0"/>
                </a:solidFill>
                <a:latin typeface="Arial"/>
                <a:cs typeface="Arial"/>
              </a:rPr>
              <a:t>mode</a:t>
            </a:r>
            <a:r>
              <a:rPr sz="2000" spc="-75" dirty="0">
                <a:latin typeface="Arial"/>
                <a:cs typeface="Arial"/>
              </a:rPr>
              <a:t>,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previous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data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will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be </a:t>
            </a:r>
            <a:r>
              <a:rPr sz="2000" spc="-60" dirty="0">
                <a:latin typeface="Arial"/>
                <a:cs typeface="Arial"/>
              </a:rPr>
              <a:t>erased, </a:t>
            </a:r>
            <a:r>
              <a:rPr sz="2000" spc="-110" dirty="0">
                <a:latin typeface="Arial"/>
                <a:cs typeface="Arial"/>
              </a:rPr>
              <a:t>and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file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object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will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be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positioned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at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beginning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300">
              <a:latin typeface="Arial"/>
              <a:cs typeface="Arial"/>
            </a:endParaRPr>
          </a:p>
          <a:p>
            <a:pPr marL="12700" marR="250190">
              <a:lnSpc>
                <a:spcPct val="100000"/>
              </a:lnSpc>
            </a:pPr>
            <a:r>
              <a:rPr sz="2000" spc="-155" dirty="0">
                <a:latin typeface="Arial"/>
                <a:cs typeface="Arial"/>
              </a:rPr>
              <a:t>On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other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hand,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in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0" dirty="0">
                <a:solidFill>
                  <a:srgbClr val="006FC0"/>
                </a:solidFill>
                <a:latin typeface="Arial"/>
                <a:cs typeface="Arial"/>
              </a:rPr>
              <a:t>append</a:t>
            </a:r>
            <a:r>
              <a:rPr sz="2000" spc="-1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spc="-75" dirty="0">
                <a:solidFill>
                  <a:srgbClr val="006FC0"/>
                </a:solidFill>
                <a:latin typeface="Arial"/>
                <a:cs typeface="Arial"/>
              </a:rPr>
              <a:t>mode</a:t>
            </a:r>
            <a:r>
              <a:rPr sz="2000" spc="-75" dirty="0">
                <a:latin typeface="Arial"/>
                <a:cs typeface="Arial"/>
              </a:rPr>
              <a:t>,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new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data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will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be</a:t>
            </a:r>
            <a:r>
              <a:rPr sz="2000" spc="-100" dirty="0">
                <a:latin typeface="Arial"/>
                <a:cs typeface="Arial"/>
              </a:rPr>
              <a:t> added </a:t>
            </a:r>
            <a:r>
              <a:rPr sz="2000" spc="-35" dirty="0">
                <a:latin typeface="Arial"/>
                <a:cs typeface="Arial"/>
              </a:rPr>
              <a:t>at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end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previous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data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200" dirty="0">
                <a:latin typeface="Arial"/>
                <a:cs typeface="Arial"/>
              </a:rPr>
              <a:t>as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file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object</a:t>
            </a:r>
            <a:r>
              <a:rPr sz="2000" spc="-110" dirty="0">
                <a:latin typeface="Arial"/>
                <a:cs typeface="Arial"/>
              </a:rPr>
              <a:t> is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at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end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000" spc="-25" dirty="0">
                <a:latin typeface="Arial"/>
                <a:cs typeface="Arial"/>
              </a:rPr>
              <a:t>After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opening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file,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we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40" dirty="0">
                <a:latin typeface="Arial"/>
                <a:cs typeface="Arial"/>
              </a:rPr>
              <a:t>can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45" dirty="0">
                <a:latin typeface="Arial"/>
                <a:cs typeface="Arial"/>
              </a:rPr>
              <a:t>use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following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methods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write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data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20" dirty="0">
                <a:latin typeface="Arial"/>
                <a:cs typeface="Arial"/>
              </a:rPr>
              <a:t>in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50">
              <a:latin typeface="Arial"/>
              <a:cs typeface="Arial"/>
            </a:endParaRPr>
          </a:p>
          <a:p>
            <a:pPr marL="1186180" indent="-183515">
              <a:lnSpc>
                <a:spcPct val="100000"/>
              </a:lnSpc>
              <a:buFont typeface="Arial"/>
              <a:buChar char="•"/>
              <a:tabLst>
                <a:tab pos="1186180" algn="l"/>
                <a:tab pos="3168650" algn="l"/>
              </a:tabLst>
            </a:pPr>
            <a:r>
              <a:rPr sz="2000" b="1" spc="-10" dirty="0">
                <a:latin typeface="Courier New"/>
                <a:cs typeface="Courier New"/>
              </a:rPr>
              <a:t>write()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spc="-60" dirty="0">
                <a:latin typeface="Arial"/>
                <a:cs typeface="Arial"/>
              </a:rPr>
              <a:t>-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for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writing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100" dirty="0">
                <a:latin typeface="Arial"/>
                <a:cs typeface="Arial"/>
              </a:rPr>
              <a:t> single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string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2050">
              <a:latin typeface="Arial"/>
              <a:cs typeface="Arial"/>
            </a:endParaRPr>
          </a:p>
          <a:p>
            <a:pPr marL="1186180" indent="-183515">
              <a:lnSpc>
                <a:spcPct val="100000"/>
              </a:lnSpc>
              <a:buFont typeface="Arial"/>
              <a:buChar char="•"/>
              <a:tabLst>
                <a:tab pos="1186180" algn="l"/>
              </a:tabLst>
            </a:pPr>
            <a:r>
              <a:rPr sz="2000" b="1" dirty="0">
                <a:latin typeface="Courier New"/>
                <a:cs typeface="Courier New"/>
              </a:rPr>
              <a:t>writelines()</a:t>
            </a:r>
            <a:r>
              <a:rPr sz="2000" b="1" spc="-5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Arial"/>
                <a:cs typeface="Arial"/>
              </a:rPr>
              <a:t>-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writing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sequence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strings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0479" y="4206240"/>
            <a:ext cx="3980716" cy="22193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28" y="487171"/>
            <a:ext cx="3470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95" dirty="0">
                <a:solidFill>
                  <a:srgbClr val="FF0000"/>
                </a:solidFill>
                <a:latin typeface="Arial"/>
                <a:cs typeface="Arial"/>
              </a:rPr>
              <a:t>4.4.1</a:t>
            </a:r>
            <a:r>
              <a:rPr sz="2400" b="1" spc="-1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21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400" b="1" spc="-1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write()</a:t>
            </a:r>
            <a:r>
              <a:rPr b="1" spc="-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400" b="1" spc="-114" dirty="0">
                <a:solidFill>
                  <a:srgbClr val="FF0000"/>
                </a:solidFill>
                <a:latin typeface="Arial"/>
                <a:cs typeface="Arial"/>
              </a:rPr>
              <a:t>method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6266" y="1032128"/>
            <a:ext cx="9932670" cy="462280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6510" marR="2078355">
              <a:lnSpc>
                <a:spcPct val="101200"/>
              </a:lnSpc>
              <a:spcBef>
                <a:spcPts val="75"/>
              </a:spcBef>
            </a:pPr>
            <a:r>
              <a:rPr sz="2000" b="1" dirty="0">
                <a:latin typeface="Courier New"/>
                <a:cs typeface="Courier New"/>
              </a:rPr>
              <a:t>write()</a:t>
            </a:r>
            <a:r>
              <a:rPr sz="2000" b="1" spc="25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Arial"/>
                <a:cs typeface="Arial"/>
              </a:rPr>
              <a:t>method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takes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string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200" dirty="0">
                <a:latin typeface="Arial"/>
                <a:cs typeface="Arial"/>
              </a:rPr>
              <a:t>as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an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argument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and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writes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65" dirty="0">
                <a:latin typeface="Arial"/>
                <a:cs typeface="Arial"/>
              </a:rPr>
              <a:t>it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text file.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It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returns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006FC0"/>
                </a:solidFill>
                <a:latin typeface="Arial"/>
                <a:cs typeface="Arial"/>
              </a:rPr>
              <a:t>number</a:t>
            </a:r>
            <a:r>
              <a:rPr sz="2000" spc="-1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6FC0"/>
                </a:solidFill>
                <a:latin typeface="Arial"/>
                <a:cs typeface="Arial"/>
              </a:rPr>
              <a:t>of</a:t>
            </a:r>
            <a:r>
              <a:rPr sz="2000" spc="-10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spc="-100" dirty="0">
                <a:solidFill>
                  <a:srgbClr val="006FC0"/>
                </a:solidFill>
                <a:latin typeface="Arial"/>
                <a:cs typeface="Arial"/>
              </a:rPr>
              <a:t>characters</a:t>
            </a:r>
            <a:r>
              <a:rPr sz="2000" spc="-8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being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written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on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single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execution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of </a:t>
            </a:r>
            <a:r>
              <a:rPr sz="2000" spc="-30" dirty="0">
                <a:latin typeface="Arial"/>
                <a:cs typeface="Arial"/>
              </a:rPr>
              <a:t>the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b="1" dirty="0">
                <a:latin typeface="Courier New"/>
                <a:cs typeface="Courier New"/>
              </a:rPr>
              <a:t>write()</a:t>
            </a:r>
            <a:r>
              <a:rPr sz="2000" b="1" spc="35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Arial"/>
                <a:cs typeface="Arial"/>
              </a:rPr>
              <a:t>method.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Also,</a:t>
            </a:r>
            <a:r>
              <a:rPr sz="2000" spc="-85" dirty="0">
                <a:latin typeface="Arial"/>
                <a:cs typeface="Arial"/>
              </a:rPr>
              <a:t> we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need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add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newline</a:t>
            </a:r>
            <a:r>
              <a:rPr sz="2000" spc="-80" dirty="0">
                <a:latin typeface="Arial"/>
                <a:cs typeface="Arial"/>
              </a:rPr>
              <a:t> character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b="1" dirty="0">
                <a:latin typeface="Courier New"/>
                <a:cs typeface="Courier New"/>
              </a:rPr>
              <a:t>(\n)</a:t>
            </a:r>
            <a:r>
              <a:rPr sz="2000" b="1" spc="3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Arial"/>
                <a:cs typeface="Arial"/>
              </a:rPr>
              <a:t>at 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end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0" dirty="0">
                <a:latin typeface="Arial"/>
                <a:cs typeface="Arial"/>
              </a:rPr>
              <a:t> every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sentence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mark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end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line.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sz="2000" spc="-114" dirty="0">
                <a:latin typeface="Arial"/>
                <a:cs typeface="Arial"/>
              </a:rPr>
              <a:t>Consider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following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piece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code: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2000" b="1" dirty="0">
                <a:latin typeface="Courier New"/>
                <a:cs typeface="Courier New"/>
              </a:rPr>
              <a:t>&gt;&gt;&gt;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myobject=open("myfile.txt",'w')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&gt;&gt;&gt;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myobject.write("Hey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have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started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#using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files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in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Python\n")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25" dirty="0">
                <a:latin typeface="Courier New"/>
                <a:cs typeface="Courier New"/>
              </a:rPr>
              <a:t>41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&gt;&gt;&gt;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myobject.close()</a:t>
            </a:r>
            <a:endParaRPr sz="2000" dirty="0">
              <a:latin typeface="Courier New"/>
              <a:cs typeface="Courier New"/>
            </a:endParaRPr>
          </a:p>
          <a:p>
            <a:pPr marL="12700" marR="1525905">
              <a:lnSpc>
                <a:spcPct val="100000"/>
              </a:lnSpc>
              <a:spcBef>
                <a:spcPts val="1560"/>
              </a:spcBef>
            </a:pPr>
            <a:r>
              <a:rPr sz="2000" spc="-155" dirty="0">
                <a:latin typeface="Arial"/>
                <a:cs typeface="Arial"/>
              </a:rPr>
              <a:t>On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execution,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b="1" dirty="0">
                <a:latin typeface="Courier New"/>
                <a:cs typeface="Courier New"/>
              </a:rPr>
              <a:t>write()</a:t>
            </a:r>
            <a:r>
              <a:rPr sz="2000" b="1" spc="25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Arial"/>
                <a:cs typeface="Arial"/>
              </a:rPr>
              <a:t>returns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number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characters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written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on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file. </a:t>
            </a:r>
            <a:r>
              <a:rPr sz="2000" spc="-120" dirty="0">
                <a:latin typeface="Arial"/>
                <a:cs typeface="Arial"/>
              </a:rPr>
              <a:t>Hence,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b="1" spc="-20" dirty="0">
                <a:latin typeface="Courier New"/>
                <a:cs typeface="Courier New"/>
              </a:rPr>
              <a:t>41</a:t>
            </a:r>
            <a:r>
              <a:rPr sz="2000" spc="-20" dirty="0">
                <a:latin typeface="Arial"/>
                <a:cs typeface="Arial"/>
              </a:rPr>
              <a:t>,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which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is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length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string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45" dirty="0">
                <a:latin typeface="Arial"/>
                <a:cs typeface="Arial"/>
              </a:rPr>
              <a:t>passed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200" dirty="0">
                <a:latin typeface="Arial"/>
                <a:cs typeface="Arial"/>
              </a:rPr>
              <a:t>as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an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argument,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is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displayed.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70" dirty="0">
                <a:latin typeface="Arial"/>
                <a:cs typeface="Arial"/>
              </a:rPr>
              <a:t>Note: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Courier New"/>
                <a:cs typeface="Courier New"/>
              </a:rPr>
              <a:t>‘\n’</a:t>
            </a:r>
            <a:r>
              <a:rPr sz="2000" b="1" spc="25" dirty="0">
                <a:latin typeface="Courier New"/>
                <a:cs typeface="Courier New"/>
              </a:rPr>
              <a:t> </a:t>
            </a:r>
            <a:r>
              <a:rPr sz="1800" spc="-105" dirty="0">
                <a:latin typeface="Arial"/>
                <a:cs typeface="Arial"/>
              </a:rPr>
              <a:t>is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45" dirty="0">
                <a:latin typeface="Arial"/>
                <a:cs typeface="Arial"/>
              </a:rPr>
              <a:t>treated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180" dirty="0">
                <a:latin typeface="Arial"/>
                <a:cs typeface="Arial"/>
              </a:rPr>
              <a:t>as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150" dirty="0">
                <a:latin typeface="Arial"/>
                <a:cs typeface="Arial"/>
              </a:rPr>
              <a:t>a</a:t>
            </a:r>
            <a:r>
              <a:rPr sz="1800" spc="-85" dirty="0">
                <a:latin typeface="Arial"/>
                <a:cs typeface="Arial"/>
              </a:rPr>
              <a:t> single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character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1346" y="552399"/>
            <a:ext cx="7838440" cy="50495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"/>
                <a:cs typeface="Arial"/>
              </a:rPr>
              <a:t>If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006FC0"/>
                </a:solidFill>
                <a:latin typeface="Arial"/>
                <a:cs typeface="Arial"/>
              </a:rPr>
              <a:t>numeric</a:t>
            </a:r>
            <a:r>
              <a:rPr sz="2000" spc="-9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spc="-80" dirty="0">
                <a:solidFill>
                  <a:srgbClr val="006FC0"/>
                </a:solidFill>
                <a:latin typeface="Arial"/>
                <a:cs typeface="Arial"/>
              </a:rPr>
              <a:t>data</a:t>
            </a:r>
            <a:r>
              <a:rPr sz="2000" spc="-9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are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95" dirty="0">
                <a:latin typeface="Arial"/>
                <a:cs typeface="Arial"/>
              </a:rPr>
              <a:t> be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written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text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file,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data</a:t>
            </a:r>
            <a:r>
              <a:rPr sz="2000" spc="-95" dirty="0">
                <a:latin typeface="Arial"/>
                <a:cs typeface="Arial"/>
              </a:rPr>
              <a:t> need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be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converted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into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string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before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writing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125" dirty="0">
                <a:latin typeface="Arial"/>
                <a:cs typeface="Arial"/>
              </a:rPr>
              <a:t>For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example: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spc="-10" dirty="0">
                <a:latin typeface="Courier New"/>
                <a:cs typeface="Courier New"/>
              </a:rPr>
              <a:t>&gt;&gt;&gt;myobject=open("myfile.txt",'w')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Courier New"/>
                <a:cs typeface="Courier New"/>
              </a:rPr>
              <a:t>&gt;&gt;&gt;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marks=58</a:t>
            </a:r>
            <a:endParaRPr sz="2000">
              <a:latin typeface="Courier New"/>
              <a:cs typeface="Courier New"/>
            </a:endParaRPr>
          </a:p>
          <a:p>
            <a:pPr marL="12700" marR="1569085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#number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58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is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converted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to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a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string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using #str()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&gt;&gt;&gt;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myobject.write(str(marks))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2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10" dirty="0">
                <a:latin typeface="Courier New"/>
                <a:cs typeface="Courier New"/>
              </a:rPr>
              <a:t>&gt;&gt;&gt;myobject.close()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2000" spc="-155" dirty="0">
                <a:latin typeface="Arial"/>
                <a:cs typeface="Arial"/>
              </a:rPr>
              <a:t>The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write()</a:t>
            </a:r>
            <a:r>
              <a:rPr sz="2000" b="1" spc="-735" dirty="0">
                <a:latin typeface="Courier New"/>
                <a:cs typeface="Courier New"/>
              </a:rPr>
              <a:t> </a:t>
            </a:r>
            <a:r>
              <a:rPr sz="2000" spc="-70" dirty="0">
                <a:latin typeface="Arial"/>
                <a:cs typeface="Arial"/>
              </a:rPr>
              <a:t>actually </a:t>
            </a:r>
            <a:r>
              <a:rPr sz="2000" spc="-50" dirty="0">
                <a:latin typeface="Arial"/>
                <a:cs typeface="Arial"/>
              </a:rPr>
              <a:t>writes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data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onto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buffer.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95" dirty="0">
                <a:latin typeface="Arial"/>
                <a:cs typeface="Arial"/>
              </a:rPr>
              <a:t>When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b="1" dirty="0">
                <a:latin typeface="Courier New"/>
                <a:cs typeface="Courier New"/>
              </a:rPr>
              <a:t>close()</a:t>
            </a:r>
            <a:r>
              <a:rPr sz="2000" b="1" spc="25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Arial"/>
                <a:cs typeface="Arial"/>
              </a:rPr>
              <a:t>method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is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executed,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contents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from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this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buffer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are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2000" spc="-95" dirty="0">
                <a:latin typeface="Arial"/>
                <a:cs typeface="Arial"/>
              </a:rPr>
              <a:t>moved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located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on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permanent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storage.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52421" y="2015861"/>
            <a:ext cx="3666395" cy="229479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57783" y="640080"/>
            <a:ext cx="8618220" cy="2856230"/>
            <a:chOff x="557783" y="640080"/>
            <a:chExt cx="8618220" cy="28562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6927" y="649224"/>
              <a:ext cx="8523742" cy="28376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62355" y="644652"/>
              <a:ext cx="8609330" cy="2847340"/>
            </a:xfrm>
            <a:custGeom>
              <a:avLst/>
              <a:gdLst/>
              <a:ahLst/>
              <a:cxnLst/>
              <a:rect l="l" t="t" r="r" b="b"/>
              <a:pathLst>
                <a:path w="8609330" h="2847340">
                  <a:moveTo>
                    <a:pt x="0" y="2846832"/>
                  </a:moveTo>
                  <a:lnTo>
                    <a:pt x="8609076" y="2846832"/>
                  </a:lnTo>
                  <a:lnTo>
                    <a:pt x="8609076" y="0"/>
                  </a:lnTo>
                  <a:lnTo>
                    <a:pt x="0" y="0"/>
                  </a:lnTo>
                  <a:lnTo>
                    <a:pt x="0" y="284683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557783" y="3729228"/>
            <a:ext cx="3970020" cy="1828800"/>
            <a:chOff x="557783" y="3729228"/>
            <a:chExt cx="3970020" cy="18288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6927" y="3795546"/>
              <a:ext cx="3951732" cy="175333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62355" y="3733800"/>
              <a:ext cx="3961129" cy="1819910"/>
            </a:xfrm>
            <a:custGeom>
              <a:avLst/>
              <a:gdLst/>
              <a:ahLst/>
              <a:cxnLst/>
              <a:rect l="l" t="t" r="r" b="b"/>
              <a:pathLst>
                <a:path w="3961129" h="1819910">
                  <a:moveTo>
                    <a:pt x="0" y="1819656"/>
                  </a:moveTo>
                  <a:lnTo>
                    <a:pt x="3960876" y="1819656"/>
                  </a:lnTo>
                  <a:lnTo>
                    <a:pt x="3960876" y="0"/>
                  </a:lnTo>
                  <a:lnTo>
                    <a:pt x="0" y="0"/>
                  </a:lnTo>
                  <a:lnTo>
                    <a:pt x="0" y="181965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9540" y="292100"/>
            <a:ext cx="46259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90" dirty="0">
                <a:solidFill>
                  <a:srgbClr val="FF0000"/>
                </a:solidFill>
                <a:latin typeface="Arial"/>
                <a:cs typeface="Arial"/>
              </a:rPr>
              <a:t>4.4.2</a:t>
            </a:r>
            <a:r>
              <a:rPr sz="2400" b="1" spc="-1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21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400" b="1" spc="-1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latin typeface="Courier New"/>
                <a:cs typeface="Courier New"/>
              </a:rPr>
              <a:t>writelines()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spc="-120" dirty="0">
                <a:solidFill>
                  <a:srgbClr val="FF0000"/>
                </a:solidFill>
                <a:latin typeface="Arial"/>
                <a:cs typeface="Arial"/>
              </a:rPr>
              <a:t>method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9540" y="798321"/>
            <a:ext cx="8337550" cy="5241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latin typeface="Arial"/>
                <a:cs typeface="Arial"/>
              </a:rPr>
              <a:t>This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method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is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used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write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multiple</a:t>
            </a:r>
            <a:r>
              <a:rPr sz="2000" spc="-85" dirty="0">
                <a:latin typeface="Arial"/>
                <a:cs typeface="Arial"/>
              </a:rPr>
              <a:t> strings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Arial"/>
              <a:cs typeface="Arial"/>
            </a:endParaRPr>
          </a:p>
          <a:p>
            <a:pPr marL="12700" marR="842644">
              <a:lnSpc>
                <a:spcPts val="2320"/>
              </a:lnSpc>
            </a:pPr>
            <a:r>
              <a:rPr sz="2000" spc="-160" dirty="0">
                <a:latin typeface="Arial"/>
                <a:cs typeface="Arial"/>
              </a:rPr>
              <a:t>We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need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80" dirty="0">
                <a:latin typeface="Arial"/>
                <a:cs typeface="Arial"/>
              </a:rPr>
              <a:t>pass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an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iterable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object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like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lists,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tuple,</a:t>
            </a:r>
            <a:r>
              <a:rPr sz="2000" spc="-70" dirty="0">
                <a:latin typeface="Arial"/>
                <a:cs typeface="Arial"/>
              </a:rPr>
              <a:t> etc.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containing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strings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the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writelines()</a:t>
            </a:r>
            <a:r>
              <a:rPr sz="2000" spc="-10" dirty="0">
                <a:latin typeface="Arial"/>
                <a:cs typeface="Arial"/>
              </a:rPr>
              <a:t>method.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85" dirty="0">
                <a:latin typeface="Arial"/>
                <a:cs typeface="Arial"/>
              </a:rPr>
              <a:t>Unlike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write()</a:t>
            </a:r>
            <a:r>
              <a:rPr sz="2000" spc="-10" dirty="0">
                <a:latin typeface="Arial"/>
                <a:cs typeface="Arial"/>
              </a:rPr>
              <a:t>,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b="1" dirty="0">
                <a:latin typeface="Courier New"/>
                <a:cs typeface="Courier New"/>
              </a:rPr>
              <a:t>writelines() </a:t>
            </a:r>
            <a:r>
              <a:rPr sz="2000" spc="-55" dirty="0">
                <a:latin typeface="Arial"/>
                <a:cs typeface="Arial"/>
              </a:rPr>
              <a:t>method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does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not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return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number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of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2000" spc="-100" dirty="0">
                <a:latin typeface="Arial"/>
                <a:cs typeface="Arial"/>
              </a:rPr>
              <a:t>characters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written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in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file.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55" dirty="0">
                <a:latin typeface="Arial"/>
                <a:cs typeface="Arial"/>
              </a:rPr>
              <a:t>The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following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code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explains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40" dirty="0">
                <a:latin typeface="Arial"/>
                <a:cs typeface="Arial"/>
              </a:rPr>
              <a:t>use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writelines().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latin typeface="Courier New"/>
                <a:cs typeface="Courier New"/>
              </a:rPr>
              <a:t>&gt;&gt;&gt;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myobject=open("myfile.txt",'w')</a:t>
            </a:r>
            <a:endParaRPr sz="2000">
              <a:latin typeface="Courier New"/>
              <a:cs typeface="Courier New"/>
            </a:endParaRPr>
          </a:p>
          <a:p>
            <a:pPr marL="621665" marR="2067560" indent="-6096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&gt;&gt;&gt;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lines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["Hello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everyone\n",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"Writing </a:t>
            </a:r>
            <a:r>
              <a:rPr sz="2000" b="1" dirty="0">
                <a:latin typeface="Courier New"/>
                <a:cs typeface="Courier New"/>
              </a:rPr>
              <a:t>#multiline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strings\n",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"This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is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spc="-25" dirty="0">
                <a:latin typeface="Courier New"/>
                <a:cs typeface="Courier New"/>
              </a:rPr>
              <a:t>the </a:t>
            </a:r>
            <a:r>
              <a:rPr sz="2000" b="1" dirty="0">
                <a:latin typeface="Courier New"/>
                <a:cs typeface="Courier New"/>
              </a:rPr>
              <a:t>#third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line"]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&gt;&gt;&gt;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myobject.writelines(lines)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&gt;&gt;&gt;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myobject.close()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40" dirty="0">
                <a:latin typeface="Arial"/>
                <a:cs typeface="Arial"/>
              </a:rPr>
              <a:t>On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80" dirty="0">
                <a:latin typeface="Arial"/>
                <a:cs typeface="Arial"/>
              </a:rPr>
              <a:t>opening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i="1" spc="-40" dirty="0">
                <a:solidFill>
                  <a:srgbClr val="006FC0"/>
                </a:solidFill>
                <a:latin typeface="Arial"/>
                <a:cs typeface="Arial"/>
              </a:rPr>
              <a:t>myfile.txt,</a:t>
            </a:r>
            <a:r>
              <a:rPr sz="1800" i="1" spc="-7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105" dirty="0">
                <a:latin typeface="Arial"/>
                <a:cs typeface="Arial"/>
              </a:rPr>
              <a:t>using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notepad,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40" dirty="0">
                <a:latin typeface="Arial"/>
                <a:cs typeface="Arial"/>
              </a:rPr>
              <a:t>its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content </a:t>
            </a:r>
            <a:r>
              <a:rPr sz="1800" dirty="0">
                <a:latin typeface="Arial"/>
                <a:cs typeface="Arial"/>
              </a:rPr>
              <a:t>will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appear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180" dirty="0">
                <a:latin typeface="Arial"/>
                <a:cs typeface="Arial"/>
              </a:rPr>
              <a:t>as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shown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in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i="1" spc="-100" dirty="0">
                <a:solidFill>
                  <a:srgbClr val="006FC0"/>
                </a:solidFill>
                <a:latin typeface="Arial"/>
                <a:cs typeface="Arial"/>
              </a:rPr>
              <a:t>Figure</a:t>
            </a:r>
            <a:r>
              <a:rPr sz="1800" i="1" spc="-5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i="1" spc="-20" dirty="0">
                <a:solidFill>
                  <a:srgbClr val="006FC0"/>
                </a:solidFill>
                <a:latin typeface="Arial"/>
                <a:cs typeface="Arial"/>
              </a:rPr>
              <a:t>2.1</a:t>
            </a:r>
            <a:r>
              <a:rPr sz="1800" spc="-20" dirty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0356" y="3625596"/>
            <a:ext cx="4430267" cy="189433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1272" y="3264408"/>
            <a:ext cx="11793220" cy="1576070"/>
            <a:chOff x="271272" y="3264408"/>
            <a:chExt cx="11793220" cy="15760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0416" y="3273552"/>
              <a:ext cx="11774424" cy="155752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75844" y="3268980"/>
              <a:ext cx="11783695" cy="1567180"/>
            </a:xfrm>
            <a:custGeom>
              <a:avLst/>
              <a:gdLst/>
              <a:ahLst/>
              <a:cxnLst/>
              <a:rect l="l" t="t" r="r" b="b"/>
              <a:pathLst>
                <a:path w="11783695" h="1567179">
                  <a:moveTo>
                    <a:pt x="0" y="1566672"/>
                  </a:moveTo>
                  <a:lnTo>
                    <a:pt x="11783568" y="1566672"/>
                  </a:lnTo>
                  <a:lnTo>
                    <a:pt x="11783568" y="0"/>
                  </a:lnTo>
                  <a:lnTo>
                    <a:pt x="0" y="0"/>
                  </a:lnTo>
                  <a:lnTo>
                    <a:pt x="0" y="1566672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437387" y="251459"/>
            <a:ext cx="11459210" cy="2593975"/>
            <a:chOff x="437387" y="251459"/>
            <a:chExt cx="11459210" cy="259397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3532" y="297609"/>
              <a:ext cx="11196462" cy="253855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41959" y="256031"/>
              <a:ext cx="11450320" cy="2585085"/>
            </a:xfrm>
            <a:custGeom>
              <a:avLst/>
              <a:gdLst/>
              <a:ahLst/>
              <a:cxnLst/>
              <a:rect l="l" t="t" r="r" b="b"/>
              <a:pathLst>
                <a:path w="11450320" h="2585085">
                  <a:moveTo>
                    <a:pt x="0" y="2584704"/>
                  </a:moveTo>
                  <a:lnTo>
                    <a:pt x="11449812" y="2584704"/>
                  </a:lnTo>
                  <a:lnTo>
                    <a:pt x="11449812" y="0"/>
                  </a:lnTo>
                  <a:lnTo>
                    <a:pt x="0" y="0"/>
                  </a:lnTo>
                  <a:lnTo>
                    <a:pt x="0" y="258470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71272" y="4858511"/>
            <a:ext cx="3733800" cy="1922145"/>
            <a:chOff x="271272" y="4858511"/>
            <a:chExt cx="3733800" cy="192214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0416" y="4940515"/>
              <a:ext cx="3715512" cy="153917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5844" y="4863083"/>
              <a:ext cx="3724910" cy="1912620"/>
            </a:xfrm>
            <a:custGeom>
              <a:avLst/>
              <a:gdLst/>
              <a:ahLst/>
              <a:cxnLst/>
              <a:rect l="l" t="t" r="r" b="b"/>
              <a:pathLst>
                <a:path w="3724910" h="1912620">
                  <a:moveTo>
                    <a:pt x="0" y="1912620"/>
                  </a:moveTo>
                  <a:lnTo>
                    <a:pt x="3724655" y="1912620"/>
                  </a:lnTo>
                  <a:lnTo>
                    <a:pt x="3724655" y="0"/>
                  </a:lnTo>
                  <a:lnTo>
                    <a:pt x="0" y="0"/>
                  </a:lnTo>
                  <a:lnTo>
                    <a:pt x="0" y="191262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5532" y="340867"/>
            <a:ext cx="40068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5" dirty="0">
                <a:solidFill>
                  <a:srgbClr val="FF0000"/>
                </a:solidFill>
                <a:latin typeface="Arial"/>
                <a:cs typeface="Arial"/>
              </a:rPr>
              <a:t>4.5</a:t>
            </a:r>
            <a:r>
              <a:rPr sz="2400" b="1" spc="-1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275" dirty="0">
                <a:solidFill>
                  <a:srgbClr val="FF0000"/>
                </a:solidFill>
                <a:latin typeface="Arial"/>
                <a:cs typeface="Arial"/>
              </a:rPr>
              <a:t>READING</a:t>
            </a:r>
            <a:r>
              <a:rPr sz="2400" b="1" spc="-1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245" dirty="0">
                <a:solidFill>
                  <a:srgbClr val="FF0000"/>
                </a:solidFill>
                <a:latin typeface="Arial"/>
                <a:cs typeface="Arial"/>
              </a:rPr>
              <a:t>FROM</a:t>
            </a:r>
            <a:r>
              <a:rPr sz="2400" b="1" spc="-1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29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400" b="1" spc="-1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330" dirty="0">
                <a:solidFill>
                  <a:srgbClr val="FF0000"/>
                </a:solidFill>
                <a:latin typeface="Arial"/>
                <a:cs typeface="Arial"/>
              </a:rPr>
              <a:t>TEXT</a:t>
            </a:r>
            <a:r>
              <a:rPr sz="2400" b="1" spc="-1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345" dirty="0">
                <a:solidFill>
                  <a:srgbClr val="FF0000"/>
                </a:solidFill>
                <a:latin typeface="Arial"/>
                <a:cs typeface="Arial"/>
              </a:rPr>
              <a:t>FILE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5532" y="918718"/>
            <a:ext cx="9042400" cy="5238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3341370">
              <a:lnSpc>
                <a:spcPct val="100000"/>
              </a:lnSpc>
              <a:spcBef>
                <a:spcPts val="105"/>
              </a:spcBef>
            </a:pPr>
            <a:r>
              <a:rPr sz="2000" spc="-100" dirty="0">
                <a:latin typeface="Arial"/>
                <a:cs typeface="Arial"/>
              </a:rPr>
              <a:t>Before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reading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file,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we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must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40" dirty="0">
                <a:latin typeface="Arial"/>
                <a:cs typeface="Arial"/>
              </a:rPr>
              <a:t>make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sure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file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is </a:t>
            </a:r>
            <a:r>
              <a:rPr sz="2000" spc="-85" dirty="0">
                <a:latin typeface="Arial"/>
                <a:cs typeface="Arial"/>
              </a:rPr>
              <a:t>opened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in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b="1" spc="-135" dirty="0">
                <a:latin typeface="Arial"/>
                <a:cs typeface="Arial"/>
              </a:rPr>
              <a:t>“r”,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spc="-155" dirty="0">
                <a:latin typeface="Arial"/>
                <a:cs typeface="Arial"/>
              </a:rPr>
              <a:t>“r+”,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spc="-140" dirty="0">
                <a:latin typeface="Arial"/>
                <a:cs typeface="Arial"/>
              </a:rPr>
              <a:t>“w+”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or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b="1" spc="-165" dirty="0">
                <a:latin typeface="Arial"/>
                <a:cs typeface="Arial"/>
              </a:rPr>
              <a:t>“a+”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mode.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64"/>
              </a:spcBef>
            </a:pPr>
            <a:r>
              <a:rPr sz="2000" spc="-114" dirty="0">
                <a:latin typeface="Arial"/>
                <a:cs typeface="Arial"/>
              </a:rPr>
              <a:t>There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are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40" dirty="0">
                <a:solidFill>
                  <a:srgbClr val="006FC0"/>
                </a:solidFill>
                <a:latin typeface="Arial"/>
                <a:cs typeface="Arial"/>
              </a:rPr>
              <a:t>three</a:t>
            </a:r>
            <a:r>
              <a:rPr sz="2000" spc="-9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spc="-155" dirty="0">
                <a:latin typeface="Arial"/>
                <a:cs typeface="Arial"/>
              </a:rPr>
              <a:t>ways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95" dirty="0">
                <a:latin typeface="Arial"/>
                <a:cs typeface="Arial"/>
              </a:rPr>
              <a:t> read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contents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file: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2400" b="1" spc="-90" dirty="0">
                <a:solidFill>
                  <a:srgbClr val="FF0000"/>
                </a:solidFill>
                <a:latin typeface="Arial"/>
                <a:cs typeface="Arial"/>
              </a:rPr>
              <a:t>4.5.1</a:t>
            </a:r>
            <a:r>
              <a:rPr sz="2400" b="1" spc="-11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21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400" b="1" spc="-1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read()</a:t>
            </a:r>
            <a:r>
              <a:rPr sz="2400" b="1" spc="-894" dirty="0"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method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2000" spc="-140" dirty="0">
                <a:latin typeface="Arial"/>
                <a:cs typeface="Arial"/>
              </a:rPr>
              <a:t>This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method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is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used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read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specified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number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bytes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data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from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data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spc="-15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syntax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b="1" dirty="0">
                <a:latin typeface="Courier New"/>
                <a:cs typeface="Courier New"/>
              </a:rPr>
              <a:t>read()</a:t>
            </a:r>
            <a:r>
              <a:rPr sz="2000" b="1" spc="30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Arial"/>
                <a:cs typeface="Arial"/>
              </a:rPr>
              <a:t>method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is: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50">
              <a:latin typeface="Arial"/>
              <a:cs typeface="Arial"/>
            </a:endParaRPr>
          </a:p>
          <a:p>
            <a:pPr marL="3053715">
              <a:lnSpc>
                <a:spcPct val="100000"/>
              </a:lnSpc>
            </a:pPr>
            <a:r>
              <a:rPr sz="2000" b="1" spc="-10" dirty="0">
                <a:latin typeface="Courier New"/>
                <a:cs typeface="Courier New"/>
              </a:rPr>
              <a:t>file_object.read(n)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spc="-114" dirty="0">
                <a:latin typeface="Arial"/>
                <a:cs typeface="Arial"/>
              </a:rPr>
              <a:t>Consider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following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set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statements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understand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55" dirty="0">
                <a:latin typeface="Arial"/>
                <a:cs typeface="Arial"/>
              </a:rPr>
              <a:t>usage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b="1" dirty="0">
                <a:latin typeface="Courier New"/>
                <a:cs typeface="Courier New"/>
              </a:rPr>
              <a:t>read()</a:t>
            </a:r>
            <a:r>
              <a:rPr sz="2000" b="1" spc="3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Arial"/>
                <a:cs typeface="Arial"/>
              </a:rPr>
              <a:t>method:</a:t>
            </a:r>
            <a:endParaRPr sz="2000">
              <a:latin typeface="Arial"/>
              <a:cs typeface="Arial"/>
            </a:endParaRPr>
          </a:p>
          <a:p>
            <a:pPr marL="2920365">
              <a:lnSpc>
                <a:spcPct val="100000"/>
              </a:lnSpc>
              <a:spcBef>
                <a:spcPts val="1620"/>
              </a:spcBef>
            </a:pPr>
            <a:r>
              <a:rPr sz="2000" b="1" dirty="0">
                <a:latin typeface="Courier New"/>
                <a:cs typeface="Courier New"/>
              </a:rPr>
              <a:t>&gt;&gt;&gt;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myobject=open("myfile.txt",'r')</a:t>
            </a:r>
            <a:endParaRPr sz="2000">
              <a:latin typeface="Courier New"/>
              <a:cs typeface="Courier New"/>
            </a:endParaRPr>
          </a:p>
          <a:p>
            <a:pPr marL="2920365" marR="2912745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&gt;&gt;&gt;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myobject.read(10) </a:t>
            </a:r>
            <a:r>
              <a:rPr sz="2000" b="1" dirty="0">
                <a:latin typeface="Courier New"/>
                <a:cs typeface="Courier New"/>
              </a:rPr>
              <a:t>'Hello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ever'</a:t>
            </a:r>
            <a:endParaRPr sz="2000">
              <a:latin typeface="Courier New"/>
              <a:cs typeface="Courier New"/>
            </a:endParaRPr>
          </a:p>
          <a:p>
            <a:pPr marL="2920365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&gt;&gt;&gt;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myobject.close()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4203" y="350012"/>
            <a:ext cx="6887845" cy="3157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If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no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argument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or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negative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number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is </a:t>
            </a:r>
            <a:r>
              <a:rPr sz="2000" spc="-75" dirty="0">
                <a:latin typeface="Arial"/>
                <a:cs typeface="Arial"/>
              </a:rPr>
              <a:t>specified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read()</a:t>
            </a:r>
            <a:r>
              <a:rPr sz="2000" spc="-10" dirty="0">
                <a:latin typeface="Arial"/>
                <a:cs typeface="Arial"/>
              </a:rPr>
              <a:t>,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entire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content</a:t>
            </a:r>
            <a:r>
              <a:rPr sz="2000" spc="-110" dirty="0">
                <a:latin typeface="Arial"/>
                <a:cs typeface="Arial"/>
              </a:rPr>
              <a:t> is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read.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sz="2000" spc="-130" dirty="0">
                <a:latin typeface="Arial"/>
                <a:cs typeface="Arial"/>
              </a:rPr>
              <a:t>For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example,</a:t>
            </a:r>
            <a:endParaRPr sz="2000">
              <a:latin typeface="Arial"/>
              <a:cs typeface="Arial"/>
            </a:endParaRPr>
          </a:p>
          <a:p>
            <a:pPr marL="1539875">
              <a:lnSpc>
                <a:spcPct val="100000"/>
              </a:lnSpc>
              <a:spcBef>
                <a:spcPts val="1415"/>
              </a:spcBef>
            </a:pPr>
            <a:r>
              <a:rPr sz="2000" b="1" dirty="0">
                <a:latin typeface="Courier New"/>
                <a:cs typeface="Courier New"/>
              </a:rPr>
              <a:t>&gt;&gt;&gt;</a:t>
            </a:r>
            <a:r>
              <a:rPr sz="2000" b="1" spc="-10" dirty="0">
                <a:latin typeface="Courier New"/>
                <a:cs typeface="Courier New"/>
              </a:rPr>
              <a:t> myobject=open("myfile.txt",'r')</a:t>
            </a:r>
            <a:endParaRPr sz="2000">
              <a:latin typeface="Courier New"/>
              <a:cs typeface="Courier New"/>
            </a:endParaRPr>
          </a:p>
          <a:p>
            <a:pPr marL="1539875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&gt;&gt;&gt;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print(myobject.read())</a:t>
            </a:r>
            <a:endParaRPr sz="2000">
              <a:latin typeface="Courier New"/>
              <a:cs typeface="Courier New"/>
            </a:endParaRPr>
          </a:p>
          <a:p>
            <a:pPr marL="1539875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Hello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everyone</a:t>
            </a:r>
            <a:endParaRPr sz="2000">
              <a:latin typeface="Courier New"/>
              <a:cs typeface="Courier New"/>
            </a:endParaRPr>
          </a:p>
          <a:p>
            <a:pPr marL="1539875" marR="153035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Writing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multiline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strings </a:t>
            </a:r>
            <a:r>
              <a:rPr sz="2000" b="1" dirty="0">
                <a:latin typeface="Courier New"/>
                <a:cs typeface="Courier New"/>
              </a:rPr>
              <a:t>This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is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the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third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20" dirty="0">
                <a:latin typeface="Courier New"/>
                <a:cs typeface="Courier New"/>
              </a:rPr>
              <a:t>line</a:t>
            </a:r>
            <a:endParaRPr sz="2000">
              <a:latin typeface="Courier New"/>
              <a:cs typeface="Courier New"/>
            </a:endParaRPr>
          </a:p>
          <a:p>
            <a:pPr marL="1539875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&gt;&gt;&gt;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myobject.close()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1291" y="1046988"/>
            <a:ext cx="5910580" cy="3195955"/>
            <a:chOff x="431291" y="1046988"/>
            <a:chExt cx="5910580" cy="31959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0435" y="1056132"/>
              <a:ext cx="5891784" cy="308187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35863" y="1051560"/>
              <a:ext cx="5901055" cy="3187065"/>
            </a:xfrm>
            <a:custGeom>
              <a:avLst/>
              <a:gdLst/>
              <a:ahLst/>
              <a:cxnLst/>
              <a:rect l="l" t="t" r="r" b="b"/>
              <a:pathLst>
                <a:path w="5901055" h="3187065">
                  <a:moveTo>
                    <a:pt x="0" y="3186684"/>
                  </a:moveTo>
                  <a:lnTo>
                    <a:pt x="5900928" y="3186684"/>
                  </a:lnTo>
                  <a:lnTo>
                    <a:pt x="5900928" y="0"/>
                  </a:lnTo>
                  <a:lnTo>
                    <a:pt x="0" y="0"/>
                  </a:lnTo>
                  <a:lnTo>
                    <a:pt x="0" y="3186684"/>
                  </a:lnTo>
                  <a:close/>
                </a:path>
              </a:pathLst>
            </a:custGeom>
            <a:ln w="9144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89431" y="4451603"/>
            <a:ext cx="3662679" cy="1312545"/>
            <a:chOff x="789431" y="4451603"/>
            <a:chExt cx="3662679" cy="131254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8575" y="4460747"/>
              <a:ext cx="3643884" cy="129387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94003" y="4456175"/>
              <a:ext cx="3653154" cy="1303020"/>
            </a:xfrm>
            <a:custGeom>
              <a:avLst/>
              <a:gdLst/>
              <a:ahLst/>
              <a:cxnLst/>
              <a:rect l="l" t="t" r="r" b="b"/>
              <a:pathLst>
                <a:path w="3653154" h="1303020">
                  <a:moveTo>
                    <a:pt x="0" y="1303020"/>
                  </a:moveTo>
                  <a:lnTo>
                    <a:pt x="3653028" y="1303020"/>
                  </a:lnTo>
                  <a:lnTo>
                    <a:pt x="3653028" y="0"/>
                  </a:lnTo>
                  <a:lnTo>
                    <a:pt x="0" y="0"/>
                  </a:lnTo>
                  <a:lnTo>
                    <a:pt x="0" y="1303020"/>
                  </a:lnTo>
                  <a:close/>
                </a:path>
              </a:pathLst>
            </a:custGeom>
            <a:ln w="9144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25551" y="364693"/>
            <a:ext cx="324104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185" dirty="0">
                <a:latin typeface="Arial"/>
                <a:cs typeface="Arial"/>
              </a:rPr>
              <a:t>File</a:t>
            </a:r>
            <a:r>
              <a:rPr sz="2500" b="1" spc="-85" dirty="0">
                <a:latin typeface="Arial"/>
                <a:cs typeface="Arial"/>
              </a:rPr>
              <a:t> </a:t>
            </a:r>
            <a:r>
              <a:rPr sz="2500" b="1" spc="-145" dirty="0">
                <a:latin typeface="Arial"/>
                <a:cs typeface="Arial"/>
              </a:rPr>
              <a:t>‘example.txt</a:t>
            </a:r>
            <a:r>
              <a:rPr sz="2500" b="1" spc="-105" dirty="0">
                <a:latin typeface="Arial"/>
                <a:cs typeface="Arial"/>
              </a:rPr>
              <a:t> </a:t>
            </a:r>
            <a:r>
              <a:rPr sz="2500" b="1" spc="-245" dirty="0">
                <a:latin typeface="Arial"/>
                <a:cs typeface="Arial"/>
              </a:rPr>
              <a:t>is</a:t>
            </a:r>
            <a:r>
              <a:rPr sz="2500" b="1" spc="-100" dirty="0">
                <a:latin typeface="Arial"/>
                <a:cs typeface="Arial"/>
              </a:rPr>
              <a:t> </a:t>
            </a:r>
            <a:r>
              <a:rPr sz="2500" b="1" spc="-170" dirty="0">
                <a:latin typeface="Arial"/>
                <a:cs typeface="Arial"/>
              </a:rPr>
              <a:t>Exist’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1272" y="504444"/>
            <a:ext cx="5712460" cy="3900170"/>
            <a:chOff x="271272" y="504444"/>
            <a:chExt cx="5712460" cy="39001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0416" y="513588"/>
              <a:ext cx="5576316" cy="308914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75844" y="509016"/>
              <a:ext cx="5585460" cy="3098800"/>
            </a:xfrm>
            <a:custGeom>
              <a:avLst/>
              <a:gdLst/>
              <a:ahLst/>
              <a:cxnLst/>
              <a:rect l="l" t="t" r="r" b="b"/>
              <a:pathLst>
                <a:path w="5585460" h="3098800">
                  <a:moveTo>
                    <a:pt x="0" y="3098292"/>
                  </a:moveTo>
                  <a:lnTo>
                    <a:pt x="5585459" y="3098292"/>
                  </a:lnTo>
                  <a:lnTo>
                    <a:pt x="5585459" y="0"/>
                  </a:lnTo>
                  <a:lnTo>
                    <a:pt x="0" y="0"/>
                  </a:lnTo>
                  <a:lnTo>
                    <a:pt x="0" y="3098292"/>
                  </a:lnTo>
                  <a:close/>
                </a:path>
              </a:pathLst>
            </a:custGeom>
            <a:ln w="9144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0416" y="3602736"/>
              <a:ext cx="5693664" cy="79248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5844" y="3598164"/>
              <a:ext cx="5702935" cy="802005"/>
            </a:xfrm>
            <a:custGeom>
              <a:avLst/>
              <a:gdLst/>
              <a:ahLst/>
              <a:cxnLst/>
              <a:rect l="l" t="t" r="r" b="b"/>
              <a:pathLst>
                <a:path w="5702935" h="802004">
                  <a:moveTo>
                    <a:pt x="0" y="801624"/>
                  </a:moveTo>
                  <a:lnTo>
                    <a:pt x="5702808" y="801624"/>
                  </a:lnTo>
                  <a:lnTo>
                    <a:pt x="5702808" y="0"/>
                  </a:lnTo>
                  <a:lnTo>
                    <a:pt x="0" y="0"/>
                  </a:lnTo>
                  <a:lnTo>
                    <a:pt x="0" y="801624"/>
                  </a:lnTo>
                  <a:close/>
                </a:path>
              </a:pathLst>
            </a:custGeom>
            <a:ln w="9143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014983" y="4796028"/>
            <a:ext cx="4006850" cy="2022475"/>
            <a:chOff x="1014983" y="4796028"/>
            <a:chExt cx="4006850" cy="202247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0672" y="4911347"/>
              <a:ext cx="3497235" cy="173198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19555" y="4800600"/>
              <a:ext cx="3997960" cy="2013585"/>
            </a:xfrm>
            <a:custGeom>
              <a:avLst/>
              <a:gdLst/>
              <a:ahLst/>
              <a:cxnLst/>
              <a:rect l="l" t="t" r="r" b="b"/>
              <a:pathLst>
                <a:path w="3997960" h="2013584">
                  <a:moveTo>
                    <a:pt x="0" y="2013204"/>
                  </a:moveTo>
                  <a:lnTo>
                    <a:pt x="3997452" y="2013204"/>
                  </a:lnTo>
                  <a:lnTo>
                    <a:pt x="3997452" y="0"/>
                  </a:lnTo>
                  <a:lnTo>
                    <a:pt x="0" y="0"/>
                  </a:lnTo>
                  <a:lnTo>
                    <a:pt x="0" y="2013204"/>
                  </a:lnTo>
                  <a:close/>
                </a:path>
              </a:pathLst>
            </a:custGeom>
            <a:ln w="9144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907279" y="5183123"/>
            <a:ext cx="7000240" cy="1190625"/>
            <a:chOff x="4907279" y="5183123"/>
            <a:chExt cx="7000240" cy="119062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06671" y="5192267"/>
              <a:ext cx="6391196" cy="117195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492495" y="5187695"/>
              <a:ext cx="6410325" cy="1181100"/>
            </a:xfrm>
            <a:custGeom>
              <a:avLst/>
              <a:gdLst/>
              <a:ahLst/>
              <a:cxnLst/>
              <a:rect l="l" t="t" r="r" b="b"/>
              <a:pathLst>
                <a:path w="6410325" h="1181100">
                  <a:moveTo>
                    <a:pt x="0" y="1181099"/>
                  </a:moveTo>
                  <a:lnTo>
                    <a:pt x="6409944" y="1181099"/>
                  </a:lnTo>
                  <a:lnTo>
                    <a:pt x="6409944" y="0"/>
                  </a:lnTo>
                  <a:lnTo>
                    <a:pt x="0" y="0"/>
                  </a:lnTo>
                  <a:lnTo>
                    <a:pt x="0" y="1181099"/>
                  </a:lnTo>
                  <a:close/>
                </a:path>
              </a:pathLst>
            </a:custGeom>
            <a:ln w="9143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13375" y="5588507"/>
              <a:ext cx="584200" cy="365760"/>
            </a:xfrm>
            <a:custGeom>
              <a:avLst/>
              <a:gdLst/>
              <a:ahLst/>
              <a:cxnLst/>
              <a:rect l="l" t="t" r="r" b="b"/>
              <a:pathLst>
                <a:path w="584200" h="365760">
                  <a:moveTo>
                    <a:pt x="400812" y="0"/>
                  </a:moveTo>
                  <a:lnTo>
                    <a:pt x="400812" y="91439"/>
                  </a:lnTo>
                  <a:lnTo>
                    <a:pt x="0" y="91439"/>
                  </a:lnTo>
                  <a:lnTo>
                    <a:pt x="0" y="274319"/>
                  </a:lnTo>
                  <a:lnTo>
                    <a:pt x="400812" y="274319"/>
                  </a:lnTo>
                  <a:lnTo>
                    <a:pt x="400812" y="365759"/>
                  </a:lnTo>
                  <a:lnTo>
                    <a:pt x="583691" y="182879"/>
                  </a:lnTo>
                  <a:lnTo>
                    <a:pt x="40081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13375" y="5588507"/>
              <a:ext cx="584200" cy="365760"/>
            </a:xfrm>
            <a:custGeom>
              <a:avLst/>
              <a:gdLst/>
              <a:ahLst/>
              <a:cxnLst/>
              <a:rect l="l" t="t" r="r" b="b"/>
              <a:pathLst>
                <a:path w="584200" h="365760">
                  <a:moveTo>
                    <a:pt x="0" y="91439"/>
                  </a:moveTo>
                  <a:lnTo>
                    <a:pt x="400812" y="91439"/>
                  </a:lnTo>
                  <a:lnTo>
                    <a:pt x="400812" y="0"/>
                  </a:lnTo>
                  <a:lnTo>
                    <a:pt x="583691" y="182879"/>
                  </a:lnTo>
                  <a:lnTo>
                    <a:pt x="400812" y="365759"/>
                  </a:lnTo>
                  <a:lnTo>
                    <a:pt x="400812" y="274319"/>
                  </a:lnTo>
                  <a:lnTo>
                    <a:pt x="0" y="274319"/>
                  </a:lnTo>
                  <a:lnTo>
                    <a:pt x="0" y="91439"/>
                  </a:lnTo>
                  <a:close/>
                </a:path>
              </a:pathLst>
            </a:custGeom>
            <a:ln w="12191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765" rIns="0" bIns="0" rtlCol="0">
            <a:spAutoFit/>
          </a:bodyPr>
          <a:lstStyle/>
          <a:p>
            <a:pPr marL="5521325">
              <a:lnSpc>
                <a:spcPct val="100000"/>
              </a:lnSpc>
              <a:spcBef>
                <a:spcPts val="95"/>
              </a:spcBef>
            </a:pPr>
            <a:r>
              <a:rPr sz="2500" b="1" spc="-185" dirty="0">
                <a:latin typeface="Arial"/>
                <a:cs typeface="Arial"/>
              </a:rPr>
              <a:t>File</a:t>
            </a:r>
            <a:r>
              <a:rPr sz="2500" b="1" spc="-100" dirty="0">
                <a:latin typeface="Arial"/>
                <a:cs typeface="Arial"/>
              </a:rPr>
              <a:t> </a:t>
            </a:r>
            <a:r>
              <a:rPr sz="2500" b="1" spc="-145" dirty="0">
                <a:latin typeface="Arial"/>
                <a:cs typeface="Arial"/>
              </a:rPr>
              <a:t>‘example2.txt</a:t>
            </a:r>
            <a:r>
              <a:rPr sz="2500" b="1" spc="-120" dirty="0">
                <a:latin typeface="Arial"/>
                <a:cs typeface="Arial"/>
              </a:rPr>
              <a:t> </a:t>
            </a:r>
            <a:r>
              <a:rPr sz="2500" b="1" spc="-245" dirty="0">
                <a:latin typeface="Arial"/>
                <a:cs typeface="Arial"/>
              </a:rPr>
              <a:t>is</a:t>
            </a:r>
            <a:r>
              <a:rPr sz="2500" b="1" spc="-114" dirty="0">
                <a:latin typeface="Arial"/>
                <a:cs typeface="Arial"/>
              </a:rPr>
              <a:t> </a:t>
            </a:r>
            <a:r>
              <a:rPr sz="2500" b="1" spc="-275" dirty="0">
                <a:latin typeface="Arial"/>
                <a:cs typeface="Arial"/>
              </a:rPr>
              <a:t>NOT</a:t>
            </a:r>
            <a:r>
              <a:rPr sz="2500" b="1" spc="-105" dirty="0">
                <a:latin typeface="Arial"/>
                <a:cs typeface="Arial"/>
              </a:rPr>
              <a:t> </a:t>
            </a:r>
            <a:r>
              <a:rPr sz="2500" b="1" spc="-155" dirty="0">
                <a:latin typeface="Arial"/>
                <a:cs typeface="Arial"/>
              </a:rPr>
              <a:t>Exist’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7321" y="337565"/>
            <a:ext cx="48075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90" dirty="0">
                <a:solidFill>
                  <a:srgbClr val="FF0000"/>
                </a:solidFill>
                <a:latin typeface="Arial"/>
                <a:cs typeface="Arial"/>
              </a:rPr>
              <a:t>4.5.2</a:t>
            </a:r>
            <a:r>
              <a:rPr sz="2400" b="1" spc="-1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21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400" b="1" spc="-1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latin typeface="Courier New"/>
                <a:cs typeface="Courier New"/>
              </a:rPr>
              <a:t>readline([n])</a:t>
            </a:r>
            <a:r>
              <a:rPr sz="2400" b="1" spc="-70" dirty="0">
                <a:latin typeface="Courier New"/>
                <a:cs typeface="Courier New"/>
              </a:rPr>
              <a:t> </a:t>
            </a:r>
            <a:r>
              <a:rPr sz="2400" b="1" spc="-114" dirty="0">
                <a:solidFill>
                  <a:srgbClr val="FF0000"/>
                </a:solidFill>
                <a:latin typeface="Arial"/>
                <a:cs typeface="Arial"/>
              </a:rPr>
              <a:t>method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321" y="851153"/>
            <a:ext cx="7774940" cy="15284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10058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latin typeface="Arial"/>
                <a:cs typeface="Arial"/>
              </a:rPr>
              <a:t>This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method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reads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one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complete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line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from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file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where </a:t>
            </a:r>
            <a:r>
              <a:rPr sz="2000" spc="-135" dirty="0">
                <a:latin typeface="Arial"/>
                <a:cs typeface="Arial"/>
              </a:rPr>
              <a:t>each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line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terminates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with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newline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(\n)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character.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00">
              <a:latin typeface="Arial"/>
              <a:cs typeface="Arial"/>
            </a:endParaRPr>
          </a:p>
          <a:p>
            <a:pPr marL="1270000" marR="508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It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40" dirty="0">
                <a:latin typeface="Arial"/>
                <a:cs typeface="Arial"/>
              </a:rPr>
              <a:t>can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also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be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used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read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80" dirty="0">
                <a:latin typeface="Arial"/>
                <a:cs typeface="Arial"/>
              </a:rPr>
              <a:t> specified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number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(n)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bytes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of </a:t>
            </a:r>
            <a:r>
              <a:rPr sz="2000" spc="-85" dirty="0">
                <a:latin typeface="Arial"/>
                <a:cs typeface="Arial"/>
              </a:rPr>
              <a:t>data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from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file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but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maximum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up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newline</a:t>
            </a:r>
            <a:r>
              <a:rPr sz="2000" spc="-85" dirty="0">
                <a:latin typeface="Arial"/>
                <a:cs typeface="Arial"/>
              </a:rPr>
              <a:t> character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(\n).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1084" y="432562"/>
            <a:ext cx="9760585" cy="5964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105"/>
              </a:spcBef>
            </a:pPr>
            <a:r>
              <a:rPr sz="2000" spc="-70" dirty="0">
                <a:latin typeface="Arial"/>
                <a:cs typeface="Arial"/>
              </a:rPr>
              <a:t>In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following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example,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Arial"/>
              <a:cs typeface="Arial"/>
            </a:endParaRPr>
          </a:p>
          <a:p>
            <a:pPr marL="94615">
              <a:lnSpc>
                <a:spcPct val="100000"/>
              </a:lnSpc>
            </a:pP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second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statement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reads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first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ten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characters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first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line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text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file</a:t>
            </a:r>
            <a:endParaRPr sz="2000">
              <a:latin typeface="Arial"/>
              <a:cs typeface="Arial"/>
            </a:endParaRPr>
          </a:p>
          <a:p>
            <a:pPr marL="94615">
              <a:lnSpc>
                <a:spcPct val="100000"/>
              </a:lnSpc>
              <a:spcBef>
                <a:spcPts val="5"/>
              </a:spcBef>
            </a:pPr>
            <a:r>
              <a:rPr sz="2000" spc="-110" dirty="0">
                <a:latin typeface="Arial"/>
                <a:cs typeface="Arial"/>
              </a:rPr>
              <a:t>and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displays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them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on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screen.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00">
              <a:latin typeface="Arial"/>
              <a:cs typeface="Arial"/>
            </a:endParaRPr>
          </a:p>
          <a:p>
            <a:pPr marL="1337945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&gt;&gt;&gt;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myobject=open("myfile.txt",'r')</a:t>
            </a:r>
            <a:endParaRPr sz="2000">
              <a:latin typeface="Courier New"/>
              <a:cs typeface="Courier New"/>
            </a:endParaRPr>
          </a:p>
          <a:p>
            <a:pPr marL="1337945" marR="460248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Courier New"/>
                <a:cs typeface="Courier New"/>
              </a:rPr>
              <a:t>&gt;&gt;&gt;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myobject.readline(10) </a:t>
            </a:r>
            <a:r>
              <a:rPr sz="2000" b="1" dirty="0">
                <a:latin typeface="Courier New"/>
                <a:cs typeface="Courier New"/>
              </a:rPr>
              <a:t>'Hello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ever'</a:t>
            </a:r>
            <a:endParaRPr sz="2000">
              <a:latin typeface="Courier New"/>
              <a:cs typeface="Courier New"/>
            </a:endParaRPr>
          </a:p>
          <a:p>
            <a:pPr marL="1337945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&gt;&gt;&gt;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myobject.close()</a:t>
            </a:r>
            <a:endParaRPr sz="2000">
              <a:latin typeface="Courier New"/>
              <a:cs typeface="Courier New"/>
            </a:endParaRPr>
          </a:p>
          <a:p>
            <a:pPr marL="94615">
              <a:lnSpc>
                <a:spcPct val="100000"/>
              </a:lnSpc>
              <a:spcBef>
                <a:spcPts val="930"/>
              </a:spcBef>
            </a:pPr>
            <a:r>
              <a:rPr sz="2000" dirty="0">
                <a:latin typeface="Arial"/>
                <a:cs typeface="Arial"/>
              </a:rPr>
              <a:t>If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no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argument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or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negative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number</a:t>
            </a:r>
            <a:r>
              <a:rPr sz="2000" spc="-110" dirty="0">
                <a:latin typeface="Arial"/>
                <a:cs typeface="Arial"/>
              </a:rPr>
              <a:t> is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specified,</a:t>
            </a:r>
            <a:endParaRPr sz="2000">
              <a:latin typeface="Arial"/>
              <a:cs typeface="Arial"/>
            </a:endParaRPr>
          </a:p>
          <a:p>
            <a:pPr marL="94615">
              <a:lnSpc>
                <a:spcPct val="100000"/>
              </a:lnSpc>
            </a:pPr>
            <a:r>
              <a:rPr sz="2000" spc="65" dirty="0">
                <a:latin typeface="Arial"/>
                <a:cs typeface="Arial"/>
              </a:rPr>
              <a:t>it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reads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complete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line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and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returns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string.</a:t>
            </a:r>
            <a:endParaRPr sz="2000">
              <a:latin typeface="Arial"/>
              <a:cs typeface="Arial"/>
            </a:endParaRPr>
          </a:p>
          <a:p>
            <a:pPr marL="1337945">
              <a:lnSpc>
                <a:spcPct val="100000"/>
              </a:lnSpc>
              <a:spcBef>
                <a:spcPts val="1515"/>
              </a:spcBef>
            </a:pPr>
            <a:r>
              <a:rPr sz="2000" b="1" spc="-10" dirty="0">
                <a:latin typeface="Courier New"/>
                <a:cs typeface="Courier New"/>
              </a:rPr>
              <a:t>&gt;&gt;&gt;myobject=open("myfile.txt",'r')</a:t>
            </a:r>
            <a:endParaRPr sz="2000">
              <a:latin typeface="Courier New"/>
              <a:cs typeface="Courier New"/>
            </a:endParaRPr>
          </a:p>
          <a:p>
            <a:pPr marL="1337945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&gt;&gt;&gt;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print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(myobject.readline())</a:t>
            </a:r>
            <a:endParaRPr sz="2000">
              <a:latin typeface="Courier New"/>
              <a:cs typeface="Courier New"/>
            </a:endParaRPr>
          </a:p>
          <a:p>
            <a:pPr marL="1337945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'Hello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everyone\n'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20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  <a:spcBef>
                <a:spcPts val="1305"/>
              </a:spcBef>
            </a:pPr>
            <a:r>
              <a:rPr sz="2000" spc="-254" dirty="0">
                <a:latin typeface="Arial"/>
                <a:cs typeface="Arial"/>
              </a:rPr>
              <a:t>To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read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entire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file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line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by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line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using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readline()</a:t>
            </a:r>
            <a:r>
              <a:rPr sz="2000" spc="-10" dirty="0">
                <a:latin typeface="Arial"/>
                <a:cs typeface="Arial"/>
              </a:rPr>
              <a:t>,</a:t>
            </a:r>
            <a:r>
              <a:rPr sz="2000" spc="-90" dirty="0">
                <a:latin typeface="Arial"/>
                <a:cs typeface="Arial"/>
              </a:rPr>
              <a:t> we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40" dirty="0">
                <a:latin typeface="Arial"/>
                <a:cs typeface="Arial"/>
              </a:rPr>
              <a:t>can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40" dirty="0">
                <a:latin typeface="Arial"/>
                <a:cs typeface="Arial"/>
              </a:rPr>
              <a:t>use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loop.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140" dirty="0">
                <a:latin typeface="Arial"/>
                <a:cs typeface="Arial"/>
              </a:rPr>
              <a:t>This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process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is </a:t>
            </a:r>
            <a:r>
              <a:rPr sz="2000" spc="-70" dirty="0">
                <a:latin typeface="Arial"/>
                <a:cs typeface="Arial"/>
              </a:rPr>
              <a:t>known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200" dirty="0">
                <a:latin typeface="Arial"/>
                <a:cs typeface="Arial"/>
              </a:rPr>
              <a:t>as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looping/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iterating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over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file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object.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It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returns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an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empty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string</a:t>
            </a:r>
            <a:r>
              <a:rPr sz="2000" spc="-85" dirty="0">
                <a:latin typeface="Arial"/>
                <a:cs typeface="Arial"/>
              </a:rPr>
              <a:t> when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b="1" dirty="0">
                <a:latin typeface="Courier New"/>
                <a:cs typeface="Courier New"/>
              </a:rPr>
              <a:t>End</a:t>
            </a:r>
            <a:r>
              <a:rPr sz="2000" b="1" spc="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Of</a:t>
            </a:r>
            <a:r>
              <a:rPr sz="2000" b="1" spc="35" dirty="0">
                <a:latin typeface="Courier New"/>
                <a:cs typeface="Courier New"/>
              </a:rPr>
              <a:t> </a:t>
            </a:r>
            <a:r>
              <a:rPr sz="2000" b="1" spc="-20" dirty="0">
                <a:latin typeface="Courier New"/>
                <a:cs typeface="Courier New"/>
              </a:rPr>
              <a:t>File </a:t>
            </a:r>
            <a:r>
              <a:rPr sz="2000" b="1" spc="-10" dirty="0">
                <a:latin typeface="Courier New"/>
                <a:cs typeface="Courier New"/>
              </a:rPr>
              <a:t>(EOF)</a:t>
            </a:r>
            <a:r>
              <a:rPr sz="2000" b="1" spc="-745" dirty="0">
                <a:latin typeface="Courier New"/>
                <a:cs typeface="Courier New"/>
              </a:rPr>
              <a:t> </a:t>
            </a:r>
            <a:r>
              <a:rPr sz="2000" spc="-110" dirty="0">
                <a:latin typeface="Arial"/>
                <a:cs typeface="Arial"/>
              </a:rPr>
              <a:t>is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reached.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9747" y="1859279"/>
            <a:ext cx="5390515" cy="2741930"/>
            <a:chOff x="269747" y="1859279"/>
            <a:chExt cx="5390515" cy="27419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6516" y="1916035"/>
              <a:ext cx="5172075" cy="267577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74319" y="1863851"/>
              <a:ext cx="5381625" cy="2733040"/>
            </a:xfrm>
            <a:custGeom>
              <a:avLst/>
              <a:gdLst/>
              <a:ahLst/>
              <a:cxnLst/>
              <a:rect l="l" t="t" r="r" b="b"/>
              <a:pathLst>
                <a:path w="5381625" h="2733040">
                  <a:moveTo>
                    <a:pt x="0" y="2732532"/>
                  </a:moveTo>
                  <a:lnTo>
                    <a:pt x="5381244" y="2732532"/>
                  </a:lnTo>
                  <a:lnTo>
                    <a:pt x="5381244" y="0"/>
                  </a:lnTo>
                  <a:lnTo>
                    <a:pt x="0" y="0"/>
                  </a:lnTo>
                  <a:lnTo>
                    <a:pt x="0" y="2732532"/>
                  </a:lnTo>
                  <a:close/>
                </a:path>
              </a:pathLst>
            </a:custGeom>
            <a:ln w="9143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252984" y="5024628"/>
            <a:ext cx="3876040" cy="1056640"/>
            <a:chOff x="252984" y="5024628"/>
            <a:chExt cx="3876040" cy="105664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176" y="5033772"/>
              <a:ext cx="3838195" cy="103784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57556" y="5029200"/>
              <a:ext cx="3866515" cy="1047115"/>
            </a:xfrm>
            <a:custGeom>
              <a:avLst/>
              <a:gdLst/>
              <a:ahLst/>
              <a:cxnLst/>
              <a:rect l="l" t="t" r="r" b="b"/>
              <a:pathLst>
                <a:path w="3866515" h="1047114">
                  <a:moveTo>
                    <a:pt x="0" y="1046988"/>
                  </a:moveTo>
                  <a:lnTo>
                    <a:pt x="3866388" y="1046988"/>
                  </a:lnTo>
                  <a:lnTo>
                    <a:pt x="3866388" y="0"/>
                  </a:lnTo>
                  <a:lnTo>
                    <a:pt x="0" y="0"/>
                  </a:lnTo>
                  <a:lnTo>
                    <a:pt x="0" y="1046988"/>
                  </a:lnTo>
                  <a:close/>
                </a:path>
              </a:pathLst>
            </a:custGeom>
            <a:ln w="9143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69747" y="120395"/>
            <a:ext cx="3100070" cy="1574800"/>
            <a:chOff x="269747" y="120395"/>
            <a:chExt cx="3100070" cy="157480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8891" y="153356"/>
              <a:ext cx="3081527" cy="134165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4319" y="124967"/>
              <a:ext cx="3091180" cy="1565275"/>
            </a:xfrm>
            <a:custGeom>
              <a:avLst/>
              <a:gdLst/>
              <a:ahLst/>
              <a:cxnLst/>
              <a:rect l="l" t="t" r="r" b="b"/>
              <a:pathLst>
                <a:path w="3091179" h="1565275">
                  <a:moveTo>
                    <a:pt x="0" y="1565147"/>
                  </a:moveTo>
                  <a:lnTo>
                    <a:pt x="3090672" y="1565147"/>
                  </a:lnTo>
                  <a:lnTo>
                    <a:pt x="3090672" y="0"/>
                  </a:lnTo>
                  <a:lnTo>
                    <a:pt x="0" y="0"/>
                  </a:lnTo>
                  <a:lnTo>
                    <a:pt x="0" y="1565147"/>
                  </a:lnTo>
                  <a:close/>
                </a:path>
              </a:pathLst>
            </a:custGeom>
            <a:ln w="9144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611879" y="818388"/>
            <a:ext cx="1016635" cy="460375"/>
            <a:chOff x="3611879" y="818388"/>
            <a:chExt cx="1016635" cy="460375"/>
          </a:xfrm>
        </p:grpSpPr>
        <p:sp>
          <p:nvSpPr>
            <p:cNvPr id="12" name="object 12"/>
            <p:cNvSpPr/>
            <p:nvPr/>
          </p:nvSpPr>
          <p:spPr>
            <a:xfrm>
              <a:off x="3617975" y="824484"/>
              <a:ext cx="1004569" cy="448309"/>
            </a:xfrm>
            <a:custGeom>
              <a:avLst/>
              <a:gdLst/>
              <a:ahLst/>
              <a:cxnLst/>
              <a:rect l="l" t="t" r="r" b="b"/>
              <a:pathLst>
                <a:path w="1004570" h="448309">
                  <a:moveTo>
                    <a:pt x="224027" y="0"/>
                  </a:moveTo>
                  <a:lnTo>
                    <a:pt x="0" y="224027"/>
                  </a:lnTo>
                  <a:lnTo>
                    <a:pt x="224027" y="448055"/>
                  </a:lnTo>
                  <a:lnTo>
                    <a:pt x="224027" y="336041"/>
                  </a:lnTo>
                  <a:lnTo>
                    <a:pt x="1004315" y="336041"/>
                  </a:lnTo>
                  <a:lnTo>
                    <a:pt x="1004315" y="112013"/>
                  </a:lnTo>
                  <a:lnTo>
                    <a:pt x="224027" y="112013"/>
                  </a:lnTo>
                  <a:lnTo>
                    <a:pt x="22402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17975" y="824484"/>
              <a:ext cx="1004569" cy="448309"/>
            </a:xfrm>
            <a:custGeom>
              <a:avLst/>
              <a:gdLst/>
              <a:ahLst/>
              <a:cxnLst/>
              <a:rect l="l" t="t" r="r" b="b"/>
              <a:pathLst>
                <a:path w="1004570" h="448309">
                  <a:moveTo>
                    <a:pt x="0" y="224027"/>
                  </a:moveTo>
                  <a:lnTo>
                    <a:pt x="224027" y="0"/>
                  </a:lnTo>
                  <a:lnTo>
                    <a:pt x="224027" y="112013"/>
                  </a:lnTo>
                  <a:lnTo>
                    <a:pt x="1004315" y="112013"/>
                  </a:lnTo>
                  <a:lnTo>
                    <a:pt x="1004315" y="336041"/>
                  </a:lnTo>
                  <a:lnTo>
                    <a:pt x="224027" y="336041"/>
                  </a:lnTo>
                  <a:lnTo>
                    <a:pt x="224027" y="448055"/>
                  </a:lnTo>
                  <a:lnTo>
                    <a:pt x="0" y="224027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971290" y="278333"/>
            <a:ext cx="122745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File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45" dirty="0">
                <a:latin typeface="Arial"/>
                <a:cs typeface="Arial"/>
              </a:rPr>
              <a:t>‘example.txt’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899403" y="914400"/>
            <a:ext cx="6285230" cy="3286125"/>
            <a:chOff x="5899403" y="897636"/>
            <a:chExt cx="6285230" cy="3286125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08547" y="906780"/>
              <a:ext cx="6266688" cy="326745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903975" y="902208"/>
              <a:ext cx="6276340" cy="3276600"/>
            </a:xfrm>
            <a:custGeom>
              <a:avLst/>
              <a:gdLst/>
              <a:ahLst/>
              <a:cxnLst/>
              <a:rect l="l" t="t" r="r" b="b"/>
              <a:pathLst>
                <a:path w="6276340" h="3276600">
                  <a:moveTo>
                    <a:pt x="0" y="3276600"/>
                  </a:moveTo>
                  <a:lnTo>
                    <a:pt x="6275832" y="3276600"/>
                  </a:lnTo>
                  <a:lnTo>
                    <a:pt x="6275832" y="0"/>
                  </a:lnTo>
                  <a:lnTo>
                    <a:pt x="0" y="0"/>
                  </a:lnTo>
                  <a:lnTo>
                    <a:pt x="0" y="3276600"/>
                  </a:lnTo>
                  <a:close/>
                </a:path>
              </a:pathLst>
            </a:custGeom>
            <a:ln w="9143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5899403" y="4744211"/>
            <a:ext cx="4733925" cy="1618615"/>
            <a:chOff x="5899403" y="4744211"/>
            <a:chExt cx="4733925" cy="1618615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08547" y="4753355"/>
              <a:ext cx="4715256" cy="16002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903975" y="4748783"/>
              <a:ext cx="4724400" cy="1609725"/>
            </a:xfrm>
            <a:custGeom>
              <a:avLst/>
              <a:gdLst/>
              <a:ahLst/>
              <a:cxnLst/>
              <a:rect l="l" t="t" r="r" b="b"/>
              <a:pathLst>
                <a:path w="4724400" h="1609725">
                  <a:moveTo>
                    <a:pt x="0" y="1609343"/>
                  </a:moveTo>
                  <a:lnTo>
                    <a:pt x="4724400" y="1609343"/>
                  </a:lnTo>
                  <a:lnTo>
                    <a:pt x="4724400" y="0"/>
                  </a:lnTo>
                  <a:lnTo>
                    <a:pt x="0" y="0"/>
                  </a:lnTo>
                  <a:lnTo>
                    <a:pt x="0" y="1609343"/>
                  </a:lnTo>
                  <a:close/>
                </a:path>
              </a:pathLst>
            </a:custGeom>
            <a:ln w="9143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987541" y="4251452"/>
            <a:ext cx="7854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95" dirty="0">
                <a:latin typeface="Arial"/>
                <a:cs typeface="Arial"/>
              </a:rPr>
              <a:t>Output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1068" y="4651628"/>
            <a:ext cx="7854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95" dirty="0">
                <a:latin typeface="Arial"/>
                <a:cs typeface="Arial"/>
              </a:rPr>
              <a:t>Output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772" y="321056"/>
            <a:ext cx="9137650" cy="121602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2400" b="1" spc="-95" dirty="0">
                <a:solidFill>
                  <a:srgbClr val="FF0000"/>
                </a:solidFill>
                <a:latin typeface="Arial"/>
                <a:cs typeface="Arial"/>
              </a:rPr>
              <a:t>4.5.2</a:t>
            </a:r>
            <a:r>
              <a:rPr sz="2400" b="1" spc="-1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21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400" b="1" spc="-1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latin typeface="Courier New"/>
                <a:cs typeface="Courier New"/>
              </a:rPr>
              <a:t>readlines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method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370"/>
              </a:spcBef>
            </a:pPr>
            <a:r>
              <a:rPr sz="2400" spc="-185" dirty="0"/>
              <a:t>The</a:t>
            </a:r>
            <a:r>
              <a:rPr sz="2400" spc="-95" dirty="0"/>
              <a:t> </a:t>
            </a:r>
            <a:r>
              <a:rPr sz="2400" spc="-60" dirty="0"/>
              <a:t>method</a:t>
            </a:r>
            <a:r>
              <a:rPr sz="2400" spc="-120" dirty="0"/>
              <a:t> </a:t>
            </a:r>
            <a:r>
              <a:rPr sz="2400" spc="-150" dirty="0"/>
              <a:t>reads</a:t>
            </a:r>
            <a:r>
              <a:rPr sz="2400" spc="-105" dirty="0"/>
              <a:t> </a:t>
            </a:r>
            <a:r>
              <a:rPr sz="2400" spc="-65" dirty="0"/>
              <a:t>all</a:t>
            </a:r>
            <a:r>
              <a:rPr sz="2400" spc="-105" dirty="0"/>
              <a:t> </a:t>
            </a:r>
            <a:r>
              <a:rPr sz="2400" spc="-40" dirty="0"/>
              <a:t>the</a:t>
            </a:r>
            <a:r>
              <a:rPr sz="2400" spc="-114" dirty="0"/>
              <a:t> </a:t>
            </a:r>
            <a:r>
              <a:rPr sz="2400" spc="-90" dirty="0"/>
              <a:t>lines</a:t>
            </a:r>
            <a:r>
              <a:rPr sz="2400" spc="-105" dirty="0"/>
              <a:t> </a:t>
            </a:r>
            <a:r>
              <a:rPr sz="2400" spc="-130" dirty="0"/>
              <a:t>and</a:t>
            </a:r>
            <a:r>
              <a:rPr sz="2400" spc="-110" dirty="0"/>
              <a:t> </a:t>
            </a:r>
            <a:r>
              <a:rPr sz="2400" spc="-65" dirty="0"/>
              <a:t>returns</a:t>
            </a:r>
            <a:r>
              <a:rPr sz="2400" spc="-105" dirty="0"/>
              <a:t> </a:t>
            </a:r>
            <a:r>
              <a:rPr sz="2400" spc="-35" dirty="0"/>
              <a:t>the</a:t>
            </a:r>
            <a:r>
              <a:rPr sz="2400" spc="-105" dirty="0"/>
              <a:t> </a:t>
            </a:r>
            <a:r>
              <a:rPr sz="2400" spc="-100" dirty="0"/>
              <a:t>lines</a:t>
            </a:r>
            <a:r>
              <a:rPr sz="2400" spc="-105" dirty="0"/>
              <a:t> </a:t>
            </a:r>
            <a:r>
              <a:rPr sz="2400" spc="-110" dirty="0"/>
              <a:t>along</a:t>
            </a:r>
            <a:r>
              <a:rPr sz="2400" spc="-120" dirty="0"/>
              <a:t> </a:t>
            </a:r>
            <a:r>
              <a:rPr sz="2400" dirty="0"/>
              <a:t>with</a:t>
            </a:r>
            <a:r>
              <a:rPr sz="2400" spc="-114" dirty="0"/>
              <a:t> </a:t>
            </a:r>
            <a:r>
              <a:rPr sz="2400" spc="-70" dirty="0"/>
              <a:t>newline</a:t>
            </a:r>
            <a:r>
              <a:rPr sz="2400" spc="-105" dirty="0"/>
              <a:t> </a:t>
            </a:r>
            <a:r>
              <a:rPr sz="2400" spc="-25" dirty="0"/>
              <a:t>as </a:t>
            </a:r>
            <a:r>
              <a:rPr sz="2400" spc="-195" dirty="0"/>
              <a:t>a</a:t>
            </a:r>
            <a:r>
              <a:rPr sz="2400" spc="-125" dirty="0"/>
              <a:t> </a:t>
            </a:r>
            <a:r>
              <a:rPr sz="2400" spc="-35" dirty="0"/>
              <a:t>list</a:t>
            </a:r>
            <a:r>
              <a:rPr sz="2400" spc="-140" dirty="0"/>
              <a:t> </a:t>
            </a:r>
            <a:r>
              <a:rPr sz="2400" dirty="0"/>
              <a:t>of</a:t>
            </a:r>
            <a:r>
              <a:rPr sz="2400" spc="-140" dirty="0"/>
              <a:t> </a:t>
            </a:r>
            <a:r>
              <a:rPr sz="2400" spc="-10" dirty="0"/>
              <a:t>strings.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2221738" y="1871599"/>
            <a:ext cx="7799070" cy="35007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ourier New"/>
                <a:cs typeface="Courier New"/>
              </a:rPr>
              <a:t>&gt;&gt;&gt;</a:t>
            </a:r>
            <a:r>
              <a:rPr sz="2000" b="1" spc="-8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myobject=open("myfile.txt",</a:t>
            </a:r>
            <a:r>
              <a:rPr sz="2000" b="1" spc="-70" dirty="0">
                <a:latin typeface="Courier New"/>
                <a:cs typeface="Courier New"/>
              </a:rPr>
              <a:t> </a:t>
            </a:r>
            <a:r>
              <a:rPr sz="2000" b="1" spc="-20" dirty="0">
                <a:latin typeface="Courier New"/>
                <a:cs typeface="Courier New"/>
              </a:rPr>
              <a:t>'r')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&gt;&gt;&gt;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print(myobject.readlines())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['Hello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everyone\n',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'Writing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multiline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strings\n',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'This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is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the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third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line']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&gt;&gt;&gt;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myobject.close()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2000" spc="-210" dirty="0">
                <a:latin typeface="Arial"/>
                <a:cs typeface="Arial"/>
              </a:rPr>
              <a:t>As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shown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in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above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output,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70" dirty="0">
                <a:latin typeface="Arial"/>
                <a:cs typeface="Arial"/>
              </a:rPr>
              <a:t>when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we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read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using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readlines()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function,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lines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in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become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100" dirty="0">
                <a:latin typeface="Arial"/>
                <a:cs typeface="Arial"/>
              </a:rPr>
              <a:t>members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list,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75" dirty="0">
                <a:latin typeface="Arial"/>
                <a:cs typeface="Arial"/>
              </a:rPr>
              <a:t>where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35" dirty="0">
                <a:latin typeface="Arial"/>
                <a:cs typeface="Arial"/>
              </a:rPr>
              <a:t>each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list</a:t>
            </a:r>
            <a:r>
              <a:rPr sz="2000" spc="-60" dirty="0">
                <a:latin typeface="Arial"/>
                <a:cs typeface="Arial"/>
              </a:rPr>
              <a:t> element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ends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with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newline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character </a:t>
            </a:r>
            <a:r>
              <a:rPr sz="2000" spc="-10" dirty="0">
                <a:latin typeface="Arial"/>
                <a:cs typeface="Arial"/>
              </a:rPr>
              <a:t>(‘\n’).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6240" y="1827276"/>
            <a:ext cx="7812405" cy="2956560"/>
            <a:chOff x="396240" y="1827276"/>
            <a:chExt cx="7812405" cy="29565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2785" y="1866024"/>
              <a:ext cx="7571692" cy="284945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00812" y="1831848"/>
              <a:ext cx="7802880" cy="2947670"/>
            </a:xfrm>
            <a:custGeom>
              <a:avLst/>
              <a:gdLst/>
              <a:ahLst/>
              <a:cxnLst/>
              <a:rect l="l" t="t" r="r" b="b"/>
              <a:pathLst>
                <a:path w="7802880" h="2947670">
                  <a:moveTo>
                    <a:pt x="0" y="2947416"/>
                  </a:moveTo>
                  <a:lnTo>
                    <a:pt x="7802880" y="2947416"/>
                  </a:lnTo>
                  <a:lnTo>
                    <a:pt x="7802880" y="0"/>
                  </a:lnTo>
                  <a:lnTo>
                    <a:pt x="0" y="0"/>
                  </a:lnTo>
                  <a:lnTo>
                    <a:pt x="0" y="2947416"/>
                  </a:lnTo>
                  <a:close/>
                </a:path>
              </a:pathLst>
            </a:custGeom>
            <a:ln w="9144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275843" y="120395"/>
            <a:ext cx="3100070" cy="1574800"/>
            <a:chOff x="275843" y="120395"/>
            <a:chExt cx="3100070" cy="15748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987" y="153356"/>
              <a:ext cx="3081528" cy="13416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0415" y="124967"/>
              <a:ext cx="3091180" cy="1565275"/>
            </a:xfrm>
            <a:custGeom>
              <a:avLst/>
              <a:gdLst/>
              <a:ahLst/>
              <a:cxnLst/>
              <a:rect l="l" t="t" r="r" b="b"/>
              <a:pathLst>
                <a:path w="3091179" h="1565275">
                  <a:moveTo>
                    <a:pt x="0" y="1565147"/>
                  </a:moveTo>
                  <a:lnTo>
                    <a:pt x="3090672" y="1565147"/>
                  </a:lnTo>
                  <a:lnTo>
                    <a:pt x="3090672" y="0"/>
                  </a:lnTo>
                  <a:lnTo>
                    <a:pt x="0" y="0"/>
                  </a:lnTo>
                  <a:lnTo>
                    <a:pt x="0" y="1565147"/>
                  </a:lnTo>
                  <a:close/>
                </a:path>
              </a:pathLst>
            </a:custGeom>
            <a:ln w="9143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611879" y="818388"/>
            <a:ext cx="1016635" cy="460375"/>
            <a:chOff x="3611879" y="818388"/>
            <a:chExt cx="1016635" cy="460375"/>
          </a:xfrm>
        </p:grpSpPr>
        <p:sp>
          <p:nvSpPr>
            <p:cNvPr id="9" name="object 9"/>
            <p:cNvSpPr/>
            <p:nvPr/>
          </p:nvSpPr>
          <p:spPr>
            <a:xfrm>
              <a:off x="3617975" y="824484"/>
              <a:ext cx="1004569" cy="448309"/>
            </a:xfrm>
            <a:custGeom>
              <a:avLst/>
              <a:gdLst/>
              <a:ahLst/>
              <a:cxnLst/>
              <a:rect l="l" t="t" r="r" b="b"/>
              <a:pathLst>
                <a:path w="1004570" h="448309">
                  <a:moveTo>
                    <a:pt x="224027" y="0"/>
                  </a:moveTo>
                  <a:lnTo>
                    <a:pt x="0" y="224027"/>
                  </a:lnTo>
                  <a:lnTo>
                    <a:pt x="224027" y="448055"/>
                  </a:lnTo>
                  <a:lnTo>
                    <a:pt x="224027" y="336041"/>
                  </a:lnTo>
                  <a:lnTo>
                    <a:pt x="1004315" y="336041"/>
                  </a:lnTo>
                  <a:lnTo>
                    <a:pt x="1004315" y="112013"/>
                  </a:lnTo>
                  <a:lnTo>
                    <a:pt x="224027" y="112013"/>
                  </a:lnTo>
                  <a:lnTo>
                    <a:pt x="22402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17975" y="824484"/>
              <a:ext cx="1004569" cy="448309"/>
            </a:xfrm>
            <a:custGeom>
              <a:avLst/>
              <a:gdLst/>
              <a:ahLst/>
              <a:cxnLst/>
              <a:rect l="l" t="t" r="r" b="b"/>
              <a:pathLst>
                <a:path w="1004570" h="448309">
                  <a:moveTo>
                    <a:pt x="0" y="224027"/>
                  </a:moveTo>
                  <a:lnTo>
                    <a:pt x="224027" y="0"/>
                  </a:lnTo>
                  <a:lnTo>
                    <a:pt x="224027" y="112013"/>
                  </a:lnTo>
                  <a:lnTo>
                    <a:pt x="1004315" y="112013"/>
                  </a:lnTo>
                  <a:lnTo>
                    <a:pt x="1004315" y="336041"/>
                  </a:lnTo>
                  <a:lnTo>
                    <a:pt x="224027" y="336041"/>
                  </a:lnTo>
                  <a:lnTo>
                    <a:pt x="224027" y="448055"/>
                  </a:lnTo>
                  <a:lnTo>
                    <a:pt x="0" y="224027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77132" y="278333"/>
            <a:ext cx="122682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File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45" dirty="0">
                <a:latin typeface="Arial"/>
                <a:cs typeface="Arial"/>
              </a:rPr>
              <a:t>‘example.txt’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8891" y="5338571"/>
            <a:ext cx="4242816" cy="135788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28904" y="4874514"/>
            <a:ext cx="7854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95" dirty="0">
                <a:latin typeface="Arial"/>
                <a:cs typeface="Arial"/>
              </a:rPr>
              <a:t>Output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80489" y="496570"/>
            <a:ext cx="8427720" cy="49980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95" dirty="0">
                <a:latin typeface="Arial"/>
                <a:cs typeface="Arial"/>
              </a:rPr>
              <a:t>In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spc="-225" dirty="0">
                <a:latin typeface="Arial"/>
                <a:cs typeface="Arial"/>
              </a:rPr>
              <a:t>case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spc="-110" dirty="0">
                <a:latin typeface="Arial"/>
                <a:cs typeface="Arial"/>
              </a:rPr>
              <a:t>we</a:t>
            </a:r>
            <a:r>
              <a:rPr sz="2000" b="1" spc="-100" dirty="0">
                <a:latin typeface="Arial"/>
                <a:cs typeface="Arial"/>
              </a:rPr>
              <a:t> want </a:t>
            </a:r>
            <a:r>
              <a:rPr sz="2000" b="1" spc="-80" dirty="0">
                <a:latin typeface="Arial"/>
                <a:cs typeface="Arial"/>
              </a:rPr>
              <a:t>to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spc="-160" dirty="0">
                <a:latin typeface="Arial"/>
                <a:cs typeface="Arial"/>
              </a:rPr>
              <a:t>display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spc="-180" dirty="0">
                <a:latin typeface="Arial"/>
                <a:cs typeface="Arial"/>
              </a:rPr>
              <a:t>each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spc="-125" dirty="0">
                <a:latin typeface="Arial"/>
                <a:cs typeface="Arial"/>
              </a:rPr>
              <a:t>word</a:t>
            </a:r>
            <a:r>
              <a:rPr sz="2000" b="1" spc="-105" dirty="0">
                <a:latin typeface="Arial"/>
                <a:cs typeface="Arial"/>
              </a:rPr>
              <a:t> of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40" dirty="0">
                <a:latin typeface="Arial"/>
                <a:cs typeface="Arial"/>
              </a:rPr>
              <a:t>a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spc="-100" dirty="0">
                <a:latin typeface="Arial"/>
                <a:cs typeface="Arial"/>
              </a:rPr>
              <a:t>line </a:t>
            </a:r>
            <a:r>
              <a:rPr sz="2000" b="1" spc="-135" dirty="0">
                <a:latin typeface="Arial"/>
                <a:cs typeface="Arial"/>
              </a:rPr>
              <a:t>separately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spc="-229" dirty="0">
                <a:latin typeface="Arial"/>
                <a:cs typeface="Arial"/>
              </a:rPr>
              <a:t>as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spc="-150" dirty="0">
                <a:latin typeface="Arial"/>
                <a:cs typeface="Arial"/>
              </a:rPr>
              <a:t>an</a:t>
            </a:r>
            <a:r>
              <a:rPr sz="2000" b="1" spc="-100" dirty="0">
                <a:latin typeface="Arial"/>
                <a:cs typeface="Arial"/>
              </a:rPr>
              <a:t> element </a:t>
            </a:r>
            <a:r>
              <a:rPr sz="2000" b="1" spc="-105" dirty="0">
                <a:latin typeface="Arial"/>
                <a:cs typeface="Arial"/>
              </a:rPr>
              <a:t>of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spc="-140" dirty="0">
                <a:latin typeface="Arial"/>
                <a:cs typeface="Arial"/>
              </a:rPr>
              <a:t>a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list</a:t>
            </a:r>
            <a:r>
              <a:rPr sz="2000" spc="-10" dirty="0">
                <a:latin typeface="Arial"/>
                <a:cs typeface="Arial"/>
              </a:rPr>
              <a:t>,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35" dirty="0">
                <a:latin typeface="Arial"/>
                <a:cs typeface="Arial"/>
              </a:rPr>
              <a:t>then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we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140" dirty="0">
                <a:latin typeface="Arial"/>
                <a:cs typeface="Arial"/>
              </a:rPr>
              <a:t>can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145" dirty="0">
                <a:latin typeface="Arial"/>
                <a:cs typeface="Arial"/>
              </a:rPr>
              <a:t>use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b="1" dirty="0">
                <a:latin typeface="Courier New"/>
                <a:cs typeface="Courier New"/>
              </a:rPr>
              <a:t>split()</a:t>
            </a:r>
            <a:r>
              <a:rPr sz="2000" b="1" spc="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Arial"/>
                <a:cs typeface="Arial"/>
              </a:rPr>
              <a:t>function.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15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following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code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demonstrates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35" dirty="0">
                <a:latin typeface="Arial"/>
                <a:cs typeface="Arial"/>
              </a:rPr>
              <a:t>use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b="1" dirty="0">
                <a:latin typeface="Courier New"/>
                <a:cs typeface="Courier New"/>
              </a:rPr>
              <a:t>split()</a:t>
            </a:r>
            <a:r>
              <a:rPr sz="2000" b="1" spc="2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Arial"/>
                <a:cs typeface="Arial"/>
              </a:rPr>
              <a:t>function.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50">
              <a:latin typeface="Arial"/>
              <a:cs typeface="Arial"/>
            </a:endParaRPr>
          </a:p>
          <a:p>
            <a:pPr marL="1359535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&gt;&gt;&gt;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myobject=open("myfile.txt",'r')</a:t>
            </a:r>
            <a:endParaRPr sz="2000">
              <a:latin typeface="Courier New"/>
              <a:cs typeface="Courier New"/>
            </a:endParaRPr>
          </a:p>
          <a:p>
            <a:pPr marL="1359535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&gt;&gt;&gt;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d=myobject.readlines()</a:t>
            </a:r>
            <a:endParaRPr sz="2000">
              <a:latin typeface="Courier New"/>
              <a:cs typeface="Courier New"/>
            </a:endParaRPr>
          </a:p>
          <a:p>
            <a:pPr marL="1359535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&gt;&gt;&gt;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for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line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in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25" dirty="0">
                <a:latin typeface="Courier New"/>
                <a:cs typeface="Courier New"/>
              </a:rPr>
              <a:t>d:</a:t>
            </a:r>
            <a:endParaRPr sz="2000">
              <a:latin typeface="Courier New"/>
              <a:cs typeface="Courier New"/>
            </a:endParaRPr>
          </a:p>
          <a:p>
            <a:pPr marL="3188335" marR="2487930">
              <a:lnSpc>
                <a:spcPct val="100000"/>
              </a:lnSpc>
            </a:pPr>
            <a:r>
              <a:rPr sz="2000" b="1" spc="-10" dirty="0">
                <a:latin typeface="Courier New"/>
                <a:cs typeface="Courier New"/>
              </a:rPr>
              <a:t>words=line.split() print(words)</a:t>
            </a:r>
            <a:endParaRPr sz="2000">
              <a:latin typeface="Courier New"/>
              <a:cs typeface="Courier New"/>
            </a:endParaRPr>
          </a:p>
          <a:p>
            <a:pPr marL="1359535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['Hello',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'everyone']</a:t>
            </a:r>
            <a:endParaRPr sz="2000">
              <a:latin typeface="Courier New"/>
              <a:cs typeface="Courier New"/>
            </a:endParaRPr>
          </a:p>
          <a:p>
            <a:pPr marL="1359535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['Writing',</a:t>
            </a:r>
            <a:r>
              <a:rPr sz="2000" b="1" spc="-6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'multiline',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'strings']</a:t>
            </a:r>
            <a:endParaRPr sz="2000">
              <a:latin typeface="Courier New"/>
              <a:cs typeface="Courier New"/>
            </a:endParaRPr>
          </a:p>
          <a:p>
            <a:pPr marL="1359535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Courier New"/>
                <a:cs typeface="Courier New"/>
              </a:rPr>
              <a:t>['This',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'is',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'the',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'third',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'line']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550">
              <a:latin typeface="Courier New"/>
              <a:cs typeface="Courier New"/>
            </a:endParaRPr>
          </a:p>
          <a:p>
            <a:pPr marL="1766570">
              <a:lnSpc>
                <a:spcPct val="100000"/>
              </a:lnSpc>
            </a:pPr>
            <a:r>
              <a:rPr sz="2000" spc="-70" dirty="0">
                <a:latin typeface="Arial"/>
                <a:cs typeface="Arial"/>
              </a:rPr>
              <a:t>In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output,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35" dirty="0">
                <a:latin typeface="Arial"/>
                <a:cs typeface="Arial"/>
              </a:rPr>
              <a:t>each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string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is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returned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200" dirty="0">
                <a:latin typeface="Arial"/>
                <a:cs typeface="Arial"/>
              </a:rPr>
              <a:t>as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elements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list.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5843" y="120395"/>
            <a:ext cx="3100070" cy="1574800"/>
            <a:chOff x="275843" y="120395"/>
            <a:chExt cx="3100070" cy="1574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4987" y="153356"/>
              <a:ext cx="3081528" cy="13416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80415" y="124967"/>
              <a:ext cx="3091180" cy="1565275"/>
            </a:xfrm>
            <a:custGeom>
              <a:avLst/>
              <a:gdLst/>
              <a:ahLst/>
              <a:cxnLst/>
              <a:rect l="l" t="t" r="r" b="b"/>
              <a:pathLst>
                <a:path w="3091179" h="1565275">
                  <a:moveTo>
                    <a:pt x="0" y="1565147"/>
                  </a:moveTo>
                  <a:lnTo>
                    <a:pt x="3090672" y="1565147"/>
                  </a:lnTo>
                  <a:lnTo>
                    <a:pt x="3090672" y="0"/>
                  </a:lnTo>
                  <a:lnTo>
                    <a:pt x="0" y="0"/>
                  </a:lnTo>
                  <a:lnTo>
                    <a:pt x="0" y="1565147"/>
                  </a:lnTo>
                  <a:close/>
                </a:path>
              </a:pathLst>
            </a:custGeom>
            <a:ln w="9143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3611879" y="818388"/>
            <a:ext cx="1016635" cy="460375"/>
            <a:chOff x="3611879" y="818388"/>
            <a:chExt cx="1016635" cy="460375"/>
          </a:xfrm>
        </p:grpSpPr>
        <p:sp>
          <p:nvSpPr>
            <p:cNvPr id="6" name="object 6"/>
            <p:cNvSpPr/>
            <p:nvPr/>
          </p:nvSpPr>
          <p:spPr>
            <a:xfrm>
              <a:off x="3617975" y="824484"/>
              <a:ext cx="1004569" cy="448309"/>
            </a:xfrm>
            <a:custGeom>
              <a:avLst/>
              <a:gdLst/>
              <a:ahLst/>
              <a:cxnLst/>
              <a:rect l="l" t="t" r="r" b="b"/>
              <a:pathLst>
                <a:path w="1004570" h="448309">
                  <a:moveTo>
                    <a:pt x="224027" y="0"/>
                  </a:moveTo>
                  <a:lnTo>
                    <a:pt x="0" y="224027"/>
                  </a:lnTo>
                  <a:lnTo>
                    <a:pt x="224027" y="448055"/>
                  </a:lnTo>
                  <a:lnTo>
                    <a:pt x="224027" y="336041"/>
                  </a:lnTo>
                  <a:lnTo>
                    <a:pt x="1004315" y="336041"/>
                  </a:lnTo>
                  <a:lnTo>
                    <a:pt x="1004315" y="112013"/>
                  </a:lnTo>
                  <a:lnTo>
                    <a:pt x="224027" y="112013"/>
                  </a:lnTo>
                  <a:lnTo>
                    <a:pt x="22402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17975" y="824484"/>
              <a:ext cx="1004569" cy="448309"/>
            </a:xfrm>
            <a:custGeom>
              <a:avLst/>
              <a:gdLst/>
              <a:ahLst/>
              <a:cxnLst/>
              <a:rect l="l" t="t" r="r" b="b"/>
              <a:pathLst>
                <a:path w="1004570" h="448309">
                  <a:moveTo>
                    <a:pt x="0" y="224027"/>
                  </a:moveTo>
                  <a:lnTo>
                    <a:pt x="224027" y="0"/>
                  </a:lnTo>
                  <a:lnTo>
                    <a:pt x="224027" y="112013"/>
                  </a:lnTo>
                  <a:lnTo>
                    <a:pt x="1004315" y="112013"/>
                  </a:lnTo>
                  <a:lnTo>
                    <a:pt x="1004315" y="336041"/>
                  </a:lnTo>
                  <a:lnTo>
                    <a:pt x="224027" y="336041"/>
                  </a:lnTo>
                  <a:lnTo>
                    <a:pt x="224027" y="448055"/>
                  </a:lnTo>
                  <a:lnTo>
                    <a:pt x="0" y="224027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977132" y="278333"/>
            <a:ext cx="122745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File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45" dirty="0">
                <a:latin typeface="Arial"/>
                <a:cs typeface="Arial"/>
              </a:rPr>
              <a:t>‘example.txt’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3727" y="5198745"/>
            <a:ext cx="7854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95" dirty="0">
                <a:latin typeface="Arial"/>
                <a:cs typeface="Arial"/>
              </a:rPr>
              <a:t>Output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0604" y="5494020"/>
            <a:ext cx="5396484" cy="1202436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275843" y="1897379"/>
            <a:ext cx="6711950" cy="3136900"/>
            <a:chOff x="275843" y="1897379"/>
            <a:chExt cx="6711950" cy="313690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3105" y="1914147"/>
              <a:ext cx="6449456" cy="311048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80415" y="1901951"/>
              <a:ext cx="6703059" cy="3127375"/>
            </a:xfrm>
            <a:custGeom>
              <a:avLst/>
              <a:gdLst/>
              <a:ahLst/>
              <a:cxnLst/>
              <a:rect l="l" t="t" r="r" b="b"/>
              <a:pathLst>
                <a:path w="6703059" h="3127375">
                  <a:moveTo>
                    <a:pt x="0" y="3127248"/>
                  </a:moveTo>
                  <a:lnTo>
                    <a:pt x="6702552" y="3127248"/>
                  </a:lnTo>
                  <a:lnTo>
                    <a:pt x="6702552" y="0"/>
                  </a:lnTo>
                  <a:lnTo>
                    <a:pt x="0" y="0"/>
                  </a:lnTo>
                  <a:lnTo>
                    <a:pt x="0" y="3127248"/>
                  </a:lnTo>
                  <a:close/>
                </a:path>
              </a:pathLst>
            </a:custGeom>
            <a:ln w="9144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28" y="301244"/>
            <a:ext cx="59861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/>
              <a:t>However,</a:t>
            </a:r>
            <a:r>
              <a:rPr sz="1800" spc="-65" dirty="0"/>
              <a:t> </a:t>
            </a:r>
            <a:r>
              <a:rPr sz="1800" dirty="0"/>
              <a:t>if</a:t>
            </a:r>
            <a:r>
              <a:rPr sz="1800" spc="-80" dirty="0"/>
              <a:t> </a:t>
            </a:r>
            <a:r>
              <a:rPr b="1" dirty="0">
                <a:latin typeface="Courier New"/>
                <a:cs typeface="Courier New"/>
              </a:rPr>
              <a:t>splitlines()</a:t>
            </a:r>
            <a:r>
              <a:rPr b="1" spc="30" dirty="0">
                <a:latin typeface="Courier New"/>
                <a:cs typeface="Courier New"/>
              </a:rPr>
              <a:t> </a:t>
            </a:r>
            <a:r>
              <a:rPr sz="1800" spc="-105" dirty="0"/>
              <a:t>is</a:t>
            </a:r>
            <a:r>
              <a:rPr sz="1800" spc="-65" dirty="0"/>
              <a:t> </a:t>
            </a:r>
            <a:r>
              <a:rPr sz="1800" spc="-120" dirty="0"/>
              <a:t>used</a:t>
            </a:r>
            <a:r>
              <a:rPr sz="1800" spc="-80" dirty="0"/>
              <a:t> </a:t>
            </a:r>
            <a:r>
              <a:rPr sz="1800" spc="-85" dirty="0"/>
              <a:t>instead</a:t>
            </a:r>
            <a:r>
              <a:rPr sz="1800" spc="-70" dirty="0"/>
              <a:t> </a:t>
            </a:r>
            <a:r>
              <a:rPr sz="1800" dirty="0"/>
              <a:t>of</a:t>
            </a:r>
            <a:r>
              <a:rPr sz="1800" spc="-65" dirty="0"/>
              <a:t> </a:t>
            </a:r>
            <a:r>
              <a:rPr b="1" spc="-10" dirty="0">
                <a:latin typeface="Courier New"/>
                <a:cs typeface="Courier New"/>
              </a:rPr>
              <a:t>split(),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0228" y="926338"/>
            <a:ext cx="7271384" cy="3050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Arial"/>
                <a:cs typeface="Arial"/>
              </a:rPr>
              <a:t>then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130" dirty="0">
                <a:latin typeface="Arial"/>
                <a:cs typeface="Arial"/>
              </a:rPr>
              <a:t>each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line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105" dirty="0">
                <a:latin typeface="Arial"/>
                <a:cs typeface="Arial"/>
              </a:rPr>
              <a:t>is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40" dirty="0">
                <a:latin typeface="Arial"/>
                <a:cs typeface="Arial"/>
              </a:rPr>
              <a:t>returned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180" dirty="0">
                <a:latin typeface="Arial"/>
                <a:cs typeface="Arial"/>
              </a:rPr>
              <a:t>as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element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150" dirty="0">
                <a:latin typeface="Arial"/>
                <a:cs typeface="Arial"/>
              </a:rPr>
              <a:t>a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list,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180" dirty="0">
                <a:latin typeface="Arial"/>
                <a:cs typeface="Arial"/>
              </a:rPr>
              <a:t>as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shown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30" dirty="0">
                <a:latin typeface="Arial"/>
                <a:cs typeface="Arial"/>
              </a:rPr>
              <a:t>in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the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output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below: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50">
              <a:latin typeface="Arial"/>
              <a:cs typeface="Arial"/>
            </a:endParaRPr>
          </a:p>
          <a:p>
            <a:pPr marL="1923414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&gt;&gt;&gt;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for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line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in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25" dirty="0">
                <a:latin typeface="Courier New"/>
                <a:cs typeface="Courier New"/>
              </a:rPr>
              <a:t>d:</a:t>
            </a:r>
            <a:endParaRPr sz="2000">
              <a:latin typeface="Courier New"/>
              <a:cs typeface="Courier New"/>
            </a:endParaRPr>
          </a:p>
          <a:p>
            <a:pPr marL="3752850" marR="5080">
              <a:lnSpc>
                <a:spcPct val="100000"/>
              </a:lnSpc>
            </a:pPr>
            <a:r>
              <a:rPr sz="2000" b="1" spc="-10" dirty="0">
                <a:latin typeface="Courier New"/>
                <a:cs typeface="Courier New"/>
              </a:rPr>
              <a:t>words=line.splitlines() print(words)</a:t>
            </a:r>
            <a:endParaRPr sz="2000">
              <a:latin typeface="Courier New"/>
              <a:cs typeface="Courier New"/>
            </a:endParaRPr>
          </a:p>
          <a:p>
            <a:pPr marL="1923414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['Hello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everyone']</a:t>
            </a:r>
            <a:endParaRPr sz="2000">
              <a:latin typeface="Courier New"/>
              <a:cs typeface="Courier New"/>
            </a:endParaRPr>
          </a:p>
          <a:p>
            <a:pPr marL="1923414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['Writing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multiline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strings']</a:t>
            </a:r>
            <a:endParaRPr sz="2000">
              <a:latin typeface="Courier New"/>
              <a:cs typeface="Courier New"/>
            </a:endParaRPr>
          </a:p>
          <a:p>
            <a:pPr marL="1923414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['This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is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the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third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line']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5843" y="120395"/>
            <a:ext cx="3100070" cy="1574800"/>
            <a:chOff x="275843" y="120395"/>
            <a:chExt cx="3100070" cy="1574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4987" y="153356"/>
              <a:ext cx="3081528" cy="13416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80415" y="124967"/>
              <a:ext cx="3091180" cy="1565275"/>
            </a:xfrm>
            <a:custGeom>
              <a:avLst/>
              <a:gdLst/>
              <a:ahLst/>
              <a:cxnLst/>
              <a:rect l="l" t="t" r="r" b="b"/>
              <a:pathLst>
                <a:path w="3091179" h="1565275">
                  <a:moveTo>
                    <a:pt x="0" y="1565147"/>
                  </a:moveTo>
                  <a:lnTo>
                    <a:pt x="3090672" y="1565147"/>
                  </a:lnTo>
                  <a:lnTo>
                    <a:pt x="3090672" y="0"/>
                  </a:lnTo>
                  <a:lnTo>
                    <a:pt x="0" y="0"/>
                  </a:lnTo>
                  <a:lnTo>
                    <a:pt x="0" y="1565147"/>
                  </a:lnTo>
                  <a:close/>
                </a:path>
              </a:pathLst>
            </a:custGeom>
            <a:ln w="9143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3611879" y="818388"/>
            <a:ext cx="1016635" cy="460375"/>
            <a:chOff x="3611879" y="818388"/>
            <a:chExt cx="1016635" cy="460375"/>
          </a:xfrm>
        </p:grpSpPr>
        <p:sp>
          <p:nvSpPr>
            <p:cNvPr id="6" name="object 6"/>
            <p:cNvSpPr/>
            <p:nvPr/>
          </p:nvSpPr>
          <p:spPr>
            <a:xfrm>
              <a:off x="3617975" y="824484"/>
              <a:ext cx="1004569" cy="448309"/>
            </a:xfrm>
            <a:custGeom>
              <a:avLst/>
              <a:gdLst/>
              <a:ahLst/>
              <a:cxnLst/>
              <a:rect l="l" t="t" r="r" b="b"/>
              <a:pathLst>
                <a:path w="1004570" h="448309">
                  <a:moveTo>
                    <a:pt x="224027" y="0"/>
                  </a:moveTo>
                  <a:lnTo>
                    <a:pt x="0" y="224027"/>
                  </a:lnTo>
                  <a:lnTo>
                    <a:pt x="224027" y="448055"/>
                  </a:lnTo>
                  <a:lnTo>
                    <a:pt x="224027" y="336041"/>
                  </a:lnTo>
                  <a:lnTo>
                    <a:pt x="1004315" y="336041"/>
                  </a:lnTo>
                  <a:lnTo>
                    <a:pt x="1004315" y="112013"/>
                  </a:lnTo>
                  <a:lnTo>
                    <a:pt x="224027" y="112013"/>
                  </a:lnTo>
                  <a:lnTo>
                    <a:pt x="22402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17975" y="824484"/>
              <a:ext cx="1004569" cy="448309"/>
            </a:xfrm>
            <a:custGeom>
              <a:avLst/>
              <a:gdLst/>
              <a:ahLst/>
              <a:cxnLst/>
              <a:rect l="l" t="t" r="r" b="b"/>
              <a:pathLst>
                <a:path w="1004570" h="448309">
                  <a:moveTo>
                    <a:pt x="0" y="224027"/>
                  </a:moveTo>
                  <a:lnTo>
                    <a:pt x="224027" y="0"/>
                  </a:lnTo>
                  <a:lnTo>
                    <a:pt x="224027" y="112013"/>
                  </a:lnTo>
                  <a:lnTo>
                    <a:pt x="1004315" y="112013"/>
                  </a:lnTo>
                  <a:lnTo>
                    <a:pt x="1004315" y="336041"/>
                  </a:lnTo>
                  <a:lnTo>
                    <a:pt x="224027" y="336041"/>
                  </a:lnTo>
                  <a:lnTo>
                    <a:pt x="224027" y="448055"/>
                  </a:lnTo>
                  <a:lnTo>
                    <a:pt x="0" y="224027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977132" y="278333"/>
            <a:ext cx="122745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File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45" dirty="0">
                <a:latin typeface="Arial"/>
                <a:cs typeface="Arial"/>
              </a:rPr>
              <a:t>‘example.txt’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3727" y="5198745"/>
            <a:ext cx="7854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95" dirty="0">
                <a:latin typeface="Arial"/>
                <a:cs typeface="Arial"/>
              </a:rPr>
              <a:t>Output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484375" y="1705355"/>
            <a:ext cx="7778750" cy="3685540"/>
            <a:chOff x="1484375" y="1705355"/>
            <a:chExt cx="7778750" cy="368554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6861" y="1756167"/>
              <a:ext cx="7585165" cy="362507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488947" y="1709927"/>
              <a:ext cx="7769859" cy="3676015"/>
            </a:xfrm>
            <a:custGeom>
              <a:avLst/>
              <a:gdLst/>
              <a:ahLst/>
              <a:cxnLst/>
              <a:rect l="l" t="t" r="r" b="b"/>
              <a:pathLst>
                <a:path w="7769859" h="3676015">
                  <a:moveTo>
                    <a:pt x="0" y="3675888"/>
                  </a:moveTo>
                  <a:lnTo>
                    <a:pt x="7769352" y="3675888"/>
                  </a:lnTo>
                  <a:lnTo>
                    <a:pt x="7769352" y="0"/>
                  </a:lnTo>
                  <a:lnTo>
                    <a:pt x="0" y="0"/>
                  </a:lnTo>
                  <a:lnTo>
                    <a:pt x="0" y="3675888"/>
                  </a:lnTo>
                  <a:close/>
                </a:path>
              </a:pathLst>
            </a:custGeom>
            <a:ln w="9144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525780" y="5583934"/>
            <a:ext cx="4261485" cy="1207135"/>
            <a:chOff x="525780" y="5583934"/>
            <a:chExt cx="4261485" cy="120713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4924" y="5593078"/>
              <a:ext cx="4242816" cy="118872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30352" y="5588506"/>
              <a:ext cx="4251960" cy="1198245"/>
            </a:xfrm>
            <a:custGeom>
              <a:avLst/>
              <a:gdLst/>
              <a:ahLst/>
              <a:cxnLst/>
              <a:rect l="l" t="t" r="r" b="b"/>
              <a:pathLst>
                <a:path w="4251960" h="1198245">
                  <a:moveTo>
                    <a:pt x="0" y="1197864"/>
                  </a:moveTo>
                  <a:lnTo>
                    <a:pt x="4251960" y="1197864"/>
                  </a:lnTo>
                  <a:lnTo>
                    <a:pt x="4251960" y="0"/>
                  </a:lnTo>
                  <a:lnTo>
                    <a:pt x="0" y="0"/>
                  </a:lnTo>
                  <a:lnTo>
                    <a:pt x="0" y="1197864"/>
                  </a:lnTo>
                  <a:close/>
                </a:path>
              </a:pathLst>
            </a:custGeom>
            <a:ln w="9144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 marR="5080" indent="-915035">
              <a:lnSpc>
                <a:spcPct val="100000"/>
              </a:lnSpc>
              <a:spcBef>
                <a:spcPts val="100"/>
              </a:spcBef>
            </a:pPr>
            <a:r>
              <a:rPr sz="3000" spc="-160" dirty="0"/>
              <a:t>Let</a:t>
            </a:r>
            <a:r>
              <a:rPr sz="3000" spc="-165" dirty="0"/>
              <a:t> </a:t>
            </a:r>
            <a:r>
              <a:rPr sz="3000" spc="-229" dirty="0"/>
              <a:t>us</a:t>
            </a:r>
            <a:r>
              <a:rPr sz="3000" spc="-145" dirty="0"/>
              <a:t> </a:t>
            </a:r>
            <a:r>
              <a:rPr sz="3000" spc="-80" dirty="0"/>
              <a:t>now</a:t>
            </a:r>
            <a:r>
              <a:rPr sz="3000" spc="-140" dirty="0"/>
              <a:t> </a:t>
            </a:r>
            <a:r>
              <a:rPr sz="3000" dirty="0"/>
              <a:t>write</a:t>
            </a:r>
            <a:r>
              <a:rPr sz="3000" spc="-140" dirty="0"/>
              <a:t> </a:t>
            </a:r>
            <a:r>
              <a:rPr sz="3000" spc="-240" dirty="0"/>
              <a:t>a</a:t>
            </a:r>
            <a:r>
              <a:rPr sz="3000" spc="-145" dirty="0"/>
              <a:t> </a:t>
            </a:r>
            <a:r>
              <a:rPr sz="3000" spc="-130" dirty="0"/>
              <a:t>program</a:t>
            </a:r>
            <a:r>
              <a:rPr sz="3000" spc="-140" dirty="0"/>
              <a:t> </a:t>
            </a:r>
            <a:r>
              <a:rPr sz="3000" spc="-20" dirty="0"/>
              <a:t>that</a:t>
            </a:r>
            <a:r>
              <a:rPr sz="3000" spc="750" dirty="0"/>
              <a:t> </a:t>
            </a:r>
            <a:r>
              <a:rPr sz="3000" spc="-170" dirty="0"/>
              <a:t>accepts </a:t>
            </a:r>
            <a:r>
              <a:rPr sz="3000" spc="-240" dirty="0"/>
              <a:t>a</a:t>
            </a:r>
            <a:r>
              <a:rPr sz="3000" spc="-140" dirty="0"/>
              <a:t> </a:t>
            </a:r>
            <a:r>
              <a:rPr sz="3000" spc="-100" dirty="0"/>
              <a:t>string</a:t>
            </a:r>
            <a:r>
              <a:rPr sz="3000" spc="-135" dirty="0"/>
              <a:t> </a:t>
            </a:r>
            <a:r>
              <a:rPr sz="3000" spc="-30" dirty="0"/>
              <a:t>from</a:t>
            </a:r>
            <a:r>
              <a:rPr sz="3000" spc="-140" dirty="0"/>
              <a:t> </a:t>
            </a:r>
            <a:r>
              <a:rPr sz="3000" spc="-35" dirty="0"/>
              <a:t>the</a:t>
            </a:r>
            <a:r>
              <a:rPr sz="3000" spc="-155" dirty="0"/>
              <a:t> </a:t>
            </a:r>
            <a:r>
              <a:rPr sz="3000" spc="-150" dirty="0"/>
              <a:t>user</a:t>
            </a:r>
            <a:r>
              <a:rPr sz="3000" spc="-135" dirty="0"/>
              <a:t> </a:t>
            </a:r>
            <a:r>
              <a:rPr sz="3000" spc="-105" dirty="0"/>
              <a:t>and </a:t>
            </a:r>
            <a:r>
              <a:rPr sz="3000" spc="-70" dirty="0"/>
              <a:t>writes</a:t>
            </a:r>
            <a:r>
              <a:rPr sz="3000" spc="-145" dirty="0"/>
              <a:t> </a:t>
            </a:r>
            <a:r>
              <a:rPr sz="3000" spc="90" dirty="0"/>
              <a:t>it</a:t>
            </a:r>
            <a:r>
              <a:rPr sz="3000" spc="-145" dirty="0"/>
              <a:t> </a:t>
            </a:r>
            <a:r>
              <a:rPr sz="3000" dirty="0"/>
              <a:t>to</a:t>
            </a:r>
            <a:r>
              <a:rPr sz="3000" spc="-160" dirty="0"/>
              <a:t> </a:t>
            </a:r>
            <a:r>
              <a:rPr sz="3000" spc="-240" dirty="0"/>
              <a:t>a</a:t>
            </a:r>
            <a:r>
              <a:rPr sz="3000" spc="-145" dirty="0"/>
              <a:t> </a:t>
            </a:r>
            <a:r>
              <a:rPr sz="3000" spc="-35" dirty="0"/>
              <a:t>text</a:t>
            </a:r>
            <a:r>
              <a:rPr sz="3000" spc="-135" dirty="0"/>
              <a:t> </a:t>
            </a:r>
            <a:r>
              <a:rPr sz="3000" spc="-10" dirty="0"/>
              <a:t>file.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94461" y="2835986"/>
            <a:ext cx="974407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spc="-135" dirty="0">
                <a:latin typeface="Arial"/>
                <a:cs typeface="Arial"/>
              </a:rPr>
              <a:t>Thereafter,</a:t>
            </a:r>
            <a:r>
              <a:rPr sz="3000" spc="-150" dirty="0">
                <a:latin typeface="Arial"/>
                <a:cs typeface="Arial"/>
              </a:rPr>
              <a:t> </a:t>
            </a:r>
            <a:r>
              <a:rPr sz="3000" spc="-45" dirty="0">
                <a:latin typeface="Arial"/>
                <a:cs typeface="Arial"/>
              </a:rPr>
              <a:t>the</a:t>
            </a:r>
            <a:r>
              <a:rPr sz="3000" spc="-145" dirty="0">
                <a:latin typeface="Arial"/>
                <a:cs typeface="Arial"/>
              </a:rPr>
              <a:t> </a:t>
            </a:r>
            <a:r>
              <a:rPr sz="3000" spc="-229" dirty="0">
                <a:latin typeface="Arial"/>
                <a:cs typeface="Arial"/>
              </a:rPr>
              <a:t>same</a:t>
            </a:r>
            <a:r>
              <a:rPr sz="3000" spc="-150" dirty="0">
                <a:latin typeface="Arial"/>
                <a:cs typeface="Arial"/>
              </a:rPr>
              <a:t> </a:t>
            </a:r>
            <a:r>
              <a:rPr sz="3000" spc="-125" dirty="0">
                <a:latin typeface="Arial"/>
                <a:cs typeface="Arial"/>
              </a:rPr>
              <a:t>program</a:t>
            </a:r>
            <a:r>
              <a:rPr sz="3000" spc="-130" dirty="0">
                <a:latin typeface="Arial"/>
                <a:cs typeface="Arial"/>
              </a:rPr>
              <a:t> </a:t>
            </a:r>
            <a:r>
              <a:rPr sz="3000" spc="-175" dirty="0">
                <a:latin typeface="Arial"/>
                <a:cs typeface="Arial"/>
              </a:rPr>
              <a:t>reads</a:t>
            </a:r>
            <a:r>
              <a:rPr sz="3000" spc="-140" dirty="0">
                <a:latin typeface="Arial"/>
                <a:cs typeface="Arial"/>
              </a:rPr>
              <a:t> </a:t>
            </a:r>
            <a:r>
              <a:rPr sz="3000" spc="-45" dirty="0">
                <a:latin typeface="Arial"/>
                <a:cs typeface="Arial"/>
              </a:rPr>
              <a:t>the</a:t>
            </a:r>
            <a:r>
              <a:rPr sz="3000" spc="-150" dirty="0">
                <a:latin typeface="Arial"/>
                <a:cs typeface="Arial"/>
              </a:rPr>
              <a:t> </a:t>
            </a:r>
            <a:r>
              <a:rPr sz="3000" spc="-35" dirty="0">
                <a:latin typeface="Arial"/>
                <a:cs typeface="Arial"/>
              </a:rPr>
              <a:t>text</a:t>
            </a:r>
            <a:r>
              <a:rPr sz="3000" spc="-125" dirty="0">
                <a:latin typeface="Arial"/>
                <a:cs typeface="Arial"/>
              </a:rPr>
              <a:t> </a:t>
            </a:r>
            <a:r>
              <a:rPr sz="3000" spc="-20" dirty="0">
                <a:latin typeface="Arial"/>
                <a:cs typeface="Arial"/>
              </a:rPr>
              <a:t>file</a:t>
            </a:r>
            <a:r>
              <a:rPr sz="3000" spc="-150" dirty="0">
                <a:latin typeface="Arial"/>
                <a:cs typeface="Arial"/>
              </a:rPr>
              <a:t> </a:t>
            </a:r>
            <a:r>
              <a:rPr sz="3000" spc="-160" dirty="0">
                <a:latin typeface="Arial"/>
                <a:cs typeface="Arial"/>
              </a:rPr>
              <a:t>and</a:t>
            </a:r>
            <a:r>
              <a:rPr sz="3000" spc="-150" dirty="0">
                <a:latin typeface="Arial"/>
                <a:cs typeface="Arial"/>
              </a:rPr>
              <a:t> </a:t>
            </a:r>
            <a:r>
              <a:rPr sz="3000" b="1" spc="-275" dirty="0">
                <a:latin typeface="Arial"/>
                <a:cs typeface="Arial"/>
              </a:rPr>
              <a:t>displays</a:t>
            </a:r>
            <a:r>
              <a:rPr sz="3000" b="1" spc="-114" dirty="0">
                <a:latin typeface="Arial"/>
                <a:cs typeface="Arial"/>
              </a:rPr>
              <a:t> </a:t>
            </a:r>
            <a:r>
              <a:rPr sz="3000" spc="65" dirty="0">
                <a:latin typeface="Arial"/>
                <a:cs typeface="Arial"/>
              </a:rPr>
              <a:t>it </a:t>
            </a:r>
            <a:r>
              <a:rPr sz="3000" spc="-110" dirty="0">
                <a:latin typeface="Arial"/>
                <a:cs typeface="Arial"/>
              </a:rPr>
              <a:t>on</a:t>
            </a:r>
            <a:r>
              <a:rPr sz="3000" spc="-150" dirty="0">
                <a:latin typeface="Arial"/>
                <a:cs typeface="Arial"/>
              </a:rPr>
              <a:t> </a:t>
            </a:r>
            <a:r>
              <a:rPr sz="3000" spc="-45" dirty="0">
                <a:latin typeface="Arial"/>
                <a:cs typeface="Arial"/>
              </a:rPr>
              <a:t>the</a:t>
            </a:r>
            <a:r>
              <a:rPr sz="3000" spc="-155" dirty="0">
                <a:latin typeface="Arial"/>
                <a:cs typeface="Arial"/>
              </a:rPr>
              <a:t> </a:t>
            </a:r>
            <a:r>
              <a:rPr sz="3000" spc="-20" dirty="0">
                <a:latin typeface="Arial"/>
                <a:cs typeface="Arial"/>
              </a:rPr>
              <a:t>screen.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0403" y="377444"/>
            <a:ext cx="57346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15" dirty="0">
                <a:solidFill>
                  <a:srgbClr val="006FC0"/>
                </a:solidFill>
                <a:latin typeface="Arial"/>
                <a:cs typeface="Arial"/>
              </a:rPr>
              <a:t>Program</a:t>
            </a:r>
            <a:r>
              <a:rPr sz="2400" b="1" spc="-1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b="1" spc="-105" dirty="0">
                <a:solidFill>
                  <a:srgbClr val="006FC0"/>
                </a:solidFill>
                <a:latin typeface="Arial"/>
                <a:cs typeface="Arial"/>
              </a:rPr>
              <a:t>4-</a:t>
            </a:r>
            <a:r>
              <a:rPr sz="2400" b="1" spc="-130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2400" b="1" spc="-10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b="1" spc="-130" dirty="0">
                <a:solidFill>
                  <a:srgbClr val="006FC0"/>
                </a:solidFill>
                <a:latin typeface="Arial"/>
                <a:cs typeface="Arial"/>
              </a:rPr>
              <a:t>Writing</a:t>
            </a:r>
            <a:r>
              <a:rPr sz="2400" b="1" spc="-1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b="1" spc="-180" dirty="0">
                <a:solidFill>
                  <a:srgbClr val="006FC0"/>
                </a:solidFill>
                <a:latin typeface="Arial"/>
                <a:cs typeface="Arial"/>
              </a:rPr>
              <a:t>and</a:t>
            </a:r>
            <a:r>
              <a:rPr sz="2400" b="1" spc="-114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b="1" spc="-175" dirty="0">
                <a:solidFill>
                  <a:srgbClr val="006FC0"/>
                </a:solidFill>
                <a:latin typeface="Arial"/>
                <a:cs typeface="Arial"/>
              </a:rPr>
              <a:t>reading</a:t>
            </a:r>
            <a:r>
              <a:rPr sz="2400" b="1" spc="-1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b="1" spc="-95" dirty="0">
                <a:solidFill>
                  <a:srgbClr val="006FC0"/>
                </a:solidFill>
                <a:latin typeface="Arial"/>
                <a:cs typeface="Arial"/>
              </a:rPr>
              <a:t>to</a:t>
            </a:r>
            <a:r>
              <a:rPr sz="2400" b="1" spc="-10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b="1" spc="-170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400" b="1" spc="-10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b="1" spc="-95" dirty="0">
                <a:solidFill>
                  <a:srgbClr val="006FC0"/>
                </a:solidFill>
                <a:latin typeface="Arial"/>
                <a:cs typeface="Arial"/>
              </a:rPr>
              <a:t>text</a:t>
            </a:r>
            <a:r>
              <a:rPr sz="2400" b="1" spc="-1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006FC0"/>
                </a:solidFill>
                <a:latin typeface="Arial"/>
                <a:cs typeface="Arial"/>
              </a:rPr>
              <a:t>file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00403" y="828547"/>
            <a:ext cx="977900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5651500" algn="l"/>
              </a:tabLst>
            </a:pPr>
            <a:r>
              <a:rPr sz="2000" b="1" spc="-10" dirty="0">
                <a:latin typeface="Courier New"/>
                <a:cs typeface="Courier New"/>
              </a:rPr>
              <a:t>fobject=open("testfile.txt","w")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dirty="0">
                <a:solidFill>
                  <a:srgbClr val="00AF50"/>
                </a:solidFill>
                <a:latin typeface="Courier New"/>
                <a:cs typeface="Courier New"/>
              </a:rPr>
              <a:t>#</a:t>
            </a:r>
            <a:r>
              <a:rPr sz="2000" b="1" spc="-2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AF50"/>
                </a:solidFill>
                <a:latin typeface="Courier New"/>
                <a:cs typeface="Courier New"/>
              </a:rPr>
              <a:t>creating</a:t>
            </a:r>
            <a:r>
              <a:rPr sz="2000" b="1" spc="-1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AF50"/>
                </a:solidFill>
                <a:latin typeface="Courier New"/>
                <a:cs typeface="Courier New"/>
              </a:rPr>
              <a:t>a</a:t>
            </a:r>
            <a:r>
              <a:rPr sz="2000" b="1" spc="-2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AF50"/>
                </a:solidFill>
                <a:latin typeface="Courier New"/>
                <a:cs typeface="Courier New"/>
              </a:rPr>
              <a:t>data</a:t>
            </a:r>
            <a:r>
              <a:rPr sz="2000" b="1" spc="-1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000" b="1" spc="-20" dirty="0">
                <a:solidFill>
                  <a:srgbClr val="00AF50"/>
                </a:solidFill>
                <a:latin typeface="Courier New"/>
                <a:cs typeface="Courier New"/>
              </a:rPr>
              <a:t>file </a:t>
            </a:r>
            <a:r>
              <a:rPr sz="2000" b="1" dirty="0">
                <a:latin typeface="Courier New"/>
                <a:cs typeface="Courier New"/>
              </a:rPr>
              <a:t>sentence=input("Enter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the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contents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to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be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written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in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the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file:</a:t>
            </a:r>
            <a:r>
              <a:rPr sz="2000" b="1" spc="-25" dirty="0">
                <a:latin typeface="Courier New"/>
                <a:cs typeface="Courier New"/>
              </a:rPr>
              <a:t> ")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0403" y="1438147"/>
            <a:ext cx="353060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Courier New"/>
                <a:cs typeface="Courier New"/>
              </a:rPr>
              <a:t>fobject.write(sentence)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10" dirty="0">
                <a:latin typeface="Courier New"/>
                <a:cs typeface="Courier New"/>
              </a:rPr>
              <a:t>fobject.close()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39839" y="1438147"/>
            <a:ext cx="398780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AF50"/>
                </a:solidFill>
                <a:latin typeface="Courier New"/>
                <a:cs typeface="Courier New"/>
              </a:rPr>
              <a:t>#</a:t>
            </a:r>
            <a:r>
              <a:rPr sz="2000" b="1" spc="-2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AF50"/>
                </a:solidFill>
                <a:latin typeface="Courier New"/>
                <a:cs typeface="Courier New"/>
              </a:rPr>
              <a:t>Writing</a:t>
            </a:r>
            <a:r>
              <a:rPr sz="2000" b="1" spc="-1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AF50"/>
                </a:solidFill>
                <a:latin typeface="Courier New"/>
                <a:cs typeface="Courier New"/>
              </a:rPr>
              <a:t>data</a:t>
            </a:r>
            <a:r>
              <a:rPr sz="2000" b="1" spc="-2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AF50"/>
                </a:solidFill>
                <a:latin typeface="Courier New"/>
                <a:cs typeface="Courier New"/>
              </a:rPr>
              <a:t>to</a:t>
            </a:r>
            <a:r>
              <a:rPr sz="2000" b="1" spc="-1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AF50"/>
                </a:solidFill>
                <a:latin typeface="Courier New"/>
                <a:cs typeface="Courier New"/>
              </a:rPr>
              <a:t>the</a:t>
            </a:r>
            <a:r>
              <a:rPr sz="2000" b="1" spc="-1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000" b="1" spc="-20" dirty="0">
                <a:solidFill>
                  <a:srgbClr val="00AF50"/>
                </a:solidFill>
                <a:latin typeface="Courier New"/>
                <a:cs typeface="Courier New"/>
              </a:rPr>
              <a:t>file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00AF50"/>
                </a:solidFill>
                <a:latin typeface="Courier New"/>
                <a:cs typeface="Courier New"/>
              </a:rPr>
              <a:t>#</a:t>
            </a:r>
            <a:r>
              <a:rPr sz="2000" b="1" spc="-1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AF50"/>
                </a:solidFill>
                <a:latin typeface="Courier New"/>
                <a:cs typeface="Courier New"/>
              </a:rPr>
              <a:t>Closing</a:t>
            </a:r>
            <a:r>
              <a:rPr sz="2000" b="1" spc="-1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AF50"/>
                </a:solidFill>
                <a:latin typeface="Courier New"/>
                <a:cs typeface="Courier New"/>
              </a:rPr>
              <a:t>a</a:t>
            </a:r>
            <a:r>
              <a:rPr sz="2000" b="1" spc="-1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000" b="1" spc="-20" dirty="0">
                <a:solidFill>
                  <a:srgbClr val="00AF50"/>
                </a:solidFill>
                <a:latin typeface="Courier New"/>
                <a:cs typeface="Courier New"/>
              </a:rPr>
              <a:t>file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0403" y="2352801"/>
            <a:ext cx="7809865" cy="3939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62611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ourier New"/>
                <a:cs typeface="Courier New"/>
              </a:rPr>
              <a:t>print("Now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reading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the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contents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of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the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file:</a:t>
            </a:r>
            <a:r>
              <a:rPr sz="2000" b="1" spc="-25" dirty="0">
                <a:latin typeface="Courier New"/>
                <a:cs typeface="Courier New"/>
              </a:rPr>
              <a:t> ") </a:t>
            </a:r>
            <a:r>
              <a:rPr sz="2000" b="1" spc="-10" dirty="0">
                <a:latin typeface="Courier New"/>
                <a:cs typeface="Courier New"/>
              </a:rPr>
              <a:t>fobject=open("testfile.txt","r")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00AF50"/>
                </a:solidFill>
                <a:latin typeface="Courier New"/>
                <a:cs typeface="Courier New"/>
              </a:rPr>
              <a:t>#looping</a:t>
            </a:r>
            <a:r>
              <a:rPr sz="2000" b="1" spc="-3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AF50"/>
                </a:solidFill>
                <a:latin typeface="Courier New"/>
                <a:cs typeface="Courier New"/>
              </a:rPr>
              <a:t>over</a:t>
            </a:r>
            <a:r>
              <a:rPr sz="2000" b="1" spc="-2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AF50"/>
                </a:solidFill>
                <a:latin typeface="Courier New"/>
                <a:cs typeface="Courier New"/>
              </a:rPr>
              <a:t>the</a:t>
            </a:r>
            <a:r>
              <a:rPr sz="2000" b="1" spc="-2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AF50"/>
                </a:solidFill>
                <a:latin typeface="Courier New"/>
                <a:cs typeface="Courier New"/>
              </a:rPr>
              <a:t>file</a:t>
            </a:r>
            <a:r>
              <a:rPr sz="2000" b="1" spc="-2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AF50"/>
                </a:solidFill>
                <a:latin typeface="Courier New"/>
                <a:cs typeface="Courier New"/>
              </a:rPr>
              <a:t>object</a:t>
            </a:r>
            <a:r>
              <a:rPr sz="2000" b="1" spc="-2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AF50"/>
                </a:solidFill>
                <a:latin typeface="Courier New"/>
                <a:cs typeface="Courier New"/>
              </a:rPr>
              <a:t>to</a:t>
            </a:r>
            <a:r>
              <a:rPr sz="2000" b="1" spc="-2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AF50"/>
                </a:solidFill>
                <a:latin typeface="Courier New"/>
                <a:cs typeface="Courier New"/>
              </a:rPr>
              <a:t>read</a:t>
            </a:r>
            <a:r>
              <a:rPr sz="2000" b="1" spc="-2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AF50"/>
                </a:solidFill>
                <a:latin typeface="Courier New"/>
                <a:cs typeface="Courier New"/>
              </a:rPr>
              <a:t>the</a:t>
            </a:r>
            <a:r>
              <a:rPr sz="2000" b="1" spc="-20" dirty="0">
                <a:solidFill>
                  <a:srgbClr val="00AF50"/>
                </a:solidFill>
                <a:latin typeface="Courier New"/>
                <a:cs typeface="Courier New"/>
              </a:rPr>
              <a:t> file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for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str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in</a:t>
            </a:r>
            <a:r>
              <a:rPr sz="2000" b="1" spc="-10" dirty="0">
                <a:latin typeface="Courier New"/>
                <a:cs typeface="Courier New"/>
              </a:rPr>
              <a:t> fobject:</a:t>
            </a:r>
            <a:endParaRPr sz="2000">
              <a:latin typeface="Courier New"/>
              <a:cs typeface="Courier New"/>
            </a:endParaRPr>
          </a:p>
          <a:p>
            <a:pPr marL="12700" marR="4435475" indent="1828800">
              <a:lnSpc>
                <a:spcPct val="100000"/>
              </a:lnSpc>
            </a:pPr>
            <a:r>
              <a:rPr sz="2000" b="1" spc="-10" dirty="0">
                <a:latin typeface="Courier New"/>
                <a:cs typeface="Courier New"/>
              </a:rPr>
              <a:t>print(str) fobject.close()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900">
              <a:latin typeface="Courier New"/>
              <a:cs typeface="Courier New"/>
            </a:endParaRPr>
          </a:p>
          <a:p>
            <a:pPr marL="12700" marR="541020">
              <a:lnSpc>
                <a:spcPts val="2320"/>
              </a:lnSpc>
            </a:pPr>
            <a:r>
              <a:rPr sz="2000" spc="-70" dirty="0">
                <a:latin typeface="Arial"/>
                <a:cs typeface="Arial"/>
              </a:rPr>
              <a:t>In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Program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4.1,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named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testfile.txt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is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opened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in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write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mode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and 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</a:t>
            </a:r>
            <a:r>
              <a:rPr sz="2000" spc="-80" dirty="0">
                <a:latin typeface="Arial"/>
                <a:cs typeface="Arial"/>
              </a:rPr>
              <a:t> handle</a:t>
            </a:r>
            <a:r>
              <a:rPr sz="2000" spc="-105" dirty="0">
                <a:latin typeface="Arial"/>
                <a:cs typeface="Arial"/>
              </a:rPr>
              <a:t> named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fobject</a:t>
            </a:r>
            <a:r>
              <a:rPr sz="2000" b="1" spc="-740" dirty="0">
                <a:latin typeface="Courier New"/>
                <a:cs typeface="Courier New"/>
              </a:rPr>
              <a:t> </a:t>
            </a:r>
            <a:r>
              <a:rPr sz="2000" spc="-110" dirty="0">
                <a:latin typeface="Arial"/>
                <a:cs typeface="Arial"/>
              </a:rPr>
              <a:t>is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returned.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330"/>
              </a:lnSpc>
            </a:pPr>
            <a:r>
              <a:rPr sz="2000" spc="-155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string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is </a:t>
            </a:r>
            <a:r>
              <a:rPr sz="2000" spc="-100" dirty="0">
                <a:latin typeface="Arial"/>
                <a:cs typeface="Arial"/>
              </a:rPr>
              <a:t>accepted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from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user </a:t>
            </a:r>
            <a:r>
              <a:rPr sz="2000" spc="-110" dirty="0">
                <a:latin typeface="Arial"/>
                <a:cs typeface="Arial"/>
              </a:rPr>
              <a:t>and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written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in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using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write()</a:t>
            </a:r>
            <a:r>
              <a:rPr sz="2000" spc="-10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2000" spc="-130" dirty="0">
                <a:latin typeface="Arial"/>
                <a:cs typeface="Arial"/>
              </a:rPr>
              <a:t>Then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is closed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and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again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opened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in</a:t>
            </a:r>
            <a:r>
              <a:rPr sz="2000" spc="-95" dirty="0">
                <a:latin typeface="Arial"/>
                <a:cs typeface="Arial"/>
              </a:rPr>
              <a:t> read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mode.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125" dirty="0">
                <a:latin typeface="Arial"/>
                <a:cs typeface="Arial"/>
              </a:rPr>
              <a:t>Data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is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read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from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and </a:t>
            </a:r>
            <a:r>
              <a:rPr sz="2000" spc="-95" dirty="0">
                <a:latin typeface="Arial"/>
                <a:cs typeface="Arial"/>
              </a:rPr>
              <a:t>displayed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till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end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file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is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reached.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5063" y="688340"/>
            <a:ext cx="29597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35" dirty="0">
                <a:solidFill>
                  <a:srgbClr val="006FC0"/>
                </a:solidFill>
                <a:latin typeface="Arial"/>
                <a:cs typeface="Arial"/>
              </a:rPr>
              <a:t>Output</a:t>
            </a:r>
            <a:r>
              <a:rPr sz="2400" b="1" spc="-7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b="1" spc="-125" dirty="0">
                <a:solidFill>
                  <a:srgbClr val="006FC0"/>
                </a:solidFill>
                <a:latin typeface="Arial"/>
                <a:cs typeface="Arial"/>
              </a:rPr>
              <a:t>of</a:t>
            </a:r>
            <a:r>
              <a:rPr sz="2400" b="1" spc="-114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b="1" spc="-210" dirty="0">
                <a:solidFill>
                  <a:srgbClr val="006FC0"/>
                </a:solidFill>
                <a:latin typeface="Arial"/>
                <a:cs typeface="Arial"/>
              </a:rPr>
              <a:t>Program</a:t>
            </a:r>
            <a:r>
              <a:rPr sz="2400" b="1" spc="-10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b="1" spc="-110" dirty="0">
                <a:solidFill>
                  <a:srgbClr val="006FC0"/>
                </a:solidFill>
                <a:latin typeface="Arial"/>
                <a:cs typeface="Arial"/>
              </a:rPr>
              <a:t>4-</a:t>
            </a:r>
            <a:r>
              <a:rPr sz="2400" b="1" spc="-40" dirty="0">
                <a:solidFill>
                  <a:srgbClr val="006FC0"/>
                </a:solidFill>
                <a:latin typeface="Arial"/>
                <a:cs typeface="Arial"/>
              </a:rPr>
              <a:t>1: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5740" y="1697558"/>
            <a:ext cx="9655810" cy="41446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91565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latin typeface="Courier New"/>
                <a:cs typeface="Courier New"/>
              </a:rPr>
              <a:t>&gt;&gt;&gt;</a:t>
            </a:r>
            <a:endParaRPr sz="2000" dirty="0">
              <a:latin typeface="Courier New"/>
              <a:cs typeface="Courier New"/>
            </a:endParaRPr>
          </a:p>
          <a:p>
            <a:pPr marL="1091565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RESTART:</a:t>
            </a:r>
            <a:r>
              <a:rPr sz="2000" b="1" spc="6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Path_to_file\Program2-</a:t>
            </a:r>
            <a:r>
              <a:rPr sz="2000" b="1" spc="-20" dirty="0">
                <a:latin typeface="Courier New"/>
                <a:cs typeface="Courier New"/>
              </a:rPr>
              <a:t>1.py</a:t>
            </a:r>
            <a:endParaRPr sz="2000" dirty="0">
              <a:latin typeface="Courier New"/>
              <a:cs typeface="Courier New"/>
            </a:endParaRPr>
          </a:p>
          <a:p>
            <a:pPr marL="1091565" marR="1697355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Enter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the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contents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to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be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written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in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the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file: </a:t>
            </a:r>
            <a:r>
              <a:rPr sz="2000" b="1" dirty="0">
                <a:latin typeface="Courier New"/>
                <a:cs typeface="Courier New"/>
              </a:rPr>
              <a:t>roll_numbers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[1,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2,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3,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4,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5,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25" dirty="0">
                <a:latin typeface="Courier New"/>
                <a:cs typeface="Courier New"/>
              </a:rPr>
              <a:t>6]</a:t>
            </a:r>
            <a:endParaRPr sz="2000" dirty="0">
              <a:latin typeface="Courier New"/>
              <a:cs typeface="Courier New"/>
            </a:endParaRPr>
          </a:p>
          <a:p>
            <a:pPr marL="1091565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Now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reading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the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contents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of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the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file:</a:t>
            </a:r>
            <a:endParaRPr sz="2000" dirty="0">
              <a:latin typeface="Courier New"/>
              <a:cs typeface="Courier New"/>
            </a:endParaRPr>
          </a:p>
          <a:p>
            <a:pPr marL="1091565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Courier New"/>
                <a:cs typeface="Courier New"/>
              </a:rPr>
              <a:t>roll_numbers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[1,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2,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3,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4,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5,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6]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25" dirty="0">
                <a:latin typeface="Courier New"/>
                <a:cs typeface="Courier New"/>
              </a:rPr>
              <a:t>&gt;&gt;&gt;</a:t>
            </a:r>
            <a:endParaRPr sz="2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15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spc="-100" dirty="0">
                <a:solidFill>
                  <a:srgbClr val="FF0000"/>
                </a:solidFill>
                <a:latin typeface="Arial"/>
                <a:cs typeface="Arial"/>
              </a:rPr>
              <a:t>4.6</a:t>
            </a:r>
            <a:r>
              <a:rPr sz="2400" b="1" spc="-1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290" dirty="0">
                <a:solidFill>
                  <a:srgbClr val="FF0000"/>
                </a:solidFill>
                <a:latin typeface="Arial"/>
                <a:cs typeface="Arial"/>
              </a:rPr>
              <a:t>SETTING</a:t>
            </a:r>
            <a:r>
              <a:rPr sz="2400" b="1" spc="-1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395" dirty="0">
                <a:solidFill>
                  <a:srgbClr val="FF0000"/>
                </a:solidFill>
                <a:latin typeface="Arial"/>
                <a:cs typeface="Arial"/>
              </a:rPr>
              <a:t>OFFSETS</a:t>
            </a:r>
            <a:r>
              <a:rPr sz="2400" b="1" spc="-105" dirty="0">
                <a:solidFill>
                  <a:srgbClr val="FF0000"/>
                </a:solidFill>
                <a:latin typeface="Arial"/>
                <a:cs typeface="Arial"/>
              </a:rPr>
              <a:t> IN</a:t>
            </a:r>
            <a:r>
              <a:rPr sz="2400" b="1" spc="-1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29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400" b="1" spc="-1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345" dirty="0">
                <a:solidFill>
                  <a:srgbClr val="FF0000"/>
                </a:solidFill>
                <a:latin typeface="Arial"/>
                <a:cs typeface="Arial"/>
              </a:rPr>
              <a:t>FILE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2000" spc="-155" dirty="0">
                <a:latin typeface="Arial"/>
                <a:cs typeface="Arial"/>
              </a:rPr>
              <a:t>The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functions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we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35" dirty="0">
                <a:latin typeface="Arial"/>
                <a:cs typeface="Arial"/>
              </a:rPr>
              <a:t>have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learnt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till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now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are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used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75" dirty="0">
                <a:latin typeface="Arial"/>
                <a:cs typeface="Arial"/>
              </a:rPr>
              <a:t>access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data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sequentially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from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file.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80" dirty="0">
                <a:latin typeface="Arial"/>
                <a:cs typeface="Arial"/>
              </a:rPr>
              <a:t>But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if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we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want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75" dirty="0">
                <a:latin typeface="Arial"/>
                <a:cs typeface="Arial"/>
              </a:rPr>
              <a:t>access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data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in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80" dirty="0">
                <a:latin typeface="Arial"/>
                <a:cs typeface="Arial"/>
              </a:rPr>
              <a:t> random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fashion,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2299970" algn="l"/>
              </a:tabLst>
            </a:pPr>
            <a:r>
              <a:rPr sz="2000" spc="-45" dirty="0">
                <a:latin typeface="Arial"/>
                <a:cs typeface="Arial"/>
              </a:rPr>
              <a:t>then</a:t>
            </a:r>
            <a:r>
              <a:rPr sz="2000" spc="-85" dirty="0">
                <a:latin typeface="Arial"/>
                <a:cs typeface="Arial"/>
              </a:rPr>
              <a:t> Python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35" dirty="0">
                <a:latin typeface="Arial"/>
                <a:cs typeface="Arial"/>
              </a:rPr>
              <a:t>gives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us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b="1" dirty="0">
                <a:solidFill>
                  <a:srgbClr val="006FC0"/>
                </a:solidFill>
                <a:latin typeface="Courier New"/>
                <a:cs typeface="Courier New"/>
              </a:rPr>
              <a:t>seek()</a:t>
            </a:r>
            <a:r>
              <a:rPr sz="2000" b="1" spc="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10" dirty="0">
                <a:latin typeface="Arial"/>
                <a:cs typeface="Arial"/>
              </a:rPr>
              <a:t>and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ourier New"/>
                <a:cs typeface="Courier New"/>
              </a:rPr>
              <a:t>tell()</a:t>
            </a:r>
            <a:r>
              <a:rPr sz="2000" b="1" spc="1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60" dirty="0">
                <a:latin typeface="Arial"/>
                <a:cs typeface="Arial"/>
              </a:rPr>
              <a:t>functions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do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so.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4249" y="404876"/>
            <a:ext cx="3318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95" dirty="0">
                <a:solidFill>
                  <a:srgbClr val="FF0000"/>
                </a:solidFill>
                <a:latin typeface="Arial"/>
                <a:cs typeface="Arial"/>
              </a:rPr>
              <a:t>4.6.1</a:t>
            </a:r>
            <a:r>
              <a:rPr sz="2400" b="1" spc="-1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21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400" b="1" spc="-1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1" dirty="0">
                <a:latin typeface="Courier New"/>
                <a:cs typeface="Courier New"/>
              </a:rPr>
              <a:t>tell()</a:t>
            </a:r>
            <a:r>
              <a:rPr b="1" spc="-5" dirty="0">
                <a:latin typeface="Courier New"/>
                <a:cs typeface="Courier New"/>
              </a:rPr>
              <a:t> </a:t>
            </a:r>
            <a:r>
              <a:rPr sz="2400" b="1" spc="-114" dirty="0">
                <a:solidFill>
                  <a:srgbClr val="FF0000"/>
                </a:solidFill>
                <a:latin typeface="Arial"/>
                <a:cs typeface="Arial"/>
              </a:rPr>
              <a:t>method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6375" y="869695"/>
            <a:ext cx="6360795" cy="1855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latin typeface="Arial"/>
                <a:cs typeface="Arial"/>
              </a:rPr>
              <a:t>This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function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returns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an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integer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that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specifies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current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position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object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in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155" dirty="0">
                <a:latin typeface="Arial"/>
                <a:cs typeface="Arial"/>
              </a:rPr>
              <a:t>The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position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45" dirty="0">
                <a:latin typeface="Arial"/>
                <a:cs typeface="Arial"/>
              </a:rPr>
              <a:t>so</a:t>
            </a:r>
            <a:r>
              <a:rPr sz="2000" spc="-80" dirty="0">
                <a:latin typeface="Arial"/>
                <a:cs typeface="Arial"/>
              </a:rPr>
              <a:t> specified </a:t>
            </a:r>
            <a:r>
              <a:rPr sz="2000" spc="-25" dirty="0">
                <a:latin typeface="Arial"/>
                <a:cs typeface="Arial"/>
              </a:rPr>
              <a:t>is</a:t>
            </a:r>
            <a:endParaRPr sz="2000">
              <a:latin typeface="Arial"/>
              <a:cs typeface="Arial"/>
            </a:endParaRPr>
          </a:p>
          <a:p>
            <a:pPr marL="12700" marR="1501775">
              <a:lnSpc>
                <a:spcPct val="100000"/>
              </a:lnSpc>
            </a:pP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byte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position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from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beginning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file </a:t>
            </a:r>
            <a:r>
              <a:rPr sz="2000" dirty="0">
                <a:latin typeface="Arial"/>
                <a:cs typeface="Arial"/>
              </a:rPr>
              <a:t>till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current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position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object.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6375" y="2988310"/>
            <a:ext cx="375539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220" dirty="0">
                <a:latin typeface="Arial"/>
                <a:cs typeface="Arial"/>
              </a:rPr>
              <a:t>The</a:t>
            </a:r>
            <a:r>
              <a:rPr sz="2500" b="1" spc="-110" dirty="0">
                <a:latin typeface="Arial"/>
                <a:cs typeface="Arial"/>
              </a:rPr>
              <a:t> </a:t>
            </a:r>
            <a:r>
              <a:rPr sz="2500" b="1" spc="-220" dirty="0">
                <a:latin typeface="Arial"/>
                <a:cs typeface="Arial"/>
              </a:rPr>
              <a:t>syntax</a:t>
            </a:r>
            <a:r>
              <a:rPr sz="2500" b="1" spc="-110" dirty="0">
                <a:latin typeface="Arial"/>
                <a:cs typeface="Arial"/>
              </a:rPr>
              <a:t> </a:t>
            </a:r>
            <a:r>
              <a:rPr sz="2500" b="1" spc="-130" dirty="0">
                <a:latin typeface="Arial"/>
                <a:cs typeface="Arial"/>
              </a:rPr>
              <a:t>of</a:t>
            </a:r>
            <a:r>
              <a:rPr sz="2500" b="1" spc="-110" dirty="0">
                <a:latin typeface="Arial"/>
                <a:cs typeface="Arial"/>
              </a:rPr>
              <a:t> </a:t>
            </a:r>
            <a:r>
              <a:rPr sz="2500" b="1" spc="-250" dirty="0">
                <a:latin typeface="Arial"/>
                <a:cs typeface="Arial"/>
              </a:rPr>
              <a:t>using</a:t>
            </a:r>
            <a:r>
              <a:rPr sz="2500" b="1" spc="-100" dirty="0">
                <a:latin typeface="Arial"/>
                <a:cs typeface="Arial"/>
              </a:rPr>
              <a:t> </a:t>
            </a:r>
            <a:r>
              <a:rPr sz="2500" b="1" spc="-10" dirty="0">
                <a:latin typeface="Courier New"/>
                <a:cs typeface="Courier New"/>
              </a:rPr>
              <a:t>tell()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96358" y="2875178"/>
            <a:ext cx="3494404" cy="101282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500" b="1" spc="-25" dirty="0">
                <a:latin typeface="Arial"/>
                <a:cs typeface="Arial"/>
              </a:rPr>
              <a:t>is:</a:t>
            </a:r>
            <a:endParaRPr sz="2500">
              <a:latin typeface="Arial"/>
              <a:cs typeface="Arial"/>
            </a:endParaRPr>
          </a:p>
          <a:p>
            <a:pPr marL="52069">
              <a:lnSpc>
                <a:spcPct val="100000"/>
              </a:lnSpc>
              <a:spcBef>
                <a:spcPts val="885"/>
              </a:spcBef>
            </a:pPr>
            <a:r>
              <a:rPr sz="2500" b="1" spc="-10" dirty="0">
                <a:latin typeface="Courier New"/>
                <a:cs typeface="Courier New"/>
              </a:rPr>
              <a:t>file_object.tell()</a:t>
            </a:r>
            <a:endParaRPr sz="2500">
              <a:latin typeface="Courier New"/>
              <a:cs typeface="Courier New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61188" y="4046220"/>
            <a:ext cx="11673840" cy="2750820"/>
            <a:chOff x="361188" y="4046220"/>
            <a:chExt cx="11673840" cy="275082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332" y="4055362"/>
              <a:ext cx="7563611" cy="273253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65760" y="4050792"/>
              <a:ext cx="7573009" cy="2741930"/>
            </a:xfrm>
            <a:custGeom>
              <a:avLst/>
              <a:gdLst/>
              <a:ahLst/>
              <a:cxnLst/>
              <a:rect l="l" t="t" r="r" b="b"/>
              <a:pathLst>
                <a:path w="7573009" h="2741929">
                  <a:moveTo>
                    <a:pt x="0" y="2741675"/>
                  </a:moveTo>
                  <a:lnTo>
                    <a:pt x="7572756" y="2741675"/>
                  </a:lnTo>
                  <a:lnTo>
                    <a:pt x="7572756" y="0"/>
                  </a:lnTo>
                  <a:lnTo>
                    <a:pt x="0" y="0"/>
                  </a:lnTo>
                  <a:lnTo>
                    <a:pt x="0" y="2741675"/>
                  </a:lnTo>
                  <a:close/>
                </a:path>
              </a:pathLst>
            </a:custGeom>
            <a:ln w="9143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53882" y="4904232"/>
              <a:ext cx="4072001" cy="121158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929371" y="4899660"/>
              <a:ext cx="4101465" cy="1221105"/>
            </a:xfrm>
            <a:custGeom>
              <a:avLst/>
              <a:gdLst/>
              <a:ahLst/>
              <a:cxnLst/>
              <a:rect l="l" t="t" r="r" b="b"/>
              <a:pathLst>
                <a:path w="4101465" h="1221104">
                  <a:moveTo>
                    <a:pt x="0" y="1220723"/>
                  </a:moveTo>
                  <a:lnTo>
                    <a:pt x="4101083" y="1220723"/>
                  </a:lnTo>
                  <a:lnTo>
                    <a:pt x="4101083" y="0"/>
                  </a:lnTo>
                  <a:lnTo>
                    <a:pt x="0" y="0"/>
                  </a:lnTo>
                  <a:lnTo>
                    <a:pt x="0" y="1220723"/>
                  </a:lnTo>
                  <a:close/>
                </a:path>
              </a:pathLst>
            </a:custGeom>
            <a:ln w="9144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119618" y="4444110"/>
            <a:ext cx="7854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95" dirty="0">
                <a:latin typeface="Arial"/>
                <a:cs typeface="Arial"/>
              </a:rPr>
              <a:t>Output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4521" y="286241"/>
            <a:ext cx="10066020" cy="627253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1035"/>
              </a:spcBef>
            </a:pPr>
            <a:r>
              <a:rPr sz="2400" b="1" spc="-90" dirty="0">
                <a:solidFill>
                  <a:srgbClr val="FF0000"/>
                </a:solidFill>
                <a:latin typeface="Arial"/>
                <a:cs typeface="Arial"/>
              </a:rPr>
              <a:t>4.6.2</a:t>
            </a:r>
            <a:r>
              <a:rPr sz="2400" b="1" spc="-1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21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400" b="1" spc="-1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Courier New"/>
                <a:cs typeface="Courier New"/>
              </a:rPr>
              <a:t>seek()</a:t>
            </a:r>
            <a:r>
              <a:rPr sz="2000" b="1" spc="-5" dirty="0"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method</a:t>
            </a:r>
            <a:endParaRPr sz="2400">
              <a:latin typeface="Arial"/>
              <a:cs typeface="Arial"/>
            </a:endParaRPr>
          </a:p>
          <a:p>
            <a:pPr marL="121920">
              <a:lnSpc>
                <a:spcPts val="2335"/>
              </a:lnSpc>
              <a:spcBef>
                <a:spcPts val="780"/>
              </a:spcBef>
            </a:pPr>
            <a:r>
              <a:rPr sz="2000" spc="-140" dirty="0">
                <a:latin typeface="Arial"/>
                <a:cs typeface="Arial"/>
              </a:rPr>
              <a:t>This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method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is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used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position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file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object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at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particular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position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in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a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file.</a:t>
            </a:r>
            <a:endParaRPr sz="2000">
              <a:latin typeface="Arial"/>
              <a:cs typeface="Arial"/>
            </a:endParaRPr>
          </a:p>
          <a:p>
            <a:pPr marL="121920">
              <a:lnSpc>
                <a:spcPts val="2935"/>
              </a:lnSpc>
            </a:pPr>
            <a:r>
              <a:rPr sz="2500" spc="-195" dirty="0">
                <a:latin typeface="Arial"/>
                <a:cs typeface="Arial"/>
              </a:rPr>
              <a:t>The</a:t>
            </a:r>
            <a:r>
              <a:rPr sz="2500" spc="-130" dirty="0">
                <a:latin typeface="Arial"/>
                <a:cs typeface="Arial"/>
              </a:rPr>
              <a:t> </a:t>
            </a:r>
            <a:r>
              <a:rPr sz="2500" spc="-155" dirty="0">
                <a:latin typeface="Arial"/>
                <a:cs typeface="Arial"/>
              </a:rPr>
              <a:t>syntax</a:t>
            </a:r>
            <a:r>
              <a:rPr sz="2500" spc="-10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of</a:t>
            </a:r>
            <a:r>
              <a:rPr sz="2500" spc="-155" dirty="0">
                <a:latin typeface="Arial"/>
                <a:cs typeface="Arial"/>
              </a:rPr>
              <a:t> </a:t>
            </a:r>
            <a:r>
              <a:rPr sz="2500" b="1" dirty="0">
                <a:latin typeface="Courier New"/>
                <a:cs typeface="Courier New"/>
              </a:rPr>
              <a:t>seek()</a:t>
            </a:r>
            <a:r>
              <a:rPr sz="2500" b="1" spc="-20" dirty="0">
                <a:latin typeface="Courier New"/>
                <a:cs typeface="Courier New"/>
              </a:rPr>
              <a:t> </a:t>
            </a:r>
            <a:r>
              <a:rPr sz="2500" spc="-25" dirty="0">
                <a:latin typeface="Arial"/>
                <a:cs typeface="Arial"/>
              </a:rPr>
              <a:t>is:</a:t>
            </a:r>
            <a:endParaRPr sz="2500">
              <a:latin typeface="Arial"/>
              <a:cs typeface="Arial"/>
            </a:endParaRPr>
          </a:p>
          <a:p>
            <a:pPr marL="1508760">
              <a:lnSpc>
                <a:spcPct val="100000"/>
              </a:lnSpc>
              <a:spcBef>
                <a:spcPts val="610"/>
              </a:spcBef>
            </a:pPr>
            <a:r>
              <a:rPr sz="2500" b="1" dirty="0">
                <a:latin typeface="Courier New"/>
                <a:cs typeface="Courier New"/>
              </a:rPr>
              <a:t>file_object.seek(offset</a:t>
            </a:r>
            <a:r>
              <a:rPr sz="2500" b="1" spc="-190" dirty="0">
                <a:latin typeface="Courier New"/>
                <a:cs typeface="Courier New"/>
              </a:rPr>
              <a:t> </a:t>
            </a:r>
            <a:r>
              <a:rPr sz="2500" b="1" dirty="0">
                <a:latin typeface="Courier New"/>
                <a:cs typeface="Courier New"/>
              </a:rPr>
              <a:t>[,</a:t>
            </a:r>
            <a:r>
              <a:rPr sz="2500" b="1" spc="-190" dirty="0">
                <a:latin typeface="Courier New"/>
                <a:cs typeface="Courier New"/>
              </a:rPr>
              <a:t> </a:t>
            </a:r>
            <a:r>
              <a:rPr sz="2500" b="1" spc="-10" dirty="0">
                <a:latin typeface="Courier New"/>
                <a:cs typeface="Courier New"/>
              </a:rPr>
              <a:t>reference_point])</a:t>
            </a:r>
            <a:endParaRPr sz="2500">
              <a:latin typeface="Courier New"/>
              <a:cs typeface="Courier New"/>
            </a:endParaRPr>
          </a:p>
          <a:p>
            <a:pPr marL="121920">
              <a:lnSpc>
                <a:spcPts val="2360"/>
              </a:lnSpc>
              <a:spcBef>
                <a:spcPts val="1070"/>
              </a:spcBef>
            </a:pPr>
            <a:r>
              <a:rPr sz="2000" spc="-70" dirty="0">
                <a:latin typeface="Arial"/>
                <a:cs typeface="Arial"/>
              </a:rPr>
              <a:t>In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above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syntax,</a:t>
            </a:r>
            <a:endParaRPr sz="2000">
              <a:latin typeface="Arial"/>
              <a:cs typeface="Arial"/>
            </a:endParaRPr>
          </a:p>
          <a:p>
            <a:pPr marL="121920">
              <a:lnSpc>
                <a:spcPts val="2360"/>
              </a:lnSpc>
            </a:pPr>
            <a:r>
              <a:rPr sz="2000" b="1" spc="-10" dirty="0">
                <a:latin typeface="Courier New"/>
                <a:cs typeface="Courier New"/>
              </a:rPr>
              <a:t>offset</a:t>
            </a:r>
            <a:r>
              <a:rPr sz="2000" b="1" spc="-750" dirty="0">
                <a:latin typeface="Courier New"/>
                <a:cs typeface="Courier New"/>
              </a:rPr>
              <a:t> </a:t>
            </a:r>
            <a:r>
              <a:rPr sz="2000" spc="-110" dirty="0">
                <a:latin typeface="Arial"/>
                <a:cs typeface="Arial"/>
              </a:rPr>
              <a:t>is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number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bytes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by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which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object</a:t>
            </a:r>
            <a:r>
              <a:rPr sz="2000" spc="-110" dirty="0">
                <a:latin typeface="Arial"/>
                <a:cs typeface="Arial"/>
              </a:rPr>
              <a:t> is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be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moved.</a:t>
            </a:r>
            <a:endParaRPr sz="2000">
              <a:latin typeface="Arial"/>
              <a:cs typeface="Arial"/>
            </a:endParaRPr>
          </a:p>
          <a:p>
            <a:pPr marL="121920">
              <a:lnSpc>
                <a:spcPct val="100000"/>
              </a:lnSpc>
            </a:pPr>
            <a:r>
              <a:rPr sz="2000" b="1" spc="-10" dirty="0">
                <a:latin typeface="Courier New"/>
                <a:cs typeface="Courier New"/>
              </a:rPr>
              <a:t>reference_point</a:t>
            </a:r>
            <a:r>
              <a:rPr sz="2000" b="1" spc="-730" dirty="0">
                <a:latin typeface="Courier New"/>
                <a:cs typeface="Courier New"/>
              </a:rPr>
              <a:t> </a:t>
            </a:r>
            <a:r>
              <a:rPr sz="2000" spc="-80" dirty="0">
                <a:latin typeface="Arial"/>
                <a:cs typeface="Arial"/>
              </a:rPr>
              <a:t>indicates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starting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position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object.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150">
              <a:latin typeface="Arial"/>
              <a:cs typeface="Arial"/>
            </a:endParaRPr>
          </a:p>
          <a:p>
            <a:pPr marL="121920">
              <a:lnSpc>
                <a:spcPct val="100000"/>
              </a:lnSpc>
            </a:pPr>
            <a:r>
              <a:rPr sz="2000" spc="-100" dirty="0">
                <a:latin typeface="Arial"/>
                <a:cs typeface="Arial"/>
              </a:rPr>
              <a:t>That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is,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with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reference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which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position,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offset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55" dirty="0">
                <a:latin typeface="Arial"/>
                <a:cs typeface="Arial"/>
              </a:rPr>
              <a:t>has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be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counted.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endParaRPr sz="2000">
              <a:latin typeface="Arial"/>
              <a:cs typeface="Arial"/>
            </a:endParaRPr>
          </a:p>
          <a:p>
            <a:pPr marL="121920">
              <a:lnSpc>
                <a:spcPct val="100000"/>
              </a:lnSpc>
            </a:pPr>
            <a:r>
              <a:rPr sz="2000" b="1" spc="-140" dirty="0">
                <a:latin typeface="Arial"/>
                <a:cs typeface="Arial"/>
              </a:rPr>
              <a:t>reference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spc="-105" dirty="0">
                <a:latin typeface="Arial"/>
                <a:cs typeface="Arial"/>
              </a:rPr>
              <a:t>point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offset</a:t>
            </a:r>
            <a:r>
              <a:rPr sz="2000" spc="315" dirty="0">
                <a:latin typeface="Arial"/>
                <a:cs typeface="Arial"/>
              </a:rPr>
              <a:t> </a:t>
            </a:r>
            <a:r>
              <a:rPr sz="2000" spc="-135" dirty="0">
                <a:latin typeface="Arial"/>
                <a:cs typeface="Arial"/>
              </a:rPr>
              <a:t>can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take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one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b="1" spc="-90" dirty="0">
                <a:latin typeface="Arial"/>
                <a:cs typeface="Arial"/>
              </a:rPr>
              <a:t>three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values:</a:t>
            </a:r>
            <a:endParaRPr sz="2000">
              <a:latin typeface="Arial"/>
              <a:cs typeface="Arial"/>
            </a:endParaRPr>
          </a:p>
          <a:p>
            <a:pPr marL="3816985" indent="-185420">
              <a:lnSpc>
                <a:spcPct val="100000"/>
              </a:lnSpc>
              <a:spcBef>
                <a:spcPts val="870"/>
              </a:spcBef>
              <a:buAutoNum type="arabicPlain"/>
              <a:tabLst>
                <a:tab pos="3816985" algn="l"/>
              </a:tabLst>
            </a:pPr>
            <a:r>
              <a:rPr sz="2000" spc="-60" dirty="0">
                <a:latin typeface="Arial"/>
                <a:cs typeface="Arial"/>
              </a:rPr>
              <a:t>-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beginning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file</a:t>
            </a:r>
            <a:endParaRPr sz="2000">
              <a:latin typeface="Arial"/>
              <a:cs typeface="Arial"/>
            </a:endParaRPr>
          </a:p>
          <a:p>
            <a:pPr marL="3816985" indent="-185420">
              <a:lnSpc>
                <a:spcPct val="100000"/>
              </a:lnSpc>
              <a:buAutoNum type="arabicPlain"/>
              <a:tabLst>
                <a:tab pos="3816985" algn="l"/>
              </a:tabLst>
            </a:pPr>
            <a:r>
              <a:rPr sz="2000" spc="-60" dirty="0">
                <a:latin typeface="Arial"/>
                <a:cs typeface="Arial"/>
              </a:rPr>
              <a:t>-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current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position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file</a:t>
            </a:r>
            <a:endParaRPr sz="2000">
              <a:latin typeface="Arial"/>
              <a:cs typeface="Arial"/>
            </a:endParaRPr>
          </a:p>
          <a:p>
            <a:pPr marL="3816985" indent="-185420">
              <a:lnSpc>
                <a:spcPct val="100000"/>
              </a:lnSpc>
              <a:buAutoNum type="arabicPlain"/>
              <a:tabLst>
                <a:tab pos="3816985" algn="l"/>
              </a:tabLst>
            </a:pPr>
            <a:r>
              <a:rPr sz="2000" spc="-60" dirty="0">
                <a:latin typeface="Arial"/>
                <a:cs typeface="Arial"/>
              </a:rPr>
              <a:t>-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end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file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500" spc="-240" dirty="0">
                <a:latin typeface="Arial"/>
                <a:cs typeface="Arial"/>
              </a:rPr>
              <a:t>By</a:t>
            </a:r>
            <a:r>
              <a:rPr sz="2500" spc="-100" dirty="0">
                <a:latin typeface="Arial"/>
                <a:cs typeface="Arial"/>
              </a:rPr>
              <a:t> </a:t>
            </a:r>
            <a:r>
              <a:rPr sz="2500" spc="-60" dirty="0">
                <a:latin typeface="Arial"/>
                <a:cs typeface="Arial"/>
              </a:rPr>
              <a:t>default,</a:t>
            </a:r>
            <a:r>
              <a:rPr sz="2500" spc="-95" dirty="0">
                <a:latin typeface="Arial"/>
                <a:cs typeface="Arial"/>
              </a:rPr>
              <a:t> </a:t>
            </a:r>
            <a:r>
              <a:rPr sz="2500" spc="-25" dirty="0">
                <a:latin typeface="Arial"/>
                <a:cs typeface="Arial"/>
              </a:rPr>
              <a:t>the</a:t>
            </a:r>
            <a:r>
              <a:rPr sz="2500" spc="-90" dirty="0">
                <a:latin typeface="Arial"/>
                <a:cs typeface="Arial"/>
              </a:rPr>
              <a:t> </a:t>
            </a:r>
            <a:r>
              <a:rPr sz="2500" spc="-125" dirty="0">
                <a:latin typeface="Arial"/>
                <a:cs typeface="Arial"/>
              </a:rPr>
              <a:t>value</a:t>
            </a:r>
            <a:r>
              <a:rPr sz="2500" spc="-9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of</a:t>
            </a:r>
            <a:r>
              <a:rPr sz="2500" spc="-120" dirty="0">
                <a:latin typeface="Arial"/>
                <a:cs typeface="Arial"/>
              </a:rPr>
              <a:t> </a:t>
            </a:r>
            <a:r>
              <a:rPr sz="2500" b="1" spc="-25" dirty="0">
                <a:latin typeface="Courier New"/>
                <a:cs typeface="Courier New"/>
              </a:rPr>
              <a:t>reference_point</a:t>
            </a:r>
            <a:r>
              <a:rPr sz="2500" b="1" spc="-910" dirty="0">
                <a:latin typeface="Courier New"/>
                <a:cs typeface="Courier New"/>
              </a:rPr>
              <a:t> </a:t>
            </a:r>
            <a:r>
              <a:rPr sz="2500" spc="-145" dirty="0">
                <a:latin typeface="Arial"/>
                <a:cs typeface="Arial"/>
              </a:rPr>
              <a:t>is</a:t>
            </a:r>
            <a:r>
              <a:rPr sz="2500" spc="-110" dirty="0">
                <a:latin typeface="Arial"/>
                <a:cs typeface="Arial"/>
              </a:rPr>
              <a:t> </a:t>
            </a:r>
            <a:r>
              <a:rPr sz="2500" spc="-25" dirty="0">
                <a:latin typeface="Arial"/>
                <a:cs typeface="Arial"/>
              </a:rPr>
              <a:t>0,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ts val="2335"/>
              </a:lnSpc>
              <a:spcBef>
                <a:spcPts val="125"/>
              </a:spcBef>
            </a:pPr>
            <a:r>
              <a:rPr sz="2000" spc="-65" dirty="0">
                <a:latin typeface="Arial"/>
                <a:cs typeface="Arial"/>
              </a:rPr>
              <a:t>i.e.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offset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is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counted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from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beginning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file.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935"/>
              </a:lnSpc>
            </a:pPr>
            <a:r>
              <a:rPr sz="2500" spc="-160" dirty="0">
                <a:latin typeface="Arial"/>
                <a:cs typeface="Arial"/>
              </a:rPr>
              <a:t>For</a:t>
            </a:r>
            <a:r>
              <a:rPr sz="2500" spc="-105" dirty="0">
                <a:latin typeface="Arial"/>
                <a:cs typeface="Arial"/>
              </a:rPr>
              <a:t> </a:t>
            </a:r>
            <a:r>
              <a:rPr sz="2500" spc="-135" dirty="0">
                <a:latin typeface="Arial"/>
                <a:cs typeface="Arial"/>
              </a:rPr>
              <a:t>example,</a:t>
            </a:r>
            <a:r>
              <a:rPr sz="2500" spc="-65" dirty="0">
                <a:latin typeface="Arial"/>
                <a:cs typeface="Arial"/>
              </a:rPr>
              <a:t> </a:t>
            </a:r>
            <a:r>
              <a:rPr sz="2500" spc="-40" dirty="0">
                <a:latin typeface="Arial"/>
                <a:cs typeface="Arial"/>
              </a:rPr>
              <a:t>the</a:t>
            </a:r>
            <a:r>
              <a:rPr sz="2500" spc="-95" dirty="0">
                <a:latin typeface="Arial"/>
                <a:cs typeface="Arial"/>
              </a:rPr>
              <a:t> </a:t>
            </a:r>
            <a:r>
              <a:rPr sz="2500" spc="-75" dirty="0">
                <a:latin typeface="Arial"/>
                <a:cs typeface="Arial"/>
              </a:rPr>
              <a:t>statement</a:t>
            </a:r>
            <a:r>
              <a:rPr sz="2500" spc="-80" dirty="0">
                <a:latin typeface="Arial"/>
                <a:cs typeface="Arial"/>
              </a:rPr>
              <a:t> </a:t>
            </a:r>
            <a:r>
              <a:rPr sz="2500" b="1" spc="-20" dirty="0">
                <a:latin typeface="Courier New"/>
                <a:cs typeface="Courier New"/>
              </a:rPr>
              <a:t>fileObject.seek(5,0)</a:t>
            </a:r>
            <a:r>
              <a:rPr sz="2500" b="1" spc="-900" dirty="0">
                <a:latin typeface="Courier New"/>
                <a:cs typeface="Courier New"/>
              </a:rPr>
              <a:t> </a:t>
            </a:r>
            <a:r>
              <a:rPr sz="2500" dirty="0">
                <a:latin typeface="Arial"/>
                <a:cs typeface="Arial"/>
              </a:rPr>
              <a:t>will</a:t>
            </a:r>
            <a:r>
              <a:rPr sz="2500" spc="-90" dirty="0">
                <a:latin typeface="Arial"/>
                <a:cs typeface="Arial"/>
              </a:rPr>
              <a:t> </a:t>
            </a:r>
            <a:r>
              <a:rPr sz="2500" spc="-65" dirty="0">
                <a:latin typeface="Arial"/>
                <a:cs typeface="Arial"/>
              </a:rPr>
              <a:t>position</a:t>
            </a:r>
            <a:r>
              <a:rPr sz="2500" spc="-114" dirty="0">
                <a:latin typeface="Arial"/>
                <a:cs typeface="Arial"/>
              </a:rPr>
              <a:t> </a:t>
            </a:r>
            <a:r>
              <a:rPr sz="2500" spc="-40" dirty="0">
                <a:latin typeface="Arial"/>
                <a:cs typeface="Arial"/>
              </a:rPr>
              <a:t>the</a:t>
            </a:r>
            <a:r>
              <a:rPr sz="2500" spc="-95" dirty="0">
                <a:latin typeface="Arial"/>
                <a:cs typeface="Arial"/>
              </a:rPr>
              <a:t> </a:t>
            </a:r>
            <a:r>
              <a:rPr sz="2500" spc="-20" dirty="0">
                <a:latin typeface="Arial"/>
                <a:cs typeface="Arial"/>
              </a:rPr>
              <a:t>file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65" dirty="0">
                <a:latin typeface="Arial"/>
                <a:cs typeface="Arial"/>
              </a:rPr>
              <a:t>object</a:t>
            </a:r>
            <a:r>
              <a:rPr sz="2500" spc="-110" dirty="0">
                <a:latin typeface="Arial"/>
                <a:cs typeface="Arial"/>
              </a:rPr>
              <a:t> </a:t>
            </a:r>
            <a:r>
              <a:rPr sz="2500" spc="-45" dirty="0">
                <a:latin typeface="Arial"/>
                <a:cs typeface="Arial"/>
              </a:rPr>
              <a:t>at</a:t>
            </a:r>
            <a:r>
              <a:rPr sz="2500" spc="-114" dirty="0">
                <a:latin typeface="Arial"/>
                <a:cs typeface="Arial"/>
              </a:rPr>
              <a:t> </a:t>
            </a:r>
            <a:r>
              <a:rPr sz="2500" spc="-30" dirty="0">
                <a:latin typeface="Arial"/>
                <a:cs typeface="Arial"/>
              </a:rPr>
              <a:t>5th</a:t>
            </a:r>
            <a:r>
              <a:rPr sz="2500" spc="-120" dirty="0">
                <a:latin typeface="Arial"/>
                <a:cs typeface="Arial"/>
              </a:rPr>
              <a:t> </a:t>
            </a:r>
            <a:r>
              <a:rPr sz="2500" spc="-70" dirty="0">
                <a:latin typeface="Arial"/>
                <a:cs typeface="Arial"/>
              </a:rPr>
              <a:t>byte</a:t>
            </a:r>
            <a:r>
              <a:rPr sz="2500" spc="-105" dirty="0">
                <a:latin typeface="Arial"/>
                <a:cs typeface="Arial"/>
              </a:rPr>
              <a:t> </a:t>
            </a:r>
            <a:r>
              <a:rPr sz="2500" spc="-60" dirty="0">
                <a:latin typeface="Arial"/>
                <a:cs typeface="Arial"/>
              </a:rPr>
              <a:t>position</a:t>
            </a:r>
            <a:r>
              <a:rPr sz="2500" spc="-130" dirty="0">
                <a:latin typeface="Arial"/>
                <a:cs typeface="Arial"/>
              </a:rPr>
              <a:t> </a:t>
            </a:r>
            <a:r>
              <a:rPr sz="2500" spc="-35" dirty="0">
                <a:latin typeface="Arial"/>
                <a:cs typeface="Arial"/>
              </a:rPr>
              <a:t>from</a:t>
            </a:r>
            <a:r>
              <a:rPr sz="2500" spc="-114" dirty="0">
                <a:latin typeface="Arial"/>
                <a:cs typeface="Arial"/>
              </a:rPr>
              <a:t> </a:t>
            </a:r>
            <a:r>
              <a:rPr sz="2500" spc="-40" dirty="0">
                <a:latin typeface="Arial"/>
                <a:cs typeface="Arial"/>
              </a:rPr>
              <a:t>the</a:t>
            </a:r>
            <a:r>
              <a:rPr sz="2500" spc="-114" dirty="0">
                <a:latin typeface="Arial"/>
                <a:cs typeface="Arial"/>
              </a:rPr>
              <a:t> </a:t>
            </a:r>
            <a:r>
              <a:rPr sz="2500" spc="-105" dirty="0">
                <a:latin typeface="Arial"/>
                <a:cs typeface="Arial"/>
              </a:rPr>
              <a:t>beginning</a:t>
            </a:r>
            <a:r>
              <a:rPr sz="2500" spc="-9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of</a:t>
            </a:r>
            <a:r>
              <a:rPr sz="2500" spc="-135" dirty="0">
                <a:latin typeface="Arial"/>
                <a:cs typeface="Arial"/>
              </a:rPr>
              <a:t> </a:t>
            </a:r>
            <a:r>
              <a:rPr sz="2500" spc="-35" dirty="0">
                <a:latin typeface="Arial"/>
                <a:cs typeface="Arial"/>
              </a:rPr>
              <a:t>the</a:t>
            </a:r>
            <a:r>
              <a:rPr sz="2500" spc="-10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file.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5843" y="120395"/>
            <a:ext cx="3100070" cy="1574800"/>
            <a:chOff x="275843" y="120395"/>
            <a:chExt cx="3100070" cy="1574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4987" y="153356"/>
              <a:ext cx="3081528" cy="13416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80415" y="124967"/>
              <a:ext cx="3091180" cy="1565275"/>
            </a:xfrm>
            <a:custGeom>
              <a:avLst/>
              <a:gdLst/>
              <a:ahLst/>
              <a:cxnLst/>
              <a:rect l="l" t="t" r="r" b="b"/>
              <a:pathLst>
                <a:path w="3091179" h="1565275">
                  <a:moveTo>
                    <a:pt x="0" y="1565147"/>
                  </a:moveTo>
                  <a:lnTo>
                    <a:pt x="3090672" y="1565147"/>
                  </a:lnTo>
                  <a:lnTo>
                    <a:pt x="3090672" y="0"/>
                  </a:lnTo>
                  <a:lnTo>
                    <a:pt x="0" y="0"/>
                  </a:lnTo>
                  <a:lnTo>
                    <a:pt x="0" y="1565147"/>
                  </a:lnTo>
                  <a:close/>
                </a:path>
              </a:pathLst>
            </a:custGeom>
            <a:ln w="9143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3611879" y="818388"/>
            <a:ext cx="1016635" cy="460375"/>
            <a:chOff x="3611879" y="818388"/>
            <a:chExt cx="1016635" cy="460375"/>
          </a:xfrm>
        </p:grpSpPr>
        <p:sp>
          <p:nvSpPr>
            <p:cNvPr id="6" name="object 6"/>
            <p:cNvSpPr/>
            <p:nvPr/>
          </p:nvSpPr>
          <p:spPr>
            <a:xfrm>
              <a:off x="3617975" y="824484"/>
              <a:ext cx="1004569" cy="448309"/>
            </a:xfrm>
            <a:custGeom>
              <a:avLst/>
              <a:gdLst/>
              <a:ahLst/>
              <a:cxnLst/>
              <a:rect l="l" t="t" r="r" b="b"/>
              <a:pathLst>
                <a:path w="1004570" h="448309">
                  <a:moveTo>
                    <a:pt x="224027" y="0"/>
                  </a:moveTo>
                  <a:lnTo>
                    <a:pt x="0" y="224027"/>
                  </a:lnTo>
                  <a:lnTo>
                    <a:pt x="224027" y="448055"/>
                  </a:lnTo>
                  <a:lnTo>
                    <a:pt x="224027" y="336041"/>
                  </a:lnTo>
                  <a:lnTo>
                    <a:pt x="1004315" y="336041"/>
                  </a:lnTo>
                  <a:lnTo>
                    <a:pt x="1004315" y="112013"/>
                  </a:lnTo>
                  <a:lnTo>
                    <a:pt x="224027" y="112013"/>
                  </a:lnTo>
                  <a:lnTo>
                    <a:pt x="22402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17975" y="824484"/>
              <a:ext cx="1004569" cy="448309"/>
            </a:xfrm>
            <a:custGeom>
              <a:avLst/>
              <a:gdLst/>
              <a:ahLst/>
              <a:cxnLst/>
              <a:rect l="l" t="t" r="r" b="b"/>
              <a:pathLst>
                <a:path w="1004570" h="448309">
                  <a:moveTo>
                    <a:pt x="0" y="224027"/>
                  </a:moveTo>
                  <a:lnTo>
                    <a:pt x="224027" y="0"/>
                  </a:lnTo>
                  <a:lnTo>
                    <a:pt x="224027" y="112013"/>
                  </a:lnTo>
                  <a:lnTo>
                    <a:pt x="1004315" y="112013"/>
                  </a:lnTo>
                  <a:lnTo>
                    <a:pt x="1004315" y="336041"/>
                  </a:lnTo>
                  <a:lnTo>
                    <a:pt x="224027" y="336041"/>
                  </a:lnTo>
                  <a:lnTo>
                    <a:pt x="224027" y="448055"/>
                  </a:lnTo>
                  <a:lnTo>
                    <a:pt x="0" y="224027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977132" y="278333"/>
            <a:ext cx="122745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File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45" dirty="0">
                <a:latin typeface="Arial"/>
                <a:cs typeface="Arial"/>
              </a:rPr>
              <a:t>‘example.txt’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97179" y="5538214"/>
            <a:ext cx="2676525" cy="1228725"/>
            <a:chOff x="297179" y="5538214"/>
            <a:chExt cx="2676525" cy="122872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4903" y="5547359"/>
              <a:ext cx="2629276" cy="121005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01751" y="5542786"/>
              <a:ext cx="2667000" cy="1219200"/>
            </a:xfrm>
            <a:custGeom>
              <a:avLst/>
              <a:gdLst/>
              <a:ahLst/>
              <a:cxnLst/>
              <a:rect l="l" t="t" r="r" b="b"/>
              <a:pathLst>
                <a:path w="2667000" h="1219200">
                  <a:moveTo>
                    <a:pt x="0" y="1219200"/>
                  </a:moveTo>
                  <a:lnTo>
                    <a:pt x="2667000" y="1219200"/>
                  </a:lnTo>
                  <a:lnTo>
                    <a:pt x="26670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ln w="9144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86613" y="5164963"/>
            <a:ext cx="7854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95" dirty="0">
                <a:latin typeface="Arial"/>
                <a:cs typeface="Arial"/>
              </a:rPr>
              <a:t>Output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98120" y="1908048"/>
            <a:ext cx="9618345" cy="3235960"/>
            <a:chOff x="198120" y="1908048"/>
            <a:chExt cx="9618345" cy="323596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4421" y="1960087"/>
              <a:ext cx="9462415" cy="317426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02692" y="1912620"/>
              <a:ext cx="9608820" cy="3226435"/>
            </a:xfrm>
            <a:custGeom>
              <a:avLst/>
              <a:gdLst/>
              <a:ahLst/>
              <a:cxnLst/>
              <a:rect l="l" t="t" r="r" b="b"/>
              <a:pathLst>
                <a:path w="9608820" h="3226435">
                  <a:moveTo>
                    <a:pt x="0" y="3226307"/>
                  </a:moveTo>
                  <a:lnTo>
                    <a:pt x="9608820" y="3226307"/>
                  </a:lnTo>
                  <a:lnTo>
                    <a:pt x="9608820" y="0"/>
                  </a:lnTo>
                  <a:lnTo>
                    <a:pt x="0" y="0"/>
                  </a:lnTo>
                  <a:lnTo>
                    <a:pt x="0" y="3226307"/>
                  </a:lnTo>
                  <a:close/>
                </a:path>
              </a:pathLst>
            </a:custGeom>
            <a:ln w="9144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949" y="135382"/>
            <a:ext cx="6003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15" dirty="0">
                <a:solidFill>
                  <a:srgbClr val="00AFEF"/>
                </a:solidFill>
                <a:latin typeface="Arial"/>
                <a:cs typeface="Arial"/>
              </a:rPr>
              <a:t>Program</a:t>
            </a:r>
            <a:r>
              <a:rPr sz="2400" b="1" spc="-13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400" b="1" spc="-110" dirty="0">
                <a:solidFill>
                  <a:srgbClr val="00AFEF"/>
                </a:solidFill>
                <a:latin typeface="Arial"/>
                <a:cs typeface="Arial"/>
              </a:rPr>
              <a:t>4-</a:t>
            </a:r>
            <a:r>
              <a:rPr sz="2400" b="1" spc="-130" dirty="0">
                <a:solidFill>
                  <a:srgbClr val="00AFEF"/>
                </a:solidFill>
                <a:latin typeface="Arial"/>
                <a:cs typeface="Arial"/>
              </a:rPr>
              <a:t>2</a:t>
            </a:r>
            <a:r>
              <a:rPr sz="2400" b="1" spc="-10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400" b="1" spc="-170" dirty="0">
                <a:solidFill>
                  <a:srgbClr val="00AFEF"/>
                </a:solidFill>
                <a:latin typeface="Arial"/>
                <a:cs typeface="Arial"/>
              </a:rPr>
              <a:t>Application</a:t>
            </a:r>
            <a:r>
              <a:rPr sz="2400" b="1" spc="-12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400" b="1" spc="-125" dirty="0">
                <a:solidFill>
                  <a:srgbClr val="00AFEF"/>
                </a:solidFill>
                <a:latin typeface="Arial"/>
                <a:cs typeface="Arial"/>
              </a:rPr>
              <a:t>of</a:t>
            </a:r>
            <a:r>
              <a:rPr sz="2400" b="1" spc="-10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b="1" dirty="0">
                <a:latin typeface="Courier New"/>
                <a:cs typeface="Courier New"/>
              </a:rPr>
              <a:t>seek()</a:t>
            </a:r>
            <a:r>
              <a:rPr b="1" spc="40" dirty="0">
                <a:latin typeface="Courier New"/>
                <a:cs typeface="Courier New"/>
              </a:rPr>
              <a:t> </a:t>
            </a:r>
            <a:r>
              <a:rPr sz="2400" b="1" spc="-180" dirty="0">
                <a:solidFill>
                  <a:srgbClr val="00AFEF"/>
                </a:solidFill>
                <a:latin typeface="Arial"/>
                <a:cs typeface="Arial"/>
              </a:rPr>
              <a:t>and</a:t>
            </a:r>
            <a:r>
              <a:rPr sz="2400" b="1" spc="-12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b="1" spc="-10" dirty="0">
                <a:latin typeface="Courier New"/>
                <a:cs typeface="Courier New"/>
              </a:rPr>
              <a:t>tell()</a:t>
            </a:r>
            <a:endParaRPr sz="2400">
              <a:latin typeface="Courier New"/>
              <a:cs typeface="Courier Ne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19456" y="1879092"/>
            <a:ext cx="9793605" cy="4381500"/>
            <a:chOff x="219456" y="1879092"/>
            <a:chExt cx="9793605" cy="43815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600" y="1888236"/>
              <a:ext cx="9654164" cy="436321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4028" y="1883664"/>
              <a:ext cx="9784080" cy="4372610"/>
            </a:xfrm>
            <a:custGeom>
              <a:avLst/>
              <a:gdLst/>
              <a:ahLst/>
              <a:cxnLst/>
              <a:rect l="l" t="t" r="r" b="b"/>
              <a:pathLst>
                <a:path w="9784080" h="4372610">
                  <a:moveTo>
                    <a:pt x="0" y="4372356"/>
                  </a:moveTo>
                  <a:lnTo>
                    <a:pt x="9784080" y="4372356"/>
                  </a:lnTo>
                  <a:lnTo>
                    <a:pt x="9784080" y="0"/>
                  </a:lnTo>
                  <a:lnTo>
                    <a:pt x="0" y="0"/>
                  </a:lnTo>
                  <a:lnTo>
                    <a:pt x="0" y="4372356"/>
                  </a:lnTo>
                  <a:close/>
                </a:path>
              </a:pathLst>
            </a:custGeom>
            <a:ln w="9144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566916" y="112776"/>
            <a:ext cx="3100070" cy="1576070"/>
            <a:chOff x="6566916" y="112776"/>
            <a:chExt cx="3100070" cy="157607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76060" y="145759"/>
              <a:ext cx="3081528" cy="134297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571488" y="117348"/>
              <a:ext cx="3091180" cy="1567180"/>
            </a:xfrm>
            <a:custGeom>
              <a:avLst/>
              <a:gdLst/>
              <a:ahLst/>
              <a:cxnLst/>
              <a:rect l="l" t="t" r="r" b="b"/>
              <a:pathLst>
                <a:path w="3091179" h="1567180">
                  <a:moveTo>
                    <a:pt x="0" y="1566672"/>
                  </a:moveTo>
                  <a:lnTo>
                    <a:pt x="3090672" y="1566672"/>
                  </a:lnTo>
                  <a:lnTo>
                    <a:pt x="3090672" y="0"/>
                  </a:lnTo>
                  <a:lnTo>
                    <a:pt x="0" y="0"/>
                  </a:lnTo>
                  <a:lnTo>
                    <a:pt x="0" y="1566672"/>
                  </a:lnTo>
                  <a:close/>
                </a:path>
              </a:pathLst>
            </a:custGeom>
            <a:ln w="9144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902952" y="812291"/>
            <a:ext cx="1016635" cy="459105"/>
            <a:chOff x="9902952" y="812291"/>
            <a:chExt cx="1016635" cy="459105"/>
          </a:xfrm>
        </p:grpSpPr>
        <p:sp>
          <p:nvSpPr>
            <p:cNvPr id="10" name="object 10"/>
            <p:cNvSpPr/>
            <p:nvPr/>
          </p:nvSpPr>
          <p:spPr>
            <a:xfrm>
              <a:off x="9909048" y="818387"/>
              <a:ext cx="1004569" cy="447040"/>
            </a:xfrm>
            <a:custGeom>
              <a:avLst/>
              <a:gdLst/>
              <a:ahLst/>
              <a:cxnLst/>
              <a:rect l="l" t="t" r="r" b="b"/>
              <a:pathLst>
                <a:path w="1004570" h="447040">
                  <a:moveTo>
                    <a:pt x="223266" y="0"/>
                  </a:moveTo>
                  <a:lnTo>
                    <a:pt x="0" y="223265"/>
                  </a:lnTo>
                  <a:lnTo>
                    <a:pt x="223266" y="446532"/>
                  </a:lnTo>
                  <a:lnTo>
                    <a:pt x="223266" y="334899"/>
                  </a:lnTo>
                  <a:lnTo>
                    <a:pt x="1004316" y="334899"/>
                  </a:lnTo>
                  <a:lnTo>
                    <a:pt x="1004316" y="111633"/>
                  </a:lnTo>
                  <a:lnTo>
                    <a:pt x="223266" y="111633"/>
                  </a:lnTo>
                  <a:lnTo>
                    <a:pt x="22326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909048" y="818387"/>
              <a:ext cx="1004569" cy="447040"/>
            </a:xfrm>
            <a:custGeom>
              <a:avLst/>
              <a:gdLst/>
              <a:ahLst/>
              <a:cxnLst/>
              <a:rect l="l" t="t" r="r" b="b"/>
              <a:pathLst>
                <a:path w="1004570" h="447040">
                  <a:moveTo>
                    <a:pt x="0" y="223265"/>
                  </a:moveTo>
                  <a:lnTo>
                    <a:pt x="223266" y="0"/>
                  </a:lnTo>
                  <a:lnTo>
                    <a:pt x="223266" y="111633"/>
                  </a:lnTo>
                  <a:lnTo>
                    <a:pt x="1004316" y="111633"/>
                  </a:lnTo>
                  <a:lnTo>
                    <a:pt x="1004316" y="334899"/>
                  </a:lnTo>
                  <a:lnTo>
                    <a:pt x="223266" y="334899"/>
                  </a:lnTo>
                  <a:lnTo>
                    <a:pt x="223266" y="446532"/>
                  </a:lnTo>
                  <a:lnTo>
                    <a:pt x="0" y="223265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269473" y="272288"/>
            <a:ext cx="12268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File </a:t>
            </a:r>
            <a:r>
              <a:rPr sz="1800" spc="-50" dirty="0">
                <a:latin typeface="Arial"/>
                <a:cs typeface="Arial"/>
              </a:rPr>
              <a:t>‘example.txt’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66916" y="112776"/>
            <a:ext cx="3100070" cy="1576070"/>
            <a:chOff x="6566916" y="112776"/>
            <a:chExt cx="3100070" cy="15760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76060" y="145759"/>
              <a:ext cx="3081528" cy="134297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571488" y="117348"/>
              <a:ext cx="3091180" cy="1567180"/>
            </a:xfrm>
            <a:custGeom>
              <a:avLst/>
              <a:gdLst/>
              <a:ahLst/>
              <a:cxnLst/>
              <a:rect l="l" t="t" r="r" b="b"/>
              <a:pathLst>
                <a:path w="3091179" h="1567180">
                  <a:moveTo>
                    <a:pt x="0" y="1566672"/>
                  </a:moveTo>
                  <a:lnTo>
                    <a:pt x="3090672" y="1566672"/>
                  </a:lnTo>
                  <a:lnTo>
                    <a:pt x="3090672" y="0"/>
                  </a:lnTo>
                  <a:lnTo>
                    <a:pt x="0" y="0"/>
                  </a:lnTo>
                  <a:lnTo>
                    <a:pt x="0" y="1566672"/>
                  </a:lnTo>
                  <a:close/>
                </a:path>
              </a:pathLst>
            </a:custGeom>
            <a:ln w="9144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9902952" y="812291"/>
            <a:ext cx="1016635" cy="459105"/>
            <a:chOff x="9902952" y="812291"/>
            <a:chExt cx="1016635" cy="459105"/>
          </a:xfrm>
        </p:grpSpPr>
        <p:sp>
          <p:nvSpPr>
            <p:cNvPr id="6" name="object 6"/>
            <p:cNvSpPr/>
            <p:nvPr/>
          </p:nvSpPr>
          <p:spPr>
            <a:xfrm>
              <a:off x="9909048" y="818387"/>
              <a:ext cx="1004569" cy="447040"/>
            </a:xfrm>
            <a:custGeom>
              <a:avLst/>
              <a:gdLst/>
              <a:ahLst/>
              <a:cxnLst/>
              <a:rect l="l" t="t" r="r" b="b"/>
              <a:pathLst>
                <a:path w="1004570" h="447040">
                  <a:moveTo>
                    <a:pt x="223266" y="0"/>
                  </a:moveTo>
                  <a:lnTo>
                    <a:pt x="0" y="223265"/>
                  </a:lnTo>
                  <a:lnTo>
                    <a:pt x="223266" y="446532"/>
                  </a:lnTo>
                  <a:lnTo>
                    <a:pt x="223266" y="334899"/>
                  </a:lnTo>
                  <a:lnTo>
                    <a:pt x="1004316" y="334899"/>
                  </a:lnTo>
                  <a:lnTo>
                    <a:pt x="1004316" y="111633"/>
                  </a:lnTo>
                  <a:lnTo>
                    <a:pt x="223266" y="111633"/>
                  </a:lnTo>
                  <a:lnTo>
                    <a:pt x="22326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909048" y="818387"/>
              <a:ext cx="1004569" cy="447040"/>
            </a:xfrm>
            <a:custGeom>
              <a:avLst/>
              <a:gdLst/>
              <a:ahLst/>
              <a:cxnLst/>
              <a:rect l="l" t="t" r="r" b="b"/>
              <a:pathLst>
                <a:path w="1004570" h="447040">
                  <a:moveTo>
                    <a:pt x="0" y="223265"/>
                  </a:moveTo>
                  <a:lnTo>
                    <a:pt x="223266" y="0"/>
                  </a:lnTo>
                  <a:lnTo>
                    <a:pt x="223266" y="111633"/>
                  </a:lnTo>
                  <a:lnTo>
                    <a:pt x="1004316" y="111633"/>
                  </a:lnTo>
                  <a:lnTo>
                    <a:pt x="1004316" y="334899"/>
                  </a:lnTo>
                  <a:lnTo>
                    <a:pt x="223266" y="334899"/>
                  </a:lnTo>
                  <a:lnTo>
                    <a:pt x="223266" y="446532"/>
                  </a:lnTo>
                  <a:lnTo>
                    <a:pt x="0" y="223265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269473" y="272288"/>
            <a:ext cx="12274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0" dirty="0"/>
              <a:t>File </a:t>
            </a:r>
            <a:r>
              <a:rPr sz="1800" spc="-50" dirty="0"/>
              <a:t>‘example.txt’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533501" y="406146"/>
            <a:ext cx="250063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135" dirty="0">
                <a:solidFill>
                  <a:srgbClr val="00AFEF"/>
                </a:solidFill>
                <a:latin typeface="Arial"/>
                <a:cs typeface="Arial"/>
              </a:rPr>
              <a:t>Output</a:t>
            </a:r>
            <a:r>
              <a:rPr sz="2500" b="1" spc="-12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500" b="1" spc="-130" dirty="0">
                <a:solidFill>
                  <a:srgbClr val="00AFEF"/>
                </a:solidFill>
                <a:latin typeface="Arial"/>
                <a:cs typeface="Arial"/>
              </a:rPr>
              <a:t>of</a:t>
            </a:r>
            <a:r>
              <a:rPr sz="2500" b="1" spc="-11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500" b="1" spc="-204" dirty="0">
                <a:solidFill>
                  <a:srgbClr val="00AFEF"/>
                </a:solidFill>
                <a:latin typeface="Arial"/>
                <a:cs typeface="Arial"/>
              </a:rPr>
              <a:t>Program</a:t>
            </a:r>
            <a:endParaRPr sz="25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07263" y="2159507"/>
            <a:ext cx="11439525" cy="4229100"/>
            <a:chOff x="207263" y="2159507"/>
            <a:chExt cx="11439525" cy="422910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5933" y="2168651"/>
              <a:ext cx="11411330" cy="421081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1835" y="2164079"/>
              <a:ext cx="11430000" cy="4220210"/>
            </a:xfrm>
            <a:custGeom>
              <a:avLst/>
              <a:gdLst/>
              <a:ahLst/>
              <a:cxnLst/>
              <a:rect l="l" t="t" r="r" b="b"/>
              <a:pathLst>
                <a:path w="11430000" h="4220210">
                  <a:moveTo>
                    <a:pt x="0" y="4219956"/>
                  </a:moveTo>
                  <a:lnTo>
                    <a:pt x="11430000" y="4219956"/>
                  </a:lnTo>
                  <a:lnTo>
                    <a:pt x="11430000" y="0"/>
                  </a:lnTo>
                  <a:lnTo>
                    <a:pt x="0" y="0"/>
                  </a:lnTo>
                  <a:lnTo>
                    <a:pt x="0" y="4219956"/>
                  </a:lnTo>
                  <a:close/>
                </a:path>
              </a:pathLst>
            </a:custGeom>
            <a:ln w="9144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90998" y="2670505"/>
            <a:ext cx="280860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b="1" spc="-555" dirty="0">
                <a:latin typeface="Arial"/>
                <a:cs typeface="Arial"/>
              </a:rPr>
              <a:t>The</a:t>
            </a:r>
            <a:r>
              <a:rPr sz="6600" b="1" spc="-335" dirty="0">
                <a:latin typeface="Arial"/>
                <a:cs typeface="Arial"/>
              </a:rPr>
              <a:t> </a:t>
            </a:r>
            <a:r>
              <a:rPr sz="6600" b="1" spc="-770" dirty="0">
                <a:latin typeface="Arial"/>
                <a:cs typeface="Arial"/>
              </a:rPr>
              <a:t>End</a:t>
            </a:r>
            <a:endParaRPr sz="6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Words>3330</Words>
  <Application>Microsoft Macintosh PowerPoint</Application>
  <PresentationFormat>Widescreen</PresentationFormat>
  <Paragraphs>341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Courier New</vt:lpstr>
      <vt:lpstr>Times New Roman</vt:lpstr>
      <vt:lpstr>Office Theme</vt:lpstr>
      <vt:lpstr>PowerPoint Presentation</vt:lpstr>
      <vt:lpstr>PowerPoint Presentation</vt:lpstr>
      <vt:lpstr>4.1 INTRODUCTION TO FILES</vt:lpstr>
      <vt:lpstr>4.2. TYPES OF FILES</vt:lpstr>
      <vt:lpstr>4.2.1 Text file</vt:lpstr>
      <vt:lpstr>4.2.2 Binary file</vt:lpstr>
      <vt:lpstr>Most of the files that we see in our computer system are called binary files.</vt:lpstr>
      <vt:lpstr>PowerPoint Presentation</vt:lpstr>
      <vt:lpstr>4.3 OPENING AND CLOSING A TEXT FILE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4.3.2 Closing a file</vt:lpstr>
      <vt:lpstr>4.3.3 Opening a file using with clause</vt:lpstr>
      <vt:lpstr>PowerPoint Presentation</vt:lpstr>
      <vt:lpstr>4.4 WRITING TO A TEXT FILE</vt:lpstr>
      <vt:lpstr>4.4.1 The write() method</vt:lpstr>
      <vt:lpstr>PowerPoint Presentation</vt:lpstr>
      <vt:lpstr>PowerPoint Presentation</vt:lpstr>
      <vt:lpstr>4.4.2 The writelines() method</vt:lpstr>
      <vt:lpstr>PowerPoint Presentation</vt:lpstr>
      <vt:lpstr>4.5 READING FROM A TEXT FILE</vt:lpstr>
      <vt:lpstr>PowerPoint Presentation</vt:lpstr>
      <vt:lpstr>File ‘example.txt is Exist’</vt:lpstr>
      <vt:lpstr>File ‘example2.txt is NOT Exist’</vt:lpstr>
      <vt:lpstr>4.5.2 The readline([n]) method</vt:lpstr>
      <vt:lpstr>PowerPoint Presentation</vt:lpstr>
      <vt:lpstr>PowerPoint Presentation</vt:lpstr>
      <vt:lpstr>4.5.2 The readlines method The method reads all the lines and returns the lines along with newline as a list of strings.</vt:lpstr>
      <vt:lpstr>PowerPoint Presentation</vt:lpstr>
      <vt:lpstr>PowerPoint Presentation</vt:lpstr>
      <vt:lpstr>PowerPoint Presentation</vt:lpstr>
      <vt:lpstr>However, if splitlines() is used instead of split(),</vt:lpstr>
      <vt:lpstr>PowerPoint Presentation</vt:lpstr>
      <vt:lpstr>Let us now write a program that accepts a string from the user and writes it to a text file.</vt:lpstr>
      <vt:lpstr>Program 4-1 Writing and reading to a text file</vt:lpstr>
      <vt:lpstr>Output of Program 4-1:</vt:lpstr>
      <vt:lpstr>4.6.1 The tell() method</vt:lpstr>
      <vt:lpstr>PowerPoint Presentation</vt:lpstr>
      <vt:lpstr>PowerPoint Presentation</vt:lpstr>
      <vt:lpstr>Program 4-2 Application of seek() and tell()</vt:lpstr>
      <vt:lpstr>File ‘example.txt’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Language (2) CSC 213 File Handling in python programming</dc:title>
  <dc:creator>Sivaram Rajeyyagari</dc:creator>
  <cp:lastModifiedBy>as b</cp:lastModifiedBy>
  <cp:revision>2</cp:revision>
  <dcterms:created xsi:type="dcterms:W3CDTF">2024-09-14T08:58:42Z</dcterms:created>
  <dcterms:modified xsi:type="dcterms:W3CDTF">2025-09-21T06:44:17Z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2023-09-16T00:00:00Z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2024-09-14T00:00:00Z</vt:filetime>
  </property>
  <property fmtid="{D5CDD505-2E9C-101B-9397-08002B2CF9AE}" pid="5" name="Producer">
    <vt:lpwstr>Microsoft® PowerPoint® 2013</vt:lpwstr>
  </property>
</Properties>
</file>