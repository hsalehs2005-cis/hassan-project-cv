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9"/>
    <p:restoredTop sz="94737"/>
  </p:normalViewPr>
  <p:slideViewPr>
    <p:cSldViewPr snapToGrid="0">
      <p:cViewPr varScale="1">
        <p:scale>
          <a:sx n="85" d="100"/>
          <a:sy n="85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1F6A6-0C8E-4AEB-94A8-032BBFA6208C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B64E7-D7E4-407C-BFD2-C3E0EB2E3D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6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FB64E7-D7E4-407C-BFD2-C3E0EB2E3DB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739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FB64E7-D7E4-407C-BFD2-C3E0EB2E3DB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96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A897-DDCA-4750-A595-84B6FCBC2D9E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52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B6F88-9E3B-44D2-B032-973EE82E2913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9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C40B-F650-4FB8-BB96-4686B2400622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79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109E-9129-4889-97B0-A07393CD2784}" type="datetime1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86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362A3-655F-49CF-A668-BFC5A281F4B5}" type="datetime1">
              <a:rPr lang="en-GB" smtClean="0"/>
              <a:t>15/10/2024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46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086C-24E4-4BEA-873C-985CD3D732CD}" type="datetime1">
              <a:rPr lang="en-GB" smtClean="0"/>
              <a:t>15/10/2024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4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642DC-DEC8-491A-BE4E-CE6F96B35F6F}" type="datetime1">
              <a:rPr lang="en-GB" smtClean="0"/>
              <a:t>15/10/2024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2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903A-3987-4B48-8976-3F51608CE274}" type="datetime1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71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8178-0C64-4A47-9D92-C8CA3CAC5579}" type="datetime1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82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E8A6-FC27-4AED-AB07-DB91AA2C7C90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14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2AEBA-7906-4AF3-AC2B-B2AE4720799F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68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F8535-9FDA-4415-A9E7-25211BED75DF}" type="datetime1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2D74F-1689-4AC7-A917-08BFFAF1FA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01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/>
              <a:t>Lab 5 - Database Handling in 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Dr.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Ohud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</a:rPr>
              <a:t>Almutairi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 descr="Python Database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497" y="3829884"/>
            <a:ext cx="4738509" cy="206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58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Pre-requisite to connect Python with MySQL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277723" cy="4351338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Python 3:</a:t>
            </a:r>
            <a:r>
              <a:rPr lang="en-GB" b="1" dirty="0"/>
              <a:t> </a:t>
            </a:r>
            <a:r>
              <a:rPr lang="en-GB" dirty="0"/>
              <a:t>You can download and install Python from the official website (https://www.python.org/). Make sure to install the latest version of Python.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MySQL: </a:t>
            </a:r>
            <a:r>
              <a:rPr lang="en-GB" dirty="0"/>
              <a:t>You can download and install MySQL from the official website (https://www.mysql.com/). You will also need to create a database and set up a user with the appropriate permissions.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GB" b="1" dirty="0" err="1">
                <a:solidFill>
                  <a:schemeClr val="accent1">
                    <a:lumMod val="75000"/>
                  </a:schemeClr>
                </a:solidFill>
              </a:rPr>
              <a:t>mysql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-connector-python library: </a:t>
            </a:r>
            <a:r>
              <a:rPr lang="en-GB" dirty="0"/>
              <a:t>You can install this library using pip, the Python package manager. Open a terminal and run the following command:</a:t>
            </a:r>
          </a:p>
          <a:p>
            <a:pPr marL="0" indent="0" algn="ctr" fontAlgn="base">
              <a:buNone/>
            </a:pPr>
            <a:r>
              <a:rPr lang="en-GB" b="1" dirty="0">
                <a:latin typeface="Consolas" panose="020B0609020204030204" pitchFamily="49" charset="0"/>
              </a:rPr>
              <a:t>pip install </a:t>
            </a:r>
            <a:r>
              <a:rPr lang="en-GB" b="1" dirty="0" err="1">
                <a:latin typeface="Consolas" panose="020B0609020204030204" pitchFamily="49" charset="0"/>
              </a:rPr>
              <a:t>mysql</a:t>
            </a:r>
            <a:r>
              <a:rPr lang="en-GB" b="1" dirty="0">
                <a:latin typeface="Consolas" panose="020B0609020204030204" pitchFamily="49" charset="0"/>
              </a:rPr>
              <a:t>-connector-python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6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Import the necessary module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277723" cy="4351338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GB" dirty="0"/>
              <a:t>Import the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mysql.connector</a:t>
            </a:r>
            <a:r>
              <a:rPr lang="en-GB" dirty="0"/>
              <a:t> module to work with MySQL databases:</a:t>
            </a:r>
          </a:p>
          <a:p>
            <a:pPr lvl="1"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 algn="ctr" fontAlgn="base">
              <a:buNone/>
            </a:pPr>
            <a:r>
              <a:rPr lang="en-GB" b="1" dirty="0">
                <a:latin typeface="Consolas" panose="020B0609020204030204" pitchFamily="49" charset="0"/>
              </a:rPr>
              <a:t>import </a:t>
            </a:r>
            <a:r>
              <a:rPr lang="en-GB" b="1" dirty="0" err="1">
                <a:latin typeface="Consolas" panose="020B0609020204030204" pitchFamily="49" charset="0"/>
              </a:rPr>
              <a:t>mysql.connector</a:t>
            </a:r>
            <a:endParaRPr lang="en-GB" b="1" dirty="0"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7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Establish a database connection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 startAt="2"/>
            </a:pPr>
            <a:r>
              <a:rPr lang="en-GB" dirty="0"/>
              <a:t>You can connect to your MySQL database using the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connect() </a:t>
            </a:r>
            <a:r>
              <a:rPr lang="en-GB" dirty="0"/>
              <a:t>method, providing the necessary connection details like host, user, password, and database name:</a:t>
            </a:r>
          </a:p>
          <a:p>
            <a:pPr lvl="1"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 fontAlgn="base">
              <a:buNone/>
            </a:pPr>
            <a:r>
              <a:rPr lang="en-GB" sz="2500" b="1" dirty="0" err="1">
                <a:latin typeface="Consolas" panose="020B0609020204030204" pitchFamily="49" charset="0"/>
              </a:rPr>
              <a:t>db_connection</a:t>
            </a:r>
            <a:r>
              <a:rPr lang="en-GB" sz="2500" b="1" dirty="0">
                <a:latin typeface="Consolas" panose="020B0609020204030204" pitchFamily="49" charset="0"/>
              </a:rPr>
              <a:t> =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mysql.connector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.connect</a:t>
            </a:r>
            <a:r>
              <a:rPr lang="en-GB" sz="2500" b="1" dirty="0">
                <a:latin typeface="Consolas" panose="020B0609020204030204" pitchFamily="49" charset="0"/>
              </a:rPr>
              <a:t>(host="localhost", user="</a:t>
            </a:r>
            <a:r>
              <a:rPr lang="en-GB" sz="2500" b="1" dirty="0" err="1">
                <a:latin typeface="Consolas" panose="020B0609020204030204" pitchFamily="49" charset="0"/>
              </a:rPr>
              <a:t>your_username</a:t>
            </a:r>
            <a:r>
              <a:rPr lang="en-GB" sz="2500" b="1" dirty="0">
                <a:latin typeface="Consolas" panose="020B0609020204030204" pitchFamily="49" charset="0"/>
              </a:rPr>
              <a:t>", password="</a:t>
            </a:r>
            <a:r>
              <a:rPr lang="en-GB" sz="2500" b="1" dirty="0" err="1">
                <a:latin typeface="Consolas" panose="020B0609020204030204" pitchFamily="49" charset="0"/>
              </a:rPr>
              <a:t>your_password</a:t>
            </a:r>
            <a:r>
              <a:rPr lang="en-GB" sz="2500" b="1" dirty="0">
                <a:latin typeface="Consolas" panose="020B0609020204030204" pitchFamily="49" charset="0"/>
              </a:rPr>
              <a:t>", database="</a:t>
            </a:r>
            <a:r>
              <a:rPr lang="en-GB" sz="2500" b="1" dirty="0" err="1">
                <a:latin typeface="Consolas" panose="020B0609020204030204" pitchFamily="49" charset="0"/>
              </a:rPr>
              <a:t>your_database</a:t>
            </a:r>
            <a:r>
              <a:rPr lang="en-GB" sz="2500" b="1" dirty="0">
                <a:latin typeface="Consolas" panose="020B0609020204030204" pitchFamily="49" charset="0"/>
              </a:rPr>
              <a:t>")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4</a:t>
            </a:fld>
            <a:endParaRPr lang="en-GB"/>
          </a:p>
        </p:txBody>
      </p:sp>
      <p:pic>
        <p:nvPicPr>
          <p:cNvPr id="9218" name="Picture 2" descr="Python to MySQL conne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48" y="4747881"/>
            <a:ext cx="41529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99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Create a cursor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 startAt="3"/>
            </a:pPr>
            <a:r>
              <a:rPr lang="en-GB" dirty="0"/>
              <a:t>Create a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cursor</a:t>
            </a:r>
            <a:r>
              <a:rPr lang="en-GB" dirty="0"/>
              <a:t> to interact with the database:</a:t>
            </a:r>
          </a:p>
          <a:p>
            <a:pPr lvl="1"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 algn="ctr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cursor =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db_connection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>
                <a:latin typeface="Consolas" panose="020B0609020204030204" pitchFamily="49" charset="0"/>
              </a:rPr>
              <a:t>()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5</a:t>
            </a:fld>
            <a:endParaRPr lang="en-GB"/>
          </a:p>
        </p:txBody>
      </p:sp>
      <p:pic>
        <p:nvPicPr>
          <p:cNvPr id="8194" name="Picture 2" descr="https://earthly.dev/blog/assets/images/psycopg2-postgres-python/qC5OaF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113" y="3615012"/>
            <a:ext cx="4554580" cy="25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50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Execute SQL queries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26364" cy="4781909"/>
          </a:xfrm>
        </p:spPr>
        <p:txBody>
          <a:bodyPr>
            <a:normAutofit fontScale="85000" lnSpcReduction="20000"/>
          </a:bodyPr>
          <a:lstStyle/>
          <a:p>
            <a:pPr marL="514350" indent="-514350" fontAlgn="base">
              <a:buFont typeface="+mj-lt"/>
              <a:buAutoNum type="arabicPeriod" startAt="4"/>
            </a:pPr>
            <a:r>
              <a:rPr lang="en-GB" dirty="0"/>
              <a:t>You can execute SQL queries using the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execute() </a:t>
            </a:r>
            <a:r>
              <a:rPr lang="en-GB" dirty="0"/>
              <a:t>method of the cursor:</a:t>
            </a:r>
          </a:p>
          <a:p>
            <a:pPr lvl="1"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lvl="1" fontAlgn="base"/>
            <a:r>
              <a:rPr lang="en-GB" b="1" dirty="0"/>
              <a:t>The following is example of executing some SQL queries</a:t>
            </a:r>
          </a:p>
          <a:p>
            <a:pPr fontAlgn="base"/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sz="2500" b="1" dirty="0">
                <a:latin typeface="Consolas" panose="020B0609020204030204" pitchFamily="49" charset="0"/>
              </a:rPr>
              <a:t>("</a:t>
            </a:r>
            <a:r>
              <a:rPr lang="en-GB" sz="2500" dirty="0">
                <a:latin typeface="Consolas" panose="020B0609020204030204" pitchFamily="49" charset="0"/>
              </a:rPr>
              <a:t>CREATE DATABASE IF NOT EXISTS </a:t>
            </a:r>
            <a:r>
              <a:rPr lang="en-GB" sz="2500" dirty="0" err="1">
                <a:latin typeface="Consolas" panose="020B0609020204030204" pitchFamily="49" charset="0"/>
              </a:rPr>
              <a:t>mydatabase</a:t>
            </a:r>
            <a:r>
              <a:rPr lang="en-GB" sz="2500" b="1" dirty="0">
                <a:latin typeface="Consolas" panose="020B0609020204030204" pitchFamily="49" charset="0"/>
              </a:rPr>
              <a:t>")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print("</a:t>
            </a:r>
            <a:r>
              <a:rPr lang="en-GB" sz="2500" dirty="0">
                <a:latin typeface="Consolas" panose="020B0609020204030204" pitchFamily="49" charset="0"/>
              </a:rPr>
              <a:t>Database '</a:t>
            </a:r>
            <a:r>
              <a:rPr lang="en-GB" sz="2500" dirty="0" err="1">
                <a:latin typeface="Consolas" panose="020B0609020204030204" pitchFamily="49" charset="0"/>
              </a:rPr>
              <a:t>mydatabase</a:t>
            </a:r>
            <a:r>
              <a:rPr lang="en-GB" sz="2500" dirty="0">
                <a:latin typeface="Consolas" panose="020B0609020204030204" pitchFamily="49" charset="0"/>
              </a:rPr>
              <a:t>' created successfully</a:t>
            </a:r>
            <a:r>
              <a:rPr lang="en-GB" sz="2500" b="1" dirty="0">
                <a:latin typeface="Consolas" panose="020B0609020204030204" pitchFamily="49" charset="0"/>
              </a:rPr>
              <a:t>")</a:t>
            </a:r>
          </a:p>
          <a:p>
            <a:pPr fontAlgn="base"/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sz="2500" b="1" dirty="0">
                <a:latin typeface="Consolas" panose="020B0609020204030204" pitchFamily="49" charset="0"/>
              </a:rPr>
              <a:t>("</a:t>
            </a:r>
            <a:r>
              <a:rPr lang="en-GB" sz="2500" dirty="0">
                <a:latin typeface="Consolas" panose="020B0609020204030204" pitchFamily="49" charset="0"/>
              </a:rPr>
              <a:t>USE </a:t>
            </a:r>
            <a:r>
              <a:rPr lang="en-GB" sz="2500" dirty="0" err="1">
                <a:latin typeface="Consolas" panose="020B0609020204030204" pitchFamily="49" charset="0"/>
              </a:rPr>
              <a:t>mydatabase</a:t>
            </a:r>
            <a:r>
              <a:rPr lang="en-GB" sz="2500" b="1" dirty="0">
                <a:latin typeface="Consolas" panose="020B0609020204030204" pitchFamily="49" charset="0"/>
              </a:rPr>
              <a:t>")</a:t>
            </a:r>
          </a:p>
          <a:p>
            <a:pPr fontAlgn="base"/>
            <a:r>
              <a:rPr lang="en-GB" sz="2500" b="1" dirty="0" err="1">
                <a:latin typeface="Consolas" panose="020B0609020204030204" pitchFamily="49" charset="0"/>
              </a:rPr>
              <a:t>create_table_query</a:t>
            </a:r>
            <a:r>
              <a:rPr lang="en-GB" sz="2500" b="1" dirty="0">
                <a:latin typeface="Consolas" panose="020B0609020204030204" pitchFamily="49" charset="0"/>
              </a:rPr>
              <a:t> = """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</a:t>
            </a:r>
            <a:r>
              <a:rPr lang="en-GB" sz="2500" dirty="0">
                <a:latin typeface="Consolas" panose="020B0609020204030204" pitchFamily="49" charset="0"/>
              </a:rPr>
              <a:t>CREATE TABLE IF NOT EXISTS employees(</a:t>
            </a:r>
          </a:p>
          <a:p>
            <a:pPr marL="0" indent="0" fontAlgn="base">
              <a:buNone/>
            </a:pPr>
            <a:r>
              <a:rPr lang="en-GB" sz="2500" dirty="0">
                <a:latin typeface="Consolas" panose="020B0609020204030204" pitchFamily="49" charset="0"/>
              </a:rPr>
              <a:t>            id INT AUTO_INCREMENT PRIMARY KEY,</a:t>
            </a:r>
          </a:p>
          <a:p>
            <a:pPr marL="0" indent="0" fontAlgn="base">
              <a:buNone/>
            </a:pPr>
            <a:r>
              <a:rPr lang="en-GB" sz="2500" dirty="0">
                <a:latin typeface="Consolas" panose="020B0609020204030204" pitchFamily="49" charset="0"/>
              </a:rPr>
              <a:t>            name VARCHAR(255),</a:t>
            </a:r>
          </a:p>
          <a:p>
            <a:pPr marL="0" indent="0" fontAlgn="base">
              <a:buNone/>
            </a:pPr>
            <a:r>
              <a:rPr lang="en-GB" sz="2500" dirty="0">
                <a:latin typeface="Consolas" panose="020B0609020204030204" pitchFamily="49" charset="0"/>
              </a:rPr>
              <a:t>            age INT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) </a:t>
            </a:r>
            <a:r>
              <a:rPr lang="en-GB" sz="2400" dirty="0"/>
              <a:t>""“</a:t>
            </a:r>
          </a:p>
          <a:p>
            <a:pPr marL="0" indent="0" fontAlgn="base">
              <a:buNone/>
            </a:pP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sz="2500" b="1" dirty="0">
                <a:latin typeface="Consolas" panose="020B0609020204030204" pitchFamily="49" charset="0"/>
              </a:rPr>
              <a:t>(</a:t>
            </a:r>
            <a:r>
              <a:rPr lang="en-GB" sz="2500" b="1" dirty="0" err="1">
                <a:latin typeface="Consolas" panose="020B0609020204030204" pitchFamily="49" charset="0"/>
              </a:rPr>
              <a:t>create_table_query</a:t>
            </a:r>
            <a:r>
              <a:rPr lang="en-GB" sz="2500" b="1" dirty="0">
                <a:latin typeface="Consolas" panose="020B0609020204030204" pitchFamily="49" charset="0"/>
              </a:rPr>
              <a:t>)</a:t>
            </a:r>
          </a:p>
          <a:p>
            <a:pPr marL="0" indent="0" fontAlgn="base">
              <a:buNone/>
            </a:pPr>
            <a:endParaRPr lang="en-GB" sz="2500" b="1" dirty="0">
              <a:latin typeface="Consolas" panose="020B0609020204030204" pitchFamily="49" charset="0"/>
            </a:endParaRPr>
          </a:p>
          <a:p>
            <a:pPr marL="0" indent="0" algn="ctr" fontAlgn="base">
              <a:buNone/>
            </a:pPr>
            <a:endParaRPr lang="en-GB" sz="2500" b="1" dirty="0">
              <a:latin typeface="Consolas" panose="020B0609020204030204" pitchFamily="49" charset="0"/>
            </a:endParaRPr>
          </a:p>
          <a:p>
            <a:pPr marL="0" indent="0" algn="ctr" fontAlgn="base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22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Execute SQL queries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26364" cy="4781909"/>
          </a:xfrm>
        </p:spPr>
        <p:txBody>
          <a:bodyPr>
            <a:normAutofit/>
          </a:bodyPr>
          <a:lstStyle/>
          <a:p>
            <a:pPr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lvl="1" fontAlgn="base"/>
            <a:r>
              <a:rPr lang="en-GB" b="1" dirty="0"/>
              <a:t>The following is example of executing some SQL queries</a:t>
            </a:r>
          </a:p>
          <a:p>
            <a:pPr fontAlgn="base"/>
            <a:r>
              <a:rPr lang="en-GB" sz="2500" b="1" dirty="0" err="1">
                <a:latin typeface="Consolas" panose="020B0609020204030204" pitchFamily="49" charset="0"/>
              </a:rPr>
              <a:t>insert_data_query</a:t>
            </a:r>
            <a:r>
              <a:rPr lang="en-GB" sz="2500" b="1" dirty="0">
                <a:latin typeface="Consolas" panose="020B0609020204030204" pitchFamily="49" charset="0"/>
              </a:rPr>
              <a:t> = """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</a:t>
            </a:r>
            <a:r>
              <a:rPr lang="en-GB" sz="2500" dirty="0">
                <a:latin typeface="Consolas" panose="020B0609020204030204" pitchFamily="49" charset="0"/>
              </a:rPr>
              <a:t>INSERT INTO employees(name, age) VALUES (%s, %s)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"""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</a:t>
            </a:r>
            <a:r>
              <a:rPr lang="en-GB" sz="2500" b="1" dirty="0" err="1">
                <a:latin typeface="Consolas" panose="020B0609020204030204" pitchFamily="49" charset="0"/>
              </a:rPr>
              <a:t>employee_data</a:t>
            </a:r>
            <a:r>
              <a:rPr lang="en-GB" sz="2500" b="1" dirty="0">
                <a:latin typeface="Consolas" panose="020B0609020204030204" pitchFamily="49" charset="0"/>
              </a:rPr>
              <a:t> = (“Mohammed", 25)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sz="2500" b="1" dirty="0">
                <a:latin typeface="Consolas" panose="020B0609020204030204" pitchFamily="49" charset="0"/>
              </a:rPr>
              <a:t>(</a:t>
            </a:r>
            <a:r>
              <a:rPr lang="en-GB" sz="2500" b="1" dirty="0" err="1">
                <a:latin typeface="Consolas" panose="020B0609020204030204" pitchFamily="49" charset="0"/>
              </a:rPr>
              <a:t>insert_data_query</a:t>
            </a:r>
            <a:r>
              <a:rPr lang="en-GB" sz="2500" b="1" dirty="0">
                <a:latin typeface="Consolas" panose="020B0609020204030204" pitchFamily="49" charset="0"/>
              </a:rPr>
              <a:t>, </a:t>
            </a:r>
            <a:r>
              <a:rPr lang="en-GB" sz="2500" b="1" dirty="0" err="1">
                <a:latin typeface="Consolas" panose="020B0609020204030204" pitchFamily="49" charset="0"/>
              </a:rPr>
              <a:t>employee</a:t>
            </a:r>
            <a:r>
              <a:rPr lang="en-GB" sz="2500" b="1" err="1">
                <a:latin typeface="Consolas" panose="020B0609020204030204" pitchFamily="49" charset="0"/>
              </a:rPr>
              <a:t>_</a:t>
            </a:r>
            <a:r>
              <a:rPr lang="en-GB" sz="2500" b="1">
                <a:latin typeface="Consolas" panose="020B0609020204030204" pitchFamily="49" charset="0"/>
              </a:rPr>
              <a:t>data)</a:t>
            </a:r>
            <a:endParaRPr lang="en-GB" sz="2500" b="1" dirty="0">
              <a:latin typeface="Consolas" panose="020B0609020204030204" pitchFamily="49" charset="0"/>
            </a:endParaRP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</a:t>
            </a:r>
          </a:p>
          <a:p>
            <a:pPr marL="0" indent="0" fontAlgn="base">
              <a:buNone/>
            </a:pP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db_connection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commit</a:t>
            </a:r>
            <a:r>
              <a:rPr lang="en-GB" sz="2500" b="1" dirty="0">
                <a:latin typeface="Consolas" panose="020B0609020204030204" pitchFamily="49" charset="0"/>
              </a:rPr>
              <a:t>()</a:t>
            </a:r>
          </a:p>
          <a:p>
            <a:pPr marL="0" indent="0" algn="ctr" fontAlgn="base">
              <a:buNone/>
            </a:pPr>
            <a:endParaRPr lang="en-GB" sz="2500" b="1" dirty="0">
              <a:latin typeface="Consolas" panose="020B0609020204030204" pitchFamily="49" charset="0"/>
            </a:endParaRPr>
          </a:p>
          <a:p>
            <a:pPr marL="0" indent="0" algn="ctr" fontAlgn="base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1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Retrieve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26364" cy="4781909"/>
          </a:xfrm>
        </p:spPr>
        <p:txBody>
          <a:bodyPr>
            <a:normAutofit lnSpcReduction="10000"/>
          </a:bodyPr>
          <a:lstStyle/>
          <a:p>
            <a:pPr marL="514350" indent="-514350" fontAlgn="base">
              <a:buFont typeface="+mj-lt"/>
              <a:buAutoNum type="arabicPeriod" startAt="5"/>
            </a:pPr>
            <a:r>
              <a:rPr lang="en-GB" dirty="0"/>
              <a:t>You can fetch data from the database using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fetchall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()</a:t>
            </a:r>
            <a:r>
              <a:rPr lang="en-GB" dirty="0"/>
              <a:t>,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fetchone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() </a:t>
            </a:r>
            <a:r>
              <a:rPr lang="en-GB" dirty="0"/>
              <a:t>or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fetchmany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(n)</a:t>
            </a:r>
            <a:r>
              <a:rPr lang="en-GB" dirty="0"/>
              <a:t> methods of the cursor.</a:t>
            </a:r>
          </a:p>
          <a:p>
            <a:pPr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lvl="1" fontAlgn="base"/>
            <a:r>
              <a:rPr lang="en-GB" b="1" dirty="0"/>
              <a:t>The following is example of fetching all employees from the table</a:t>
            </a:r>
          </a:p>
          <a:p>
            <a:pPr fontAlgn="base"/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sz="2500" b="1" dirty="0">
                <a:latin typeface="Consolas" panose="020B0609020204030204" pitchFamily="49" charset="0"/>
              </a:rPr>
              <a:t>("</a:t>
            </a:r>
            <a:r>
              <a:rPr lang="en-GB" sz="2500" dirty="0">
                <a:latin typeface="Consolas" panose="020B0609020204030204" pitchFamily="49" charset="0"/>
              </a:rPr>
              <a:t>SELECT * FROM employees </a:t>
            </a:r>
            <a:r>
              <a:rPr lang="en-GB" sz="2500" b="1" dirty="0">
                <a:latin typeface="Consolas" panose="020B0609020204030204" pitchFamily="49" charset="0"/>
              </a:rPr>
              <a:t>")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employees =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fetchall</a:t>
            </a:r>
            <a:r>
              <a:rPr lang="en-GB" sz="2500" b="1" dirty="0">
                <a:latin typeface="Consolas" panose="020B0609020204030204" pitchFamily="49" charset="0"/>
              </a:rPr>
              <a:t>()</a:t>
            </a:r>
          </a:p>
          <a:p>
            <a:pPr marL="0" indent="0" fontAlgn="base">
              <a:buNone/>
            </a:pPr>
            <a:endParaRPr lang="en-GB" sz="2500" b="1" dirty="0">
              <a:latin typeface="Consolas" panose="020B0609020204030204" pitchFamily="49" charset="0"/>
            </a:endParaRP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for employee in employees :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print("ID:", employee[0])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print("Name:", employee[1])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print("Age:", employee[2])</a:t>
            </a:r>
          </a:p>
          <a:p>
            <a:pPr marL="0" indent="0" algn="ctr" fontAlgn="base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66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Update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26364" cy="4781909"/>
          </a:xfrm>
        </p:spPr>
        <p:txBody>
          <a:bodyPr>
            <a:normAutofit fontScale="85000" lnSpcReduction="20000"/>
          </a:bodyPr>
          <a:lstStyle/>
          <a:p>
            <a:pPr marL="514350" indent="-514350" fontAlgn="base">
              <a:buFont typeface="+mj-lt"/>
              <a:buAutoNum type="arabicPeriod" startAt="6"/>
            </a:pPr>
            <a:r>
              <a:rPr lang="en-GB" dirty="0"/>
              <a:t>You can update data in a MySQL table using execute() and </a:t>
            </a:r>
            <a:r>
              <a:rPr lang="en-GB" dirty="0" err="1"/>
              <a:t>commite</a:t>
            </a:r>
            <a:r>
              <a:rPr lang="en-GB" dirty="0"/>
              <a:t>() method of the cursor.</a:t>
            </a:r>
          </a:p>
          <a:p>
            <a:pPr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 fontAlgn="base">
              <a:buNone/>
            </a:pPr>
            <a:r>
              <a:rPr lang="en-GB" sz="2500" b="1" dirty="0" err="1">
                <a:latin typeface="Consolas" panose="020B0609020204030204" pitchFamily="49" charset="0"/>
              </a:rPr>
              <a:t>update_query</a:t>
            </a:r>
            <a:r>
              <a:rPr lang="en-GB" sz="2500" b="1" dirty="0">
                <a:latin typeface="Consolas" panose="020B0609020204030204" pitchFamily="49" charset="0"/>
              </a:rPr>
              <a:t> = """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UPDATE employees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SET age = %s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    WHERE name = %s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""“</a:t>
            </a:r>
          </a:p>
          <a:p>
            <a:pPr marL="0" indent="0" fontAlgn="base">
              <a:buNone/>
            </a:pPr>
            <a:r>
              <a:rPr lang="en-GB" dirty="0" err="1">
                <a:latin typeface="Consolas" panose="020B0609020204030204" pitchFamily="49" charset="0"/>
              </a:rPr>
              <a:t>new_age</a:t>
            </a:r>
            <a:r>
              <a:rPr lang="en-GB" dirty="0">
                <a:latin typeface="Consolas" panose="020B0609020204030204" pitchFamily="49" charset="0"/>
              </a:rPr>
              <a:t> = 26</a:t>
            </a:r>
          </a:p>
          <a:p>
            <a:pPr marL="0" indent="0" fontAlgn="base">
              <a:buNone/>
            </a:pPr>
            <a:r>
              <a:rPr lang="en-GB" dirty="0" err="1">
                <a:latin typeface="Consolas" panose="020B0609020204030204" pitchFamily="49" charset="0"/>
              </a:rPr>
              <a:t>employee_name</a:t>
            </a:r>
            <a:r>
              <a:rPr lang="en-GB" dirty="0">
                <a:latin typeface="Consolas" panose="020B0609020204030204" pitchFamily="49" charset="0"/>
              </a:rPr>
              <a:t> = “Mohammed"</a:t>
            </a:r>
          </a:p>
          <a:p>
            <a:pPr marL="0" indent="0" fontAlgn="base">
              <a:buNone/>
            </a:pPr>
            <a:endParaRPr lang="en-GB" dirty="0">
              <a:latin typeface="Consolas" panose="020B0609020204030204" pitchFamily="49" charset="0"/>
            </a:endParaRPr>
          </a:p>
          <a:p>
            <a:pPr marL="0" indent="0" fontAlgn="base">
              <a:buNone/>
            </a:pPr>
            <a:r>
              <a:rPr lang="en-GB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cursor</a:t>
            </a:r>
            <a:r>
              <a:rPr lang="en-GB" b="1" dirty="0" err="1">
                <a:latin typeface="Consolas" panose="020B0609020204030204" pitchFamily="49" charset="0"/>
              </a:rPr>
              <a:t>.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execute</a:t>
            </a:r>
            <a:r>
              <a:rPr lang="en-GB" b="1" dirty="0">
                <a:latin typeface="Consolas" panose="020B0609020204030204" pitchFamily="49" charset="0"/>
              </a:rPr>
              <a:t>(</a:t>
            </a:r>
            <a:r>
              <a:rPr lang="en-GB" b="1" dirty="0" err="1">
                <a:latin typeface="Consolas" panose="020B0609020204030204" pitchFamily="49" charset="0"/>
              </a:rPr>
              <a:t>update_query</a:t>
            </a:r>
            <a:r>
              <a:rPr lang="en-GB" b="1" dirty="0">
                <a:latin typeface="Consolas" panose="020B0609020204030204" pitchFamily="49" charset="0"/>
              </a:rPr>
              <a:t>, (</a:t>
            </a:r>
            <a:r>
              <a:rPr lang="en-GB" b="1" dirty="0" err="1">
                <a:latin typeface="Consolas" panose="020B0609020204030204" pitchFamily="49" charset="0"/>
              </a:rPr>
              <a:t>new_age</a:t>
            </a:r>
            <a:r>
              <a:rPr lang="en-GB" b="1" dirty="0">
                <a:latin typeface="Consolas" panose="020B0609020204030204" pitchFamily="49" charset="0"/>
              </a:rPr>
              <a:t>, </a:t>
            </a:r>
            <a:r>
              <a:rPr lang="en-GB" b="1" dirty="0" err="1">
                <a:latin typeface="Consolas" panose="020B0609020204030204" pitchFamily="49" charset="0"/>
              </a:rPr>
              <a:t>employee_name</a:t>
            </a:r>
            <a:r>
              <a:rPr lang="en-GB" b="1" dirty="0">
                <a:latin typeface="Consolas" panose="020B0609020204030204" pitchFamily="49" charset="0"/>
              </a:rPr>
              <a:t>))</a:t>
            </a:r>
          </a:p>
          <a:p>
            <a:pPr marL="0" indent="0" fontAlgn="base">
              <a:buNone/>
            </a:pPr>
            <a:r>
              <a:rPr lang="en-GB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db_connection</a:t>
            </a:r>
            <a:r>
              <a:rPr lang="en-GB" b="1" dirty="0" err="1">
                <a:latin typeface="Consolas" panose="020B0609020204030204" pitchFamily="49" charset="0"/>
              </a:rPr>
              <a:t>.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commit</a:t>
            </a:r>
            <a:r>
              <a:rPr lang="en-GB" b="1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702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Close the Database Connection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26364" cy="4781909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 startAt="7"/>
            </a:pPr>
            <a:r>
              <a:rPr lang="en-GB" dirty="0"/>
              <a:t>It's crucial to close the database connection when you're done to free up resources.</a:t>
            </a:r>
          </a:p>
          <a:p>
            <a:pPr fontAlgn="base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if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db_connection</a:t>
            </a:r>
            <a:r>
              <a:rPr lang="en-GB" sz="2500" b="1" dirty="0" err="1">
                <a:latin typeface="Consolas" panose="020B0609020204030204" pitchFamily="49" charset="0"/>
              </a:rPr>
              <a:t>.is_connected</a:t>
            </a:r>
            <a:r>
              <a:rPr lang="en-GB" sz="2500" b="1" dirty="0">
                <a:latin typeface="Consolas" panose="020B0609020204030204" pitchFamily="49" charset="0"/>
              </a:rPr>
              <a:t>():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</a:t>
            </a:r>
            <a:r>
              <a:rPr lang="en-GB" sz="2500" b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db_connection</a:t>
            </a:r>
            <a:r>
              <a:rPr lang="en-GB" sz="2500" b="1" dirty="0" err="1">
                <a:latin typeface="Consolas" panose="020B0609020204030204" pitchFamily="49" charset="0"/>
              </a:rPr>
              <a:t>.</a:t>
            </a:r>
            <a:r>
              <a:rPr lang="en-GB" sz="2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close</a:t>
            </a:r>
            <a:r>
              <a:rPr lang="en-GB" sz="2500" b="1" dirty="0">
                <a:latin typeface="Consolas" panose="020B0609020204030204" pitchFamily="49" charset="0"/>
              </a:rPr>
              <a:t>()</a:t>
            </a:r>
          </a:p>
          <a:p>
            <a:pPr marL="0" indent="0" fontAlgn="base">
              <a:buNone/>
            </a:pPr>
            <a:r>
              <a:rPr lang="en-GB" sz="2500" b="1" dirty="0">
                <a:latin typeface="Consolas" panose="020B0609020204030204" pitchFamily="49" charset="0"/>
              </a:rPr>
              <a:t>    print("Database connection closed")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2D74F-1689-4AC7-A917-08BFFAF1FAA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65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622</Words>
  <Application>Microsoft Macintosh PowerPoint</Application>
  <PresentationFormat>Widescreen</PresentationFormat>
  <Paragraphs>86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Lab 5 - Database Handling in Python Programming</vt:lpstr>
      <vt:lpstr>Pre-requisite to connect Python with MySQL</vt:lpstr>
      <vt:lpstr>Import the necessary module</vt:lpstr>
      <vt:lpstr>Establish a database connection</vt:lpstr>
      <vt:lpstr>Create a cursor</vt:lpstr>
      <vt:lpstr>Execute SQL queries</vt:lpstr>
      <vt:lpstr>Execute SQL queries</vt:lpstr>
      <vt:lpstr>Retrieve Data</vt:lpstr>
      <vt:lpstr>Update Data</vt:lpstr>
      <vt:lpstr>Close the Database Connection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2 - Exceptions in Python</dc:title>
  <dc:creator>Ohud Mohammed</dc:creator>
  <cp:lastModifiedBy>Abdullah Saleh G Albalawi</cp:lastModifiedBy>
  <cp:revision>80</cp:revision>
  <dcterms:created xsi:type="dcterms:W3CDTF">2023-09-03T14:46:24Z</dcterms:created>
  <dcterms:modified xsi:type="dcterms:W3CDTF">2024-10-15T09:57:09Z</dcterms:modified>
</cp:coreProperties>
</file>